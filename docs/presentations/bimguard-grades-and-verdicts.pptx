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A, rule extraction: every rule is graded for reliability from the IFC property it reads. The screenshot is the live Rules Catalog filtered to door rules; OperationType grades High, Pset properties grade Medium, ConnectedSpaceCount grades Low. Pillar B, compliance testing: each element gets one of six verdicts plus a confidence grade that says where the value was found. The screenshot is a live audit of the Broken Twin Model v3 against BUILDING-CODE-PART9: the Main Exit Door fails the 800 mm egress width rule at 700 mm (confidence: Alias Match) and the Interior Door passes at 900 mm (confidence: Geometry Estimate).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BIMGuard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417320" y="6382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·   Group 5 · MAICEN-1125 · Module 10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Every finding carries two grades and one verdict</a:t>
            </a:r>
            <a:endParaRPr lang="en-US" sz="2800" dirty="0"/>
          </a:p>
        </p:txBody>
      </p:sp>
      <p:sp>
        <p:nvSpPr>
          <p:cNvPr id="3" name="Presenter 1"/>
          <p:cNvSpPr/>
          <p:nvPr/>
        </p:nvSpPr>
        <p:spPr>
          <a:xfrm>
            <a:off x="9079992" y="1828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PRESENTER  </a:t>
            </a:r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Malak</a:t>
            </a:r>
            <a:endParaRPr lang="en-US" sz="900" dirty="0"/>
          </a:p>
        </p:txBody>
      </p:sp>
      <p:sp>
        <p:nvSpPr>
          <p:cNvPr id="4" name="Pillar A card 2"/>
          <p:cNvSpPr/>
          <p:nvPr/>
        </p:nvSpPr>
        <p:spPr>
          <a:xfrm>
            <a:off x="548640" y="1417320"/>
            <a:ext cx="5486400" cy="4800600"/>
          </a:xfrm>
          <a:prstGeom prst="roundRect">
            <a:avLst>
              <a:gd name="adj" fmla="val 4190"/>
            </a:avLst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184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Pillar A · Rule extraction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Reliability of the rule · if the value is present, is it true?</a:t>
            </a:r>
            <a:endParaRPr lang="en-US" sz="1200" dirty="0"/>
          </a:p>
        </p:txBody>
      </p:sp>
      <p:sp>
        <p:nvSpPr>
          <p:cNvPr id="7" name="Pill 5"/>
          <p:cNvSpPr/>
          <p:nvPr/>
        </p:nvSpPr>
        <p:spPr>
          <a:xfrm>
            <a:off x="822960" y="2377440"/>
            <a:ext cx="777240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HIGH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3317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Stored in the file, one source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IFC attribute, element class, stored relationship, Qto quantity</a:t>
            </a:r>
            <a:endParaRPr lang="en-US" sz="1300" dirty="0"/>
          </a:p>
        </p:txBody>
      </p:sp>
      <p:sp>
        <p:nvSpPr>
          <p:cNvPr id="9" name="Pill 7"/>
          <p:cNvSpPr/>
          <p:nvPr/>
        </p:nvSpPr>
        <p:spPr>
          <a:xfrm>
            <a:off x="822960" y="2834640"/>
            <a:ext cx="777240" cy="2194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MEDIUM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7889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Standard property set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True when found, but many models do not export it</a:t>
            </a:r>
            <a:endParaRPr lang="en-US" sz="1300" dirty="0"/>
          </a:p>
        </p:txBody>
      </p:sp>
      <p:sp>
        <p:nvSpPr>
          <p:cNvPr id="11" name="Pill 9"/>
          <p:cNvSpPr/>
          <p:nvPr/>
        </p:nvSpPr>
        <p:spPr>
          <a:xfrm>
            <a:off x="822960" y="3291840"/>
            <a:ext cx="777240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LOW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2461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Not held in the model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Geometry estimate, custom Pset, manufacturer or user-defined field</a:t>
            </a:r>
            <a:endParaRPr lang="en-US" sz="1300" dirty="0"/>
          </a:p>
        </p:txBody>
      </p:sp>
      <p:pic>
        <p:nvPicPr>
          <p:cNvPr id="13" name="Rules catalog screenshot 11" descr="BIM Guard rules catalog showing each door rule's target property, condition, severity and reliability gra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813048"/>
            <a:ext cx="3246120" cy="2149789"/>
          </a:xfrm>
          <a:prstGeom prst="rect">
            <a:avLst/>
          </a:prstGeom>
        </p:spPr>
      </p:pic>
      <p:sp>
        <p:nvSpPr>
          <p:cNvPr id="14" name="Text 12"/>
          <p:cNvSpPr txBox="1"/>
          <p:nvPr/>
        </p:nvSpPr>
        <p:spPr>
          <a:xfrm>
            <a:off x="4251960" y="3813048"/>
            <a:ext cx="1508760" cy="214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Live · Rules Catalog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Every rule shows its grade before any model is loaded.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A rule takes the grade of its weakest property.</a:t>
            </a:r>
            <a:endParaRPr lang="en-US" sz="1200" dirty="0"/>
          </a:p>
        </p:txBody>
      </p:sp>
      <p:sp>
        <p:nvSpPr>
          <p:cNvPr id="15" name="Pillar B card 13"/>
          <p:cNvSpPr/>
          <p:nvPr/>
        </p:nvSpPr>
        <p:spPr>
          <a:xfrm>
            <a:off x="6153912" y="1417320"/>
            <a:ext cx="5486400" cy="4800600"/>
          </a:xfrm>
          <a:prstGeom prst="roundRect">
            <a:avLst>
              <a:gd name="adj" fmla="val 4190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16184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Pillar B · Compliance testing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19659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Reads the real IFC values · no silent defaults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28232" y="23134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Confidence of the result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23134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Six verdicts</a:t>
            </a:r>
            <a:endParaRPr lang="en-US" sz="1200" dirty="0"/>
          </a:p>
        </p:txBody>
      </p:sp>
      <p:sp>
        <p:nvSpPr>
          <p:cNvPr id="20" name="Meter 18"/>
          <p:cNvSpPr/>
          <p:nvPr/>
        </p:nvSpPr>
        <p:spPr>
          <a:xfrm>
            <a:off x="6428232" y="2724912"/>
            <a:ext cx="64008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Meter 19"/>
          <p:cNvSpPr/>
          <p:nvPr/>
        </p:nvSpPr>
        <p:spPr>
          <a:xfrm>
            <a:off x="6519672" y="2670048"/>
            <a:ext cx="64008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Meter 20"/>
          <p:cNvSpPr/>
          <p:nvPr/>
        </p:nvSpPr>
        <p:spPr>
          <a:xfrm>
            <a:off x="6611112" y="2615184"/>
            <a:ext cx="64008" cy="182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12280" y="26060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Authored property</a:t>
            </a:r>
            <a:endParaRPr lang="en-US" sz="1100" dirty="0"/>
          </a:p>
        </p:txBody>
      </p:sp>
      <p:sp>
        <p:nvSpPr>
          <p:cNvPr id="24" name="Meter 22"/>
          <p:cNvSpPr/>
          <p:nvPr/>
        </p:nvSpPr>
        <p:spPr>
          <a:xfrm>
            <a:off x="6428232" y="2944368"/>
            <a:ext cx="64008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Meter 23"/>
          <p:cNvSpPr/>
          <p:nvPr/>
        </p:nvSpPr>
        <p:spPr>
          <a:xfrm>
            <a:off x="6519672" y="2889504"/>
            <a:ext cx="64008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Meter 24"/>
          <p:cNvSpPr/>
          <p:nvPr/>
        </p:nvSpPr>
        <p:spPr>
          <a:xfrm>
            <a:off x="6611112" y="2834640"/>
            <a:ext cx="64008" cy="182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12280" y="28254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Derived from model geometry</a:t>
            </a:r>
            <a:endParaRPr lang="en-US" sz="1100" dirty="0"/>
          </a:p>
        </p:txBody>
      </p:sp>
      <p:sp>
        <p:nvSpPr>
          <p:cNvPr id="28" name="Meter 26"/>
          <p:cNvSpPr/>
          <p:nvPr/>
        </p:nvSpPr>
        <p:spPr>
          <a:xfrm>
            <a:off x="6428232" y="3163824"/>
            <a:ext cx="64008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Meter 27"/>
          <p:cNvSpPr/>
          <p:nvPr/>
        </p:nvSpPr>
        <p:spPr>
          <a:xfrm>
            <a:off x="6519672" y="3108960"/>
            <a:ext cx="64008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Meter 28"/>
          <p:cNvSpPr/>
          <p:nvPr/>
        </p:nvSpPr>
        <p:spPr>
          <a:xfrm>
            <a:off x="6611112" y="3054096"/>
            <a:ext cx="64008" cy="182880"/>
          </a:xfrm>
          <a:prstGeom prst="rect">
            <a:avLst/>
          </a:prstGeom>
          <a:solidFill>
            <a:schemeClr val="tx2">
              <a:alpha val="35000"/>
            </a:scheme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12280" y="30449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Type-inherited</a:t>
            </a:r>
            <a:endParaRPr lang="en-US" sz="1100" dirty="0"/>
          </a:p>
        </p:txBody>
      </p:sp>
      <p:sp>
        <p:nvSpPr>
          <p:cNvPr id="32" name="Meter 30"/>
          <p:cNvSpPr/>
          <p:nvPr/>
        </p:nvSpPr>
        <p:spPr>
          <a:xfrm>
            <a:off x="6428232" y="3383280"/>
            <a:ext cx="64008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Meter 31"/>
          <p:cNvSpPr/>
          <p:nvPr/>
        </p:nvSpPr>
        <p:spPr>
          <a:xfrm>
            <a:off x="6519672" y="3328416"/>
            <a:ext cx="64008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Meter 32"/>
          <p:cNvSpPr/>
          <p:nvPr/>
        </p:nvSpPr>
        <p:spPr>
          <a:xfrm>
            <a:off x="6611112" y="3273552"/>
            <a:ext cx="64008" cy="182880"/>
          </a:xfrm>
          <a:prstGeom prst="rect">
            <a:avLst/>
          </a:prstGeom>
          <a:solidFill>
            <a:schemeClr val="tx2">
              <a:alpha val="35000"/>
            </a:schemeClr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12280" y="32644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Alias match</a:t>
            </a:r>
            <a:endParaRPr lang="en-US" sz="1100" dirty="0"/>
          </a:p>
        </p:txBody>
      </p:sp>
      <p:sp>
        <p:nvSpPr>
          <p:cNvPr id="36" name="Meter 34"/>
          <p:cNvSpPr/>
          <p:nvPr/>
        </p:nvSpPr>
        <p:spPr>
          <a:xfrm>
            <a:off x="6428232" y="3602736"/>
            <a:ext cx="64008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7" name="Meter 35"/>
          <p:cNvSpPr/>
          <p:nvPr/>
        </p:nvSpPr>
        <p:spPr>
          <a:xfrm>
            <a:off x="6519672" y="3547872"/>
            <a:ext cx="64008" cy="128016"/>
          </a:xfrm>
          <a:prstGeom prst="rect">
            <a:avLst/>
          </a:prstGeom>
          <a:solidFill>
            <a:schemeClr val="tx2">
              <a:alpha val="35000"/>
            </a:schemeClr>
          </a:solidFill>
          <a:ln/>
        </p:spPr>
      </p:sp>
      <p:sp>
        <p:nvSpPr>
          <p:cNvPr id="38" name="Meter 36"/>
          <p:cNvSpPr/>
          <p:nvPr/>
        </p:nvSpPr>
        <p:spPr>
          <a:xfrm>
            <a:off x="6611112" y="3493008"/>
            <a:ext cx="64008" cy="182880"/>
          </a:xfrm>
          <a:prstGeom prst="rect">
            <a:avLst/>
          </a:prstGeom>
          <a:solidFill>
            <a:schemeClr val="tx2">
              <a:alpha val="35000"/>
            </a:schemeClr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812280" y="34838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Rule fallback property</a:t>
            </a:r>
            <a:endParaRPr lang="en-US" sz="1100" dirty="0"/>
          </a:p>
        </p:txBody>
      </p:sp>
      <p:sp>
        <p:nvSpPr>
          <p:cNvPr id="40" name="Meter 38"/>
          <p:cNvSpPr/>
          <p:nvPr/>
        </p:nvSpPr>
        <p:spPr>
          <a:xfrm>
            <a:off x="6428232" y="3822192"/>
            <a:ext cx="64008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1" name="Meter 39"/>
          <p:cNvSpPr/>
          <p:nvPr/>
        </p:nvSpPr>
        <p:spPr>
          <a:xfrm>
            <a:off x="6519672" y="3767328"/>
            <a:ext cx="64008" cy="128016"/>
          </a:xfrm>
          <a:prstGeom prst="rect">
            <a:avLst/>
          </a:prstGeom>
          <a:solidFill>
            <a:schemeClr val="tx2">
              <a:alpha val="35000"/>
            </a:schemeClr>
          </a:solidFill>
          <a:ln/>
        </p:spPr>
      </p:sp>
      <p:sp>
        <p:nvSpPr>
          <p:cNvPr id="42" name="Meter 40"/>
          <p:cNvSpPr/>
          <p:nvPr/>
        </p:nvSpPr>
        <p:spPr>
          <a:xfrm>
            <a:off x="6611112" y="3712464"/>
            <a:ext cx="64008" cy="182880"/>
          </a:xfrm>
          <a:prstGeom prst="rect">
            <a:avLst/>
          </a:prstGeom>
          <a:solidFill>
            <a:schemeClr val="tx2">
              <a:alpha val="35000"/>
            </a:scheme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12280" y="3703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Geometry estimate</a:t>
            </a:r>
            <a:endParaRPr lang="en-US" sz="1100" dirty="0"/>
          </a:p>
        </p:txBody>
      </p:sp>
      <p:sp>
        <p:nvSpPr>
          <p:cNvPr id="44" name="Meter 42"/>
          <p:cNvSpPr/>
          <p:nvPr/>
        </p:nvSpPr>
        <p:spPr>
          <a:xfrm>
            <a:off x="6428232" y="4041648"/>
            <a:ext cx="64008" cy="73152"/>
          </a:xfrm>
          <a:prstGeom prst="rect">
            <a:avLst/>
          </a:prstGeom>
          <a:solidFill>
            <a:schemeClr val="tx2">
              <a:alpha val="35000"/>
            </a:schemeClr>
          </a:solidFill>
          <a:ln/>
        </p:spPr>
      </p:sp>
      <p:sp>
        <p:nvSpPr>
          <p:cNvPr id="45" name="Meter 43"/>
          <p:cNvSpPr/>
          <p:nvPr/>
        </p:nvSpPr>
        <p:spPr>
          <a:xfrm>
            <a:off x="6519672" y="3986784"/>
            <a:ext cx="64008" cy="128016"/>
          </a:xfrm>
          <a:prstGeom prst="rect">
            <a:avLst/>
          </a:prstGeom>
          <a:solidFill>
            <a:schemeClr val="tx2">
              <a:alpha val="35000"/>
            </a:schemeClr>
          </a:solidFill>
          <a:ln/>
        </p:spPr>
      </p:sp>
      <p:sp>
        <p:nvSpPr>
          <p:cNvPr id="46" name="Meter 44"/>
          <p:cNvSpPr/>
          <p:nvPr/>
        </p:nvSpPr>
        <p:spPr>
          <a:xfrm>
            <a:off x="6611112" y="3931920"/>
            <a:ext cx="64008" cy="182880"/>
          </a:xfrm>
          <a:prstGeom prst="rect">
            <a:avLst/>
          </a:prstGeom>
          <a:solidFill>
            <a:schemeClr val="tx2">
              <a:alpha val="35000"/>
            </a:schemeClr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812280" y="39227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Unresolved</a:t>
            </a:r>
            <a:endParaRPr lang="en-US" sz="1100" dirty="0"/>
          </a:p>
        </p:txBody>
      </p:sp>
      <p:sp>
        <p:nvSpPr>
          <p:cNvPr id="48" name="Pill 46"/>
          <p:cNvSpPr/>
          <p:nvPr/>
        </p:nvSpPr>
        <p:spPr>
          <a:xfrm>
            <a:off x="8897112" y="2606040"/>
            <a:ext cx="960120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PASS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9930384" y="26060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Value found, meets the rule</a:t>
            </a:r>
            <a:endParaRPr lang="en-US" sz="950" dirty="0"/>
          </a:p>
        </p:txBody>
      </p:sp>
      <p:sp>
        <p:nvSpPr>
          <p:cNvPr id="50" name="Pill 48"/>
          <p:cNvSpPr/>
          <p:nvPr/>
        </p:nvSpPr>
        <p:spPr>
          <a:xfrm>
            <a:off x="8897112" y="2862072"/>
            <a:ext cx="960120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FAIL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930384" y="28620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Value found, breaks the rule</a:t>
            </a:r>
            <a:endParaRPr lang="en-US" sz="950" dirty="0"/>
          </a:p>
        </p:txBody>
      </p:sp>
      <p:sp>
        <p:nvSpPr>
          <p:cNvPr id="52" name="Pill 50"/>
          <p:cNvSpPr/>
          <p:nvPr/>
        </p:nvSpPr>
        <p:spPr>
          <a:xfrm>
            <a:off x="8897112" y="3118104"/>
            <a:ext cx="960120" cy="2194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MISSING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9930384" y="31181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Value not in the model</a:t>
            </a:r>
            <a:endParaRPr lang="en-US" sz="950" dirty="0"/>
          </a:p>
        </p:txBody>
      </p:sp>
      <p:sp>
        <p:nvSpPr>
          <p:cNvPr id="54" name="Pill 52"/>
          <p:cNvSpPr/>
          <p:nvPr/>
        </p:nvSpPr>
        <p:spPr>
          <a:xfrm>
            <a:off x="8897112" y="3374136"/>
            <a:ext cx="96012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NOT ASSESSED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9930384" y="33741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No rule or no evidence</a:t>
            </a:r>
            <a:endParaRPr lang="en-US" sz="950" dirty="0"/>
          </a:p>
        </p:txBody>
      </p:sp>
      <p:sp>
        <p:nvSpPr>
          <p:cNvPr id="56" name="Pill 54"/>
          <p:cNvSpPr/>
          <p:nvPr/>
        </p:nvSpPr>
        <p:spPr>
          <a:xfrm>
            <a:off x="8897112" y="3630168"/>
            <a:ext cx="960120" cy="21945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N/A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9930384" y="3630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Outside the rule's scope</a:t>
            </a:r>
            <a:endParaRPr lang="en-US" sz="950" dirty="0"/>
          </a:p>
        </p:txBody>
      </p:sp>
      <p:sp>
        <p:nvSpPr>
          <p:cNvPr id="58" name="Pill 56"/>
          <p:cNvSpPr/>
          <p:nvPr/>
        </p:nvSpPr>
        <p:spPr>
          <a:xfrm>
            <a:off x="8897112" y="3886200"/>
            <a:ext cx="960120" cy="2194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UNDETERMINED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9930384" y="38862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Scope cannot be tested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6428232" y="417930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Live · audit result: one door fails, one passes, each with its confidence</a:t>
            </a:r>
            <a:endParaRPr lang="en-US" sz="1000" dirty="0"/>
          </a:p>
        </p:txBody>
      </p:sp>
      <p:pic>
        <p:nvPicPr>
          <p:cNvPr id="61" name="Audit result screenshot 59" descr="BIM Guard audit result for the egress door width rule: Main Exit Door fails at 700 mm with Alias Match confidence, Interior Door passes at 900 mm with Geometry Estimate confide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4417046"/>
            <a:ext cx="4937760" cy="159970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MGuard AI">
  <a:themeElements>
    <a:clrScheme name="BIMGuard AI">
      <a:dk1>
        <a:srgbClr val="0F172A"/>
      </a:dk1>
      <a:lt1>
        <a:srgbClr val="FFFFFF"/>
      </a:lt1>
      <a:dk2>
        <a:srgbClr val="64748B"/>
      </a:dk2>
      <a:lt2>
        <a:srgbClr val="EEF2F7"/>
      </a:lt2>
      <a:accent1>
        <a:srgbClr val="0A66D8"/>
      </a:accent1>
      <a:accent2>
        <a:srgbClr val="047857"/>
      </a:accent2>
      <a:accent3>
        <a:srgbClr val="BE123C"/>
      </a:accent3>
      <a:accent4>
        <a:srgbClr val="B45309"/>
      </a:accent4>
      <a:accent5>
        <a:srgbClr val="4DA3FF"/>
      </a:accent5>
      <a:accent6>
        <a:srgbClr val="030A1C"/>
      </a:accent6>
      <a:hlink>
        <a:srgbClr val="0A66D8"/>
      </a:hlink>
      <a:folHlink>
        <a:srgbClr val="4DA3FF"/>
      </a:folHlink>
    </a:clrScheme>
    <a:fontScheme name="BIMGuard AI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BIMGuard AI - grades and verdicts</dc:title>
  <dc:subject>PptxGenJS Presentation</dc:subject>
  <dc:creator>PptxGenJS</dc:creator>
  <cp:lastModifiedBy>PptxGenJS</cp:lastModifiedBy>
  <cp:revision>1</cp:revision>
  <dcterms:created xsi:type="dcterms:W3CDTF">2026-10-09T04:03:58Z</dcterms:created>
  <dcterms:modified xsi:type="dcterms:W3CDTF">2026-10-09T04:03:58Z</dcterms:modified>
</cp:coreProperties>
</file>