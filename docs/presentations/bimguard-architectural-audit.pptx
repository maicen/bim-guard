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rchitectural audit" id="{921b078c-965c-ddd1-377d-8b00832520d4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A fills the rule catalog: code documents are parsed, draft rules are extracted, a person reviews every draft, and each accepted rule is graded for reliability and filed under a check category. Pillar B reads from the catalog: every matching element in the IFC model is checked against each rule and given a verdict. Categories: 12 for windows, 14 for doors, 22 for stairs, handrails and guards.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Reliability grades the rule from the IFC property it reads; a rule with several properties takes the weakest grade. Confidence grades the result from where the value was found, shown as a three-bar meter. The six verdicts mean missing evidence is always reported: missing data, an unassessed check, or an untestable scope never becomes a silent pass. The risk score runs from 0 to 1; the default band cut-offs are 0.35, 0.65 and 0.85, and thresholds are read from the rule catalog.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BIM Guard · bim-guard.xyz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65760"/>
            <a:ext cx="1127455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1051560"/>
            <a:ext cx="11274552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6576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Two pillars, joined by one rule catalog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10515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Pillar A turns the building code into rules. Pillar B runs those rules on the IFC model. No threshold lives in the software.</a:t>
            </a:r>
            <a:endParaRPr lang="en-US" sz="1400" dirty="0"/>
          </a:p>
        </p:txBody>
      </p:sp>
      <p:sp>
        <p:nvSpPr>
          <p:cNvPr id="4" name="Card 1"/>
          <p:cNvSpPr/>
          <p:nvPr/>
        </p:nvSpPr>
        <p:spPr>
          <a:xfrm>
            <a:off x="457200" y="1554480"/>
            <a:ext cx="4572000" cy="361188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17373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PILLAR A · RULE AUTHORING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984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From code text to a checkable rule</a:t>
            </a:r>
            <a:endParaRPr lang="en-US" sz="1800" dirty="0"/>
          </a:p>
        </p:txBody>
      </p:sp>
      <p:sp>
        <p:nvSpPr>
          <p:cNvPr id="7" name="Step 4"/>
          <p:cNvSpPr/>
          <p:nvPr/>
        </p:nvSpPr>
        <p:spPr>
          <a:xfrm>
            <a:off x="685800" y="246888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245059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Parse the code document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Headings, clauses and tables, each with its page position.</a:t>
            </a:r>
            <a:endParaRPr lang="en-US" sz="1400" dirty="0"/>
          </a:p>
        </p:txBody>
      </p:sp>
      <p:sp>
        <p:nvSpPr>
          <p:cNvPr id="9" name="Step 6"/>
          <p:cNvSpPr/>
          <p:nvPr/>
        </p:nvSpPr>
        <p:spPr>
          <a:xfrm>
            <a:off x="685800" y="312724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31089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Extract draft rules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One draft per clause, with its source and an extraction score.</a:t>
            </a:r>
            <a:endParaRPr lang="en-US" sz="1400" dirty="0"/>
          </a:p>
        </p:txBody>
      </p:sp>
      <p:sp>
        <p:nvSpPr>
          <p:cNvPr id="11" name="Step 8"/>
          <p:cNvSpPr/>
          <p:nvPr/>
        </p:nvSpPr>
        <p:spPr>
          <a:xfrm>
            <a:off x="685800" y="378561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376732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Review by a person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Accept, edit or reject. Conflicts are flagged before promotion.</a:t>
            </a:r>
            <a:endParaRPr lang="en-US" sz="1400" dirty="0"/>
          </a:p>
        </p:txBody>
      </p:sp>
      <p:sp>
        <p:nvSpPr>
          <p:cNvPr id="13" name="Step 10"/>
          <p:cNvSpPr/>
          <p:nvPr/>
        </p:nvSpPr>
        <p:spPr>
          <a:xfrm>
            <a:off x="685800" y="444398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442569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Grade and file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Each rule gets a reliability grade and a check category.</a:t>
            </a:r>
            <a:endParaRPr lang="en-US" sz="1400" dirty="0"/>
          </a:p>
        </p:txBody>
      </p:sp>
      <p:sp>
        <p:nvSpPr>
          <p:cNvPr id="15" name="Card 12"/>
          <p:cNvSpPr/>
          <p:nvPr/>
        </p:nvSpPr>
        <p:spPr>
          <a:xfrm>
            <a:off x="7159752" y="1554480"/>
            <a:ext cx="4572000" cy="361188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88352" y="17373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PILLAR B · ARCHITECTURAL AUDIT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388352" y="1984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From an IFC model to graded findings</a:t>
            </a:r>
            <a:endParaRPr lang="en-US" sz="1800" dirty="0"/>
          </a:p>
        </p:txBody>
      </p:sp>
      <p:sp>
        <p:nvSpPr>
          <p:cNvPr id="18" name="Step 15"/>
          <p:cNvSpPr/>
          <p:nvPr/>
        </p:nvSpPr>
        <p:spPr>
          <a:xfrm>
            <a:off x="7388352" y="246888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845552" y="245059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Match elements to rules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Every element of the rule's IFC class is checked. No sampling.</a:t>
            </a:r>
            <a:endParaRPr lang="en-US" sz="1400" dirty="0"/>
          </a:p>
        </p:txBody>
      </p:sp>
      <p:sp>
        <p:nvSpPr>
          <p:cNvPr id="20" name="Step 17"/>
          <p:cNvSpPr/>
          <p:nvPr/>
        </p:nvSpPr>
        <p:spPr>
          <a:xfrm>
            <a:off x="7388352" y="312724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845552" y="31089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Read the real IFC value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Searched in a fixed order; the source of the value is recorded.</a:t>
            </a:r>
            <a:endParaRPr lang="en-US" sz="1400" dirty="0"/>
          </a:p>
        </p:txBody>
      </p:sp>
      <p:sp>
        <p:nvSpPr>
          <p:cNvPr id="22" name="Step 19"/>
          <p:cNvSpPr/>
          <p:nvPr/>
        </p:nvSpPr>
        <p:spPr>
          <a:xfrm>
            <a:off x="7388352" y="378561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845552" y="376732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Scope, compare, exempt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 scope? Meets the rule? Does a stated exception apply?</a:t>
            </a:r>
            <a:endParaRPr lang="en-US" sz="1400" dirty="0"/>
          </a:p>
        </p:txBody>
      </p:sp>
      <p:sp>
        <p:nvSpPr>
          <p:cNvPr id="24" name="Step 21"/>
          <p:cNvSpPr/>
          <p:nvPr/>
        </p:nvSpPr>
        <p:spPr>
          <a:xfrm>
            <a:off x="7388352" y="444398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845552" y="442569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Give a verdict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One of six outcomes, graded by reliability and confidence.</a:t>
            </a:r>
            <a:endParaRPr lang="en-US" sz="1400" dirty="0"/>
          </a:p>
        </p:txBody>
      </p:sp>
      <p:sp>
        <p:nvSpPr>
          <p:cNvPr id="26" name="Arrow 23"/>
          <p:cNvSpPr/>
          <p:nvPr/>
        </p:nvSpPr>
        <p:spPr>
          <a:xfrm>
            <a:off x="5102352" y="2834640"/>
            <a:ext cx="384048" cy="310896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7" name="Arrow 24"/>
          <p:cNvSpPr/>
          <p:nvPr/>
        </p:nvSpPr>
        <p:spPr>
          <a:xfrm>
            <a:off x="6702552" y="2834640"/>
            <a:ext cx="384048" cy="310896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8" name="Catalog 25"/>
          <p:cNvSpPr/>
          <p:nvPr/>
        </p:nvSpPr>
        <p:spPr>
          <a:xfrm>
            <a:off x="5541264" y="2487168"/>
            <a:ext cx="1106424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Rule catalog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database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440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How rules are categorized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By element type, then by what the rule tests. 48 categories, stored in the database.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3566160" y="5367528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12</a:t>
            </a:r>
            <a:endParaRPr lang="en-US" sz="4400" dirty="0"/>
          </a:p>
        </p:txBody>
      </p:sp>
      <p:sp>
        <p:nvSpPr>
          <p:cNvPr id="31" name="Text 28"/>
          <p:cNvSpPr txBox="1"/>
          <p:nvPr/>
        </p:nvSpPr>
        <p:spPr>
          <a:xfrm>
            <a:off x="4389120" y="5440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Windows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Fire and smoke, emergency escape, energy, glazing…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382512" y="5367528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14</a:t>
            </a:r>
            <a:endParaRPr lang="en-US" sz="4400" dirty="0"/>
          </a:p>
        </p:txBody>
      </p:sp>
      <p:sp>
        <p:nvSpPr>
          <p:cNvPr id="33" name="Text 30"/>
          <p:cNvSpPr txBox="1"/>
          <p:nvPr/>
        </p:nvSpPr>
        <p:spPr>
          <a:xfrm>
            <a:off x="7205472" y="5440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Doors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Dimensions, swing, life-safety, clear opening…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9198864" y="5367528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22</a:t>
            </a:r>
            <a:endParaRPr lang="en-US" sz="4400" dirty="0"/>
          </a:p>
        </p:txBody>
      </p:sp>
      <p:sp>
        <p:nvSpPr>
          <p:cNvPr id="35" name="Text 32"/>
          <p:cNvSpPr txBox="1"/>
          <p:nvPr/>
        </p:nvSpPr>
        <p:spPr>
          <a:xfrm>
            <a:off x="10021824" y="5440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Stairs and railings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Risers and treads, headroom, guard height…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6576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Every finding: two grades and one verdict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10515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Reliability is known before a model is loaded. Confidence is known once the value has been read. No silent defaults.</a:t>
            </a:r>
            <a:endParaRPr lang="en-US" sz="1400" dirty="0"/>
          </a:p>
        </p:txBody>
      </p:sp>
      <p:sp>
        <p:nvSpPr>
          <p:cNvPr id="4" name="Card 33"/>
          <p:cNvSpPr/>
          <p:nvPr/>
        </p:nvSpPr>
        <p:spPr>
          <a:xfrm>
            <a:off x="457200" y="1554480"/>
            <a:ext cx="3566160" cy="37490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5" name="Text 34"/>
          <p:cNvSpPr txBox="1"/>
          <p:nvPr/>
        </p:nvSpPr>
        <p:spPr>
          <a:xfrm>
            <a:off x="685800" y="17373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Reliability of the rule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If the value is present, is it true?</a:t>
            </a:r>
            <a:endParaRPr lang="en-US" sz="1800" dirty="0"/>
          </a:p>
        </p:txBody>
      </p:sp>
      <p:sp>
        <p:nvSpPr>
          <p:cNvPr id="6" name="Pill 35"/>
          <p:cNvSpPr/>
          <p:nvPr/>
        </p:nvSpPr>
        <p:spPr>
          <a:xfrm>
            <a:off x="685800" y="2487168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HIGH</a:t>
            </a:r>
            <a:endParaRPr lang="en-US" sz="1100" dirty="0"/>
          </a:p>
        </p:txBody>
      </p:sp>
      <p:sp>
        <p:nvSpPr>
          <p:cNvPr id="7" name="Text 36"/>
          <p:cNvSpPr txBox="1"/>
          <p:nvPr/>
        </p:nvSpPr>
        <p:spPr>
          <a:xfrm>
            <a:off x="1645920" y="2468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Stored in the file, one source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IFC attribute, element class, stored relationship, Qto quantity</a:t>
            </a:r>
            <a:endParaRPr lang="en-US" sz="1400" dirty="0"/>
          </a:p>
        </p:txBody>
      </p:sp>
      <p:sp>
        <p:nvSpPr>
          <p:cNvPr id="8" name="Pill 37"/>
          <p:cNvSpPr/>
          <p:nvPr/>
        </p:nvSpPr>
        <p:spPr>
          <a:xfrm>
            <a:off x="685800" y="3310128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MEDIUM</a:t>
            </a:r>
            <a:endParaRPr lang="en-US" sz="1100" dirty="0"/>
          </a:p>
        </p:txBody>
      </p:sp>
      <p:sp>
        <p:nvSpPr>
          <p:cNvPr id="9" name="Text 38"/>
          <p:cNvSpPr txBox="1"/>
          <p:nvPr/>
        </p:nvSpPr>
        <p:spPr>
          <a:xfrm>
            <a:off x="1645920" y="32918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Standard property set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True when found, but many models do not export it</a:t>
            </a:r>
            <a:endParaRPr lang="en-US" sz="1400" dirty="0"/>
          </a:p>
        </p:txBody>
      </p:sp>
      <p:sp>
        <p:nvSpPr>
          <p:cNvPr id="10" name="Pill 39"/>
          <p:cNvSpPr/>
          <p:nvPr/>
        </p:nvSpPr>
        <p:spPr>
          <a:xfrm>
            <a:off x="685800" y="4133088"/>
            <a:ext cx="82296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LOW</a:t>
            </a:r>
            <a:endParaRPr lang="en-US" sz="1100" dirty="0"/>
          </a:p>
        </p:txBody>
      </p:sp>
      <p:sp>
        <p:nvSpPr>
          <p:cNvPr id="11" name="Text 40"/>
          <p:cNvSpPr txBox="1"/>
          <p:nvPr/>
        </p:nvSpPr>
        <p:spPr>
          <a:xfrm>
            <a:off x="1645920" y="4114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Not held in the model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Geometry estimate, custom Pset, manufacturer or user-defined field</a:t>
            </a:r>
            <a:endParaRPr lang="en-US" sz="1400" dirty="0"/>
          </a:p>
        </p:txBody>
      </p:sp>
      <p:sp>
        <p:nvSpPr>
          <p:cNvPr id="12" name="Text 41"/>
          <p:cNvSpPr txBox="1"/>
          <p:nvPr/>
        </p:nvSpPr>
        <p:spPr>
          <a:xfrm>
            <a:off x="685800" y="49194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A rule takes the grade of its weakest property.</a:t>
            </a:r>
            <a:endParaRPr lang="en-US" sz="1100" dirty="0"/>
          </a:p>
        </p:txBody>
      </p:sp>
      <p:sp>
        <p:nvSpPr>
          <p:cNvPr id="13" name="Card 42"/>
          <p:cNvSpPr/>
          <p:nvPr/>
        </p:nvSpPr>
        <p:spPr>
          <a:xfrm>
            <a:off x="4297680" y="1554480"/>
            <a:ext cx="3566160" cy="37490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4" name="Text 43"/>
          <p:cNvSpPr txBox="1"/>
          <p:nvPr/>
        </p:nvSpPr>
        <p:spPr>
          <a:xfrm>
            <a:off x="4526280" y="17373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Confidence of the result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Where did this value come from?</a:t>
            </a:r>
            <a:endParaRPr lang="en-US" sz="1800" dirty="0"/>
          </a:p>
        </p:txBody>
      </p:sp>
      <p:sp>
        <p:nvSpPr>
          <p:cNvPr id="15" name="Meter 44"/>
          <p:cNvSpPr/>
          <p:nvPr/>
        </p:nvSpPr>
        <p:spPr>
          <a:xfrm>
            <a:off x="4526280" y="2633472"/>
            <a:ext cx="82296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Meter 45"/>
          <p:cNvSpPr/>
          <p:nvPr/>
        </p:nvSpPr>
        <p:spPr>
          <a:xfrm>
            <a:off x="4645152" y="2560320"/>
            <a:ext cx="82296" cy="1645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Meter 46"/>
          <p:cNvSpPr/>
          <p:nvPr/>
        </p:nvSpPr>
        <p:spPr>
          <a:xfrm>
            <a:off x="4764024" y="2487168"/>
            <a:ext cx="82296" cy="23774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47"/>
          <p:cNvSpPr txBox="1"/>
          <p:nvPr/>
        </p:nvSpPr>
        <p:spPr>
          <a:xfrm>
            <a:off x="5029200" y="24688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Authored property</a:t>
            </a:r>
            <a:endParaRPr lang="en-US" sz="1400" dirty="0"/>
          </a:p>
        </p:txBody>
      </p:sp>
      <p:sp>
        <p:nvSpPr>
          <p:cNvPr id="19" name="Meter 48"/>
          <p:cNvSpPr/>
          <p:nvPr/>
        </p:nvSpPr>
        <p:spPr>
          <a:xfrm>
            <a:off x="4526280" y="3017520"/>
            <a:ext cx="82296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Meter 49"/>
          <p:cNvSpPr/>
          <p:nvPr/>
        </p:nvSpPr>
        <p:spPr>
          <a:xfrm>
            <a:off x="4645152" y="2944368"/>
            <a:ext cx="82296" cy="1645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Meter 50"/>
          <p:cNvSpPr/>
          <p:nvPr/>
        </p:nvSpPr>
        <p:spPr>
          <a:xfrm>
            <a:off x="4764024" y="2871216"/>
            <a:ext cx="82296" cy="23774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Text 51"/>
          <p:cNvSpPr txBox="1"/>
          <p:nvPr/>
        </p:nvSpPr>
        <p:spPr>
          <a:xfrm>
            <a:off x="5029200" y="28529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Derived from model geometry</a:t>
            </a:r>
            <a:endParaRPr lang="en-US" sz="1400" dirty="0"/>
          </a:p>
        </p:txBody>
      </p:sp>
      <p:sp>
        <p:nvSpPr>
          <p:cNvPr id="23" name="Meter 52"/>
          <p:cNvSpPr/>
          <p:nvPr/>
        </p:nvSpPr>
        <p:spPr>
          <a:xfrm>
            <a:off x="4526280" y="3401568"/>
            <a:ext cx="82296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Meter 53"/>
          <p:cNvSpPr/>
          <p:nvPr/>
        </p:nvSpPr>
        <p:spPr>
          <a:xfrm>
            <a:off x="4645152" y="3328416"/>
            <a:ext cx="82296" cy="1645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Meter 54"/>
          <p:cNvSpPr/>
          <p:nvPr/>
        </p:nvSpPr>
        <p:spPr>
          <a:xfrm>
            <a:off x="4764024" y="3255264"/>
            <a:ext cx="82296" cy="237744"/>
          </a:xfrm>
          <a:prstGeom prst="rect">
            <a:avLst/>
          </a:prstGeom>
          <a:solidFill>
            <a:schemeClr val="accent6">
              <a:alpha val="35000"/>
            </a:schemeClr>
          </a:solidFill>
          <a:ln/>
        </p:spPr>
      </p:sp>
      <p:sp>
        <p:nvSpPr>
          <p:cNvPr id="26" name="Text 55"/>
          <p:cNvSpPr txBox="1"/>
          <p:nvPr/>
        </p:nvSpPr>
        <p:spPr>
          <a:xfrm>
            <a:off x="5029200" y="32369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Type-inherited</a:t>
            </a:r>
            <a:endParaRPr lang="en-US" sz="1400" dirty="0"/>
          </a:p>
        </p:txBody>
      </p:sp>
      <p:sp>
        <p:nvSpPr>
          <p:cNvPr id="27" name="Meter 56"/>
          <p:cNvSpPr/>
          <p:nvPr/>
        </p:nvSpPr>
        <p:spPr>
          <a:xfrm>
            <a:off x="4526280" y="3785616"/>
            <a:ext cx="82296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8" name="Meter 57"/>
          <p:cNvSpPr/>
          <p:nvPr/>
        </p:nvSpPr>
        <p:spPr>
          <a:xfrm>
            <a:off x="4645152" y="3712464"/>
            <a:ext cx="82296" cy="1645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9" name="Meter 58"/>
          <p:cNvSpPr/>
          <p:nvPr/>
        </p:nvSpPr>
        <p:spPr>
          <a:xfrm>
            <a:off x="4764024" y="3639312"/>
            <a:ext cx="82296" cy="237744"/>
          </a:xfrm>
          <a:prstGeom prst="rect">
            <a:avLst/>
          </a:prstGeom>
          <a:solidFill>
            <a:schemeClr val="accent6">
              <a:alpha val="35000"/>
            </a:schemeClr>
          </a:solidFill>
          <a:ln/>
        </p:spPr>
      </p:sp>
      <p:sp>
        <p:nvSpPr>
          <p:cNvPr id="30" name="Text 59"/>
          <p:cNvSpPr txBox="1"/>
          <p:nvPr/>
        </p:nvSpPr>
        <p:spPr>
          <a:xfrm>
            <a:off x="5029200" y="36210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Alias match</a:t>
            </a:r>
            <a:endParaRPr lang="en-US" sz="1400" dirty="0"/>
          </a:p>
        </p:txBody>
      </p:sp>
      <p:sp>
        <p:nvSpPr>
          <p:cNvPr id="31" name="Meter 60"/>
          <p:cNvSpPr/>
          <p:nvPr/>
        </p:nvSpPr>
        <p:spPr>
          <a:xfrm>
            <a:off x="4526280" y="4169664"/>
            <a:ext cx="82296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2" name="Meter 61"/>
          <p:cNvSpPr/>
          <p:nvPr/>
        </p:nvSpPr>
        <p:spPr>
          <a:xfrm>
            <a:off x="4645152" y="4096512"/>
            <a:ext cx="82296" cy="164592"/>
          </a:xfrm>
          <a:prstGeom prst="rect">
            <a:avLst/>
          </a:prstGeom>
          <a:solidFill>
            <a:schemeClr val="accent6">
              <a:alpha val="35000"/>
            </a:schemeClr>
          </a:solidFill>
          <a:ln/>
        </p:spPr>
      </p:sp>
      <p:sp>
        <p:nvSpPr>
          <p:cNvPr id="33" name="Meter 62"/>
          <p:cNvSpPr/>
          <p:nvPr/>
        </p:nvSpPr>
        <p:spPr>
          <a:xfrm>
            <a:off x="4764024" y="4023360"/>
            <a:ext cx="82296" cy="237744"/>
          </a:xfrm>
          <a:prstGeom prst="rect">
            <a:avLst/>
          </a:prstGeom>
          <a:solidFill>
            <a:schemeClr val="accent6">
              <a:alpha val="35000"/>
            </a:schemeClr>
          </a:solidFill>
          <a:ln/>
        </p:spPr>
      </p:sp>
      <p:sp>
        <p:nvSpPr>
          <p:cNvPr id="34" name="Text 63"/>
          <p:cNvSpPr txBox="1"/>
          <p:nvPr/>
        </p:nvSpPr>
        <p:spPr>
          <a:xfrm>
            <a:off x="5029200" y="40050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Rule fallback property</a:t>
            </a:r>
            <a:endParaRPr lang="en-US" sz="1400" dirty="0"/>
          </a:p>
        </p:txBody>
      </p:sp>
      <p:sp>
        <p:nvSpPr>
          <p:cNvPr id="35" name="Meter 64"/>
          <p:cNvSpPr/>
          <p:nvPr/>
        </p:nvSpPr>
        <p:spPr>
          <a:xfrm>
            <a:off x="4526280" y="4553712"/>
            <a:ext cx="82296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6" name="Meter 65"/>
          <p:cNvSpPr/>
          <p:nvPr/>
        </p:nvSpPr>
        <p:spPr>
          <a:xfrm>
            <a:off x="4645152" y="4480560"/>
            <a:ext cx="82296" cy="164592"/>
          </a:xfrm>
          <a:prstGeom prst="rect">
            <a:avLst/>
          </a:prstGeom>
          <a:solidFill>
            <a:schemeClr val="accent6">
              <a:alpha val="35000"/>
            </a:schemeClr>
          </a:solidFill>
          <a:ln/>
        </p:spPr>
      </p:sp>
      <p:sp>
        <p:nvSpPr>
          <p:cNvPr id="37" name="Meter 66"/>
          <p:cNvSpPr/>
          <p:nvPr/>
        </p:nvSpPr>
        <p:spPr>
          <a:xfrm>
            <a:off x="4764024" y="4407408"/>
            <a:ext cx="82296" cy="237744"/>
          </a:xfrm>
          <a:prstGeom prst="rect">
            <a:avLst/>
          </a:prstGeom>
          <a:solidFill>
            <a:schemeClr val="accent6">
              <a:alpha val="35000"/>
            </a:schemeClr>
          </a:solidFill>
          <a:ln/>
        </p:spPr>
      </p:sp>
      <p:sp>
        <p:nvSpPr>
          <p:cNvPr id="38" name="Text 67"/>
          <p:cNvSpPr txBox="1"/>
          <p:nvPr/>
        </p:nvSpPr>
        <p:spPr>
          <a:xfrm>
            <a:off x="5029200" y="4389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Geometry estimate</a:t>
            </a:r>
            <a:endParaRPr lang="en-US" sz="1400" dirty="0"/>
          </a:p>
        </p:txBody>
      </p:sp>
      <p:sp>
        <p:nvSpPr>
          <p:cNvPr id="39" name="Meter 68"/>
          <p:cNvSpPr/>
          <p:nvPr/>
        </p:nvSpPr>
        <p:spPr>
          <a:xfrm>
            <a:off x="4526280" y="4937760"/>
            <a:ext cx="82296" cy="91440"/>
          </a:xfrm>
          <a:prstGeom prst="rect">
            <a:avLst/>
          </a:prstGeom>
          <a:solidFill>
            <a:schemeClr val="accent6">
              <a:alpha val="35000"/>
            </a:schemeClr>
          </a:solidFill>
          <a:ln/>
        </p:spPr>
      </p:sp>
      <p:sp>
        <p:nvSpPr>
          <p:cNvPr id="40" name="Meter 69"/>
          <p:cNvSpPr/>
          <p:nvPr/>
        </p:nvSpPr>
        <p:spPr>
          <a:xfrm>
            <a:off x="4645152" y="4864608"/>
            <a:ext cx="82296" cy="164592"/>
          </a:xfrm>
          <a:prstGeom prst="rect">
            <a:avLst/>
          </a:prstGeom>
          <a:solidFill>
            <a:schemeClr val="accent6">
              <a:alpha val="35000"/>
            </a:schemeClr>
          </a:solidFill>
          <a:ln/>
        </p:spPr>
      </p:sp>
      <p:sp>
        <p:nvSpPr>
          <p:cNvPr id="41" name="Meter 70"/>
          <p:cNvSpPr/>
          <p:nvPr/>
        </p:nvSpPr>
        <p:spPr>
          <a:xfrm>
            <a:off x="4764024" y="4791456"/>
            <a:ext cx="82296" cy="237744"/>
          </a:xfrm>
          <a:prstGeom prst="rect">
            <a:avLst/>
          </a:prstGeom>
          <a:solidFill>
            <a:schemeClr val="accent6">
              <a:alpha val="35000"/>
            </a:schemeClr>
          </a:solidFill>
          <a:ln/>
        </p:spPr>
      </p:sp>
      <p:sp>
        <p:nvSpPr>
          <p:cNvPr id="42" name="Text 71"/>
          <p:cNvSpPr txBox="1"/>
          <p:nvPr/>
        </p:nvSpPr>
        <p:spPr>
          <a:xfrm>
            <a:off x="5029200" y="47731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Unresolved</a:t>
            </a:r>
            <a:endParaRPr lang="en-US" sz="1400" dirty="0"/>
          </a:p>
        </p:txBody>
      </p:sp>
      <p:sp>
        <p:nvSpPr>
          <p:cNvPr id="43" name="Card 72"/>
          <p:cNvSpPr/>
          <p:nvPr/>
        </p:nvSpPr>
        <p:spPr>
          <a:xfrm>
            <a:off x="8138160" y="1554480"/>
            <a:ext cx="3593592" cy="3749040"/>
          </a:xfrm>
          <a:prstGeom prst="roundRect">
            <a:avLst>
              <a:gd name="adj" fmla="val 3053"/>
            </a:avLst>
          </a:prstGeom>
          <a:solidFill>
            <a:schemeClr val="bg2"/>
          </a:solidFill>
          <a:ln/>
        </p:spPr>
      </p:sp>
      <p:sp>
        <p:nvSpPr>
          <p:cNvPr id="44" name="Text 73"/>
          <p:cNvSpPr txBox="1"/>
          <p:nvPr/>
        </p:nvSpPr>
        <p:spPr>
          <a:xfrm>
            <a:off x="8366760" y="1737360"/>
            <a:ext cx="3136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Six verdicts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Absent evidence is reported, never assumed</a:t>
            </a:r>
            <a:endParaRPr lang="en-US" sz="1800" dirty="0"/>
          </a:p>
        </p:txBody>
      </p:sp>
      <p:sp>
        <p:nvSpPr>
          <p:cNvPr id="45" name="Pill 74"/>
          <p:cNvSpPr/>
          <p:nvPr/>
        </p:nvSpPr>
        <p:spPr>
          <a:xfrm>
            <a:off x="8366760" y="2487168"/>
            <a:ext cx="123444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PASS</a:t>
            </a:r>
            <a:endParaRPr lang="en-US" sz="1100" dirty="0"/>
          </a:p>
        </p:txBody>
      </p:sp>
      <p:sp>
        <p:nvSpPr>
          <p:cNvPr id="46" name="Text 75"/>
          <p:cNvSpPr txBox="1"/>
          <p:nvPr/>
        </p:nvSpPr>
        <p:spPr>
          <a:xfrm>
            <a:off x="9692640" y="24688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Value found, meets the rule</a:t>
            </a:r>
            <a:endParaRPr lang="en-US" sz="1100" dirty="0"/>
          </a:p>
        </p:txBody>
      </p:sp>
      <p:sp>
        <p:nvSpPr>
          <p:cNvPr id="47" name="Pill 76"/>
          <p:cNvSpPr/>
          <p:nvPr/>
        </p:nvSpPr>
        <p:spPr>
          <a:xfrm>
            <a:off x="8366760" y="2935224"/>
            <a:ext cx="123444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FAIL</a:t>
            </a:r>
            <a:endParaRPr lang="en-US" sz="1100" dirty="0"/>
          </a:p>
        </p:txBody>
      </p:sp>
      <p:sp>
        <p:nvSpPr>
          <p:cNvPr id="48" name="Text 77"/>
          <p:cNvSpPr txBox="1"/>
          <p:nvPr/>
        </p:nvSpPr>
        <p:spPr>
          <a:xfrm>
            <a:off x="9692640" y="29169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Value found, breaks the rule</a:t>
            </a:r>
            <a:endParaRPr lang="en-US" sz="1100" dirty="0"/>
          </a:p>
        </p:txBody>
      </p:sp>
      <p:sp>
        <p:nvSpPr>
          <p:cNvPr id="49" name="Pill 78"/>
          <p:cNvSpPr/>
          <p:nvPr/>
        </p:nvSpPr>
        <p:spPr>
          <a:xfrm>
            <a:off x="8366760" y="3383280"/>
            <a:ext cx="123444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MISSING</a:t>
            </a:r>
            <a:endParaRPr lang="en-US" sz="1100" dirty="0"/>
          </a:p>
        </p:txBody>
      </p:sp>
      <p:sp>
        <p:nvSpPr>
          <p:cNvPr id="50" name="Text 79"/>
          <p:cNvSpPr txBox="1"/>
          <p:nvPr/>
        </p:nvSpPr>
        <p:spPr>
          <a:xfrm>
            <a:off x="9692640" y="33649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Model does not hold the value</a:t>
            </a:r>
            <a:endParaRPr lang="en-US" sz="1100" dirty="0"/>
          </a:p>
        </p:txBody>
      </p:sp>
      <p:sp>
        <p:nvSpPr>
          <p:cNvPr id="51" name="Pill 80"/>
          <p:cNvSpPr/>
          <p:nvPr/>
        </p:nvSpPr>
        <p:spPr>
          <a:xfrm>
            <a:off x="8366760" y="3831336"/>
            <a:ext cx="1234440" cy="25603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NOT ASSESSED</a:t>
            </a:r>
            <a:endParaRPr lang="en-US" sz="1100" dirty="0"/>
          </a:p>
        </p:txBody>
      </p:sp>
      <p:sp>
        <p:nvSpPr>
          <p:cNvPr id="52" name="Text 81"/>
          <p:cNvSpPr txBox="1"/>
          <p:nvPr/>
        </p:nvSpPr>
        <p:spPr>
          <a:xfrm>
            <a:off x="9692640" y="38130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No rule or no evidence</a:t>
            </a:r>
            <a:endParaRPr lang="en-US" sz="1100" dirty="0"/>
          </a:p>
        </p:txBody>
      </p:sp>
      <p:sp>
        <p:nvSpPr>
          <p:cNvPr id="53" name="Pill 82"/>
          <p:cNvSpPr/>
          <p:nvPr/>
        </p:nvSpPr>
        <p:spPr>
          <a:xfrm>
            <a:off x="8366760" y="4279392"/>
            <a:ext cx="1234440" cy="256032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N/A</a:t>
            </a:r>
            <a:endParaRPr lang="en-US" sz="1100" dirty="0"/>
          </a:p>
        </p:txBody>
      </p:sp>
      <p:sp>
        <p:nvSpPr>
          <p:cNvPr id="54" name="Text 83"/>
          <p:cNvSpPr txBox="1"/>
          <p:nvPr/>
        </p:nvSpPr>
        <p:spPr>
          <a:xfrm>
            <a:off x="9692640" y="42611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Outside the rule's scope</a:t>
            </a:r>
            <a:endParaRPr lang="en-US" sz="1100" dirty="0"/>
          </a:p>
        </p:txBody>
      </p:sp>
      <p:sp>
        <p:nvSpPr>
          <p:cNvPr id="55" name="Pill 84"/>
          <p:cNvSpPr/>
          <p:nvPr/>
        </p:nvSpPr>
        <p:spPr>
          <a:xfrm>
            <a:off x="8366760" y="4727448"/>
            <a:ext cx="1234440" cy="25603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UNDETERMINED</a:t>
            </a:r>
            <a:endParaRPr lang="en-US" sz="1100" dirty="0"/>
          </a:p>
        </p:txBody>
      </p:sp>
      <p:sp>
        <p:nvSpPr>
          <p:cNvPr id="56" name="Text 85"/>
          <p:cNvSpPr txBox="1"/>
          <p:nvPr/>
        </p:nvSpPr>
        <p:spPr>
          <a:xfrm>
            <a:off x="9692640" y="4709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Scope cannot be tested</a:t>
            </a:r>
            <a:endParaRPr lang="en-US" sz="1100" dirty="0"/>
          </a:p>
        </p:txBody>
      </p:sp>
      <p:sp>
        <p:nvSpPr>
          <p:cNvPr id="57" name="Text 86"/>
          <p:cNvSpPr txBox="1"/>
          <p:nvPr/>
        </p:nvSpPr>
        <p:spPr>
          <a:xfrm>
            <a:off x="457200" y="552297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Risk score per finding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Sets the BCF issue priority</a:t>
            </a:r>
            <a:endParaRPr lang="en-US" sz="1400" dirty="0"/>
          </a:p>
        </p:txBody>
      </p:sp>
      <p:sp>
        <p:nvSpPr>
          <p:cNvPr id="58" name="Band 87"/>
          <p:cNvSpPr/>
          <p:nvPr/>
        </p:nvSpPr>
        <p:spPr>
          <a:xfrm>
            <a:off x="3291840" y="5559552"/>
            <a:ext cx="2953969" cy="32918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LOW</a:t>
            </a:r>
            <a:endParaRPr lang="en-US" sz="1100" dirty="0"/>
          </a:p>
        </p:txBody>
      </p:sp>
      <p:sp>
        <p:nvSpPr>
          <p:cNvPr id="59" name="Band 88"/>
          <p:cNvSpPr/>
          <p:nvPr/>
        </p:nvSpPr>
        <p:spPr>
          <a:xfrm>
            <a:off x="6245809" y="5559552"/>
            <a:ext cx="2531974" cy="32918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MEDIUM</a:t>
            </a:r>
            <a:endParaRPr lang="en-US" sz="1100" dirty="0"/>
          </a:p>
        </p:txBody>
      </p:sp>
      <p:sp>
        <p:nvSpPr>
          <p:cNvPr id="60" name="Band 89"/>
          <p:cNvSpPr/>
          <p:nvPr/>
        </p:nvSpPr>
        <p:spPr>
          <a:xfrm>
            <a:off x="8777783" y="5559552"/>
            <a:ext cx="1687982" cy="32918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HIGH</a:t>
            </a:r>
            <a:endParaRPr lang="en-US" sz="1100" dirty="0"/>
          </a:p>
        </p:txBody>
      </p:sp>
      <p:sp>
        <p:nvSpPr>
          <p:cNvPr id="61" name="Band 90"/>
          <p:cNvSpPr/>
          <p:nvPr/>
        </p:nvSpPr>
        <p:spPr>
          <a:xfrm>
            <a:off x="10465765" y="5559552"/>
            <a:ext cx="1265987" cy="32918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CRITICAL</a:t>
            </a:r>
            <a:endParaRPr lang="en-US" sz="1100" dirty="0"/>
          </a:p>
        </p:txBody>
      </p:sp>
      <p:sp>
        <p:nvSpPr>
          <p:cNvPr id="62" name="Text 91"/>
          <p:cNvSpPr txBox="1"/>
          <p:nvPr/>
        </p:nvSpPr>
        <p:spPr>
          <a:xfrm>
            <a:off x="3291840" y="5943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</a:t>
            </a:r>
            <a:endParaRPr lang="en-US" sz="1100" dirty="0"/>
          </a:p>
        </p:txBody>
      </p:sp>
      <p:sp>
        <p:nvSpPr>
          <p:cNvPr id="63" name="Text 92"/>
          <p:cNvSpPr txBox="1"/>
          <p:nvPr/>
        </p:nvSpPr>
        <p:spPr>
          <a:xfrm>
            <a:off x="5971489" y="5943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0.35</a:t>
            </a:r>
            <a:endParaRPr lang="en-US" sz="1100" dirty="0"/>
          </a:p>
        </p:txBody>
      </p:sp>
      <p:sp>
        <p:nvSpPr>
          <p:cNvPr id="64" name="Text 93"/>
          <p:cNvSpPr txBox="1"/>
          <p:nvPr/>
        </p:nvSpPr>
        <p:spPr>
          <a:xfrm>
            <a:off x="8503463" y="5943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0.65</a:t>
            </a:r>
            <a:endParaRPr lang="en-US" sz="1100" dirty="0"/>
          </a:p>
        </p:txBody>
      </p:sp>
      <p:sp>
        <p:nvSpPr>
          <p:cNvPr id="65" name="Text 94"/>
          <p:cNvSpPr txBox="1"/>
          <p:nvPr/>
        </p:nvSpPr>
        <p:spPr>
          <a:xfrm>
            <a:off x="10191445" y="5943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0.85</a:t>
            </a:r>
            <a:endParaRPr lang="en-US" sz="1100" dirty="0"/>
          </a:p>
        </p:txBody>
      </p:sp>
      <p:sp>
        <p:nvSpPr>
          <p:cNvPr id="66" name="Text 95"/>
          <p:cNvSpPr txBox="1"/>
          <p:nvPr/>
        </p:nvSpPr>
        <p:spPr>
          <a:xfrm>
            <a:off x="11183112" y="5943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M Guard">
  <a:themeElements>
    <a:clrScheme name="BIM Guard">
      <a:dk1>
        <a:srgbClr val="0F172A"/>
      </a:dk1>
      <a:lt1>
        <a:srgbClr val="FFFFFF"/>
      </a:lt1>
      <a:dk2>
        <a:srgbClr val="475569"/>
      </a:dk2>
      <a:lt2>
        <a:srgbClr val="F1F5F9"/>
      </a:lt2>
      <a:accent1>
        <a:srgbClr val="0066CC"/>
      </a:accent1>
      <a:accent2>
        <a:srgbClr val="047857"/>
      </a:accent2>
      <a:accent3>
        <a:srgbClr val="BE123C"/>
      </a:accent3>
      <a:accent4>
        <a:srgbClr val="B45309"/>
      </a:accent4>
      <a:accent5>
        <a:srgbClr val="4338CA"/>
      </a:accent5>
      <a:accent6>
        <a:srgbClr val="64748B"/>
      </a:accent6>
      <a:hlink>
        <a:srgbClr val="0066CC"/>
      </a:hlink>
      <a:folHlink>
        <a:srgbClr val="4338CA"/>
      </a:folHlink>
    </a:clrScheme>
    <a:fontScheme name="BIM Guar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BIM Guard architectural audit</dc:title>
  <dc:subject>PptxGenJS Presentation</dc:subject>
  <dc:creator>PptxGenJS</dc:creator>
  <cp:lastModifiedBy>PptxGenJS</cp:lastModifiedBy>
  <cp:revision>1</cp:revision>
  <dcterms:created xsi:type="dcterms:W3CDTF">2026-10-09T03:30:32Z</dcterms:created>
  <dcterms:modified xsi:type="dcterms:W3CDTF">2026-10-09T03:30:32Z</dcterms:modified>
</cp:coreProperties>
</file>