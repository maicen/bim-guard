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30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BIM Corrosion Compliance Checker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OpenBIM  ·  IFC ISO 16739-1  ·  BCF 2.1  ·  ISO 19650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4114800" cy="20117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108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Corrosion Engine  GC-001    ·    Crevice Corrosion Engine  CC-001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44165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Master Project  |  Masters in BIM Management  |  Zigurat Global Institute of Technology  |  Group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BIM cannot currently solve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 causes predictable, preventable failures — but BIM coordination tools do not check for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201168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990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1122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GDP lost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corrosion annually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12344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234440"/>
            <a:ext cx="201168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3990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6–10×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14600" y="21122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multiplier: field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design-stage fix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2344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234440"/>
            <a:ext cx="2011680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3990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09160" y="21122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BIM tools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 risk in IFC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12344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1234440"/>
            <a:ext cx="2011680" cy="7315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3990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pts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903720" y="21122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Thread evidence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BIMGUARD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" y="28346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BIM clash detection finds geometric conflicts — pipe-on-pipe clashes, services through structure. It does not check whether two correctly-positioned pipes will corrode each other because of their material pairing, joint geometry, or environment. This failure mode is invisible to every current BIM coordination tool.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" y="36118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closes this gap — using data already in the IFC model.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research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academic scope that frames this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8686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64008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325880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 —  Detection from existing IFC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" y="1618488"/>
            <a:ext cx="8485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corrosion risk in MEP building services be reliably detected from data already present in standard IFC models, without requiring additional manual input or proprietary BIM authoring tool access?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395728"/>
            <a:ext cx="8686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395728"/>
            <a:ext cx="64008" cy="10241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2487168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 —  Dual-mechanism simultaneous checking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" y="2779776"/>
            <a:ext cx="8485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galvanic corrosion and crevice corrosion be checked simultaneously within one automated workflow, and does the combined assessment detect risks that either mechanism alone would miss?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557016"/>
            <a:ext cx="8686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557016"/>
            <a:ext cx="64008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3648456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 —  OpenBIM cross-platform deployment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" y="3941064"/>
            <a:ext cx="8485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OpenBIM compliance checking tool — operating exclusively on open standards without proprietary APIs — be deployed effectively across the full range of authoring environments used by different disciplines?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OpenBIM?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and academically significant architectural decision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3931920" cy="2926080"/>
          </a:xfrm>
          <a:prstGeom prst="rect">
            <a:avLst/>
          </a:prstGeom>
          <a:solidFill>
            <a:srgbClr val="2A1515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BIM  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Revit API only — excludes ArchiCAD, Tekla, Vectorworks 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768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Proprietary plugins required on every authoring machine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cross-discipline compatibility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81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be adopted on mixed-software projects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838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Vendor lock-in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4297680" cy="2926080"/>
          </a:xfrm>
          <a:prstGeom prst="rect">
            <a:avLst/>
          </a:prstGeom>
          <a:solidFill>
            <a:srgbClr val="0A1F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OpenBIM  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1874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IFC (ISO 16739-1) — any tool, any discipline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2768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BCF 2.1 — issues read by all OpenBIM platforms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679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plugins, no proprietary access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081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with Revit, ArchiCAD, Tekla, Vectorworks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4838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ISO standard — internationally applicable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BIMGUARD AI five-phase compliance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file in → five sequential checks → BCF 2.1 issues 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61872"/>
            <a:ext cx="1463040" cy="658368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6187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input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19072" y="1554480"/>
            <a:ext cx="274320" cy="54864"/>
          </a:xfrm>
          <a:prstGeom prst="rect">
            <a:avLst/>
          </a:prstGeom>
          <a:solidFill>
            <a:srgbClr val="8896A6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9968" y="1207008"/>
            <a:ext cx="1225296" cy="7680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9968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48256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filter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48256" y="20299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C-to-C spacing vs minimum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1554480"/>
            <a:ext cx="109728" cy="54864"/>
          </a:xfrm>
          <a:prstGeom prst="rect">
            <a:avLst/>
          </a:prstGeom>
          <a:solidFill>
            <a:srgbClr val="8896A6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1207008"/>
            <a:ext cx="1225296" cy="7680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01568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19856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envelope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9856" y="20299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 350 support reservation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45152" y="1554480"/>
            <a:ext cx="109728" cy="54864"/>
          </a:xfrm>
          <a:prstGeom prst="rect">
            <a:avLst/>
          </a:prstGeom>
          <a:solidFill>
            <a:srgbClr val="8896A6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1207008"/>
            <a:ext cx="1225296" cy="76809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91456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91456" y="20299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GC-001 material compatibility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16752" y="1554480"/>
            <a:ext cx="109728" cy="54864"/>
          </a:xfrm>
          <a:prstGeom prst="rect">
            <a:avLst/>
          </a:prstGeom>
          <a:solidFill>
            <a:srgbClr val="8896A6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4768" y="1207008"/>
            <a:ext cx="1225296" cy="768096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44768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63056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hierarchy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63056" y="20299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moves, how far, cost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88352" y="1554480"/>
            <a:ext cx="109728" cy="54864"/>
          </a:xfrm>
          <a:prstGeom prst="rect">
            <a:avLst/>
          </a:prstGeom>
          <a:solidFill>
            <a:srgbClr val="8896A6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16368" y="1207008"/>
            <a:ext cx="1225296" cy="7680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16368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34656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34656" y="20299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 + ISO 19650 + cost avoid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23960" y="1261872"/>
            <a:ext cx="91440" cy="658368"/>
          </a:xfrm>
          <a:prstGeom prst="rect">
            <a:avLst/>
          </a:prstGeom>
          <a:solidFill>
            <a:srgbClr val="8896A6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4505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paths from Phases 1, 2, 3 → all route to Phase 4 for resolution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2852928"/>
            <a:ext cx="50292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5528" y="287121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IFC 2x3 and IFC4 — any authoring tool (ifcopenshell)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0" y="2852928"/>
            <a:ext cx="50292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767328" y="287121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BCF 2.1 — every issue has GlobalID, viewpoint, cost, assignee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72200" y="2852928"/>
            <a:ext cx="50292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39128" y="287121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19650 status codes: Work in Progress → Shared → Approved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Spatial filter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that standard BIM tools miss: metadata-driven insulation clash detection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8686800" cy="77724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C-to-C min  =  (OD₁/2  +  T_ins1)  +  25 mm  +  (T_ins2  +  OD₂/2)  +  Thermal displacement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" y="2176272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176272"/>
            <a:ext cx="64008" cy="13533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" y="226771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GC-001 reads from IFC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" y="2560320"/>
            <a:ext cx="25420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OuterDiameter from Pset_PipeSegmentOccurrence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from Pset_CoveringCommon.TotalThickness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type → default insulation fallback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2176272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2176272"/>
            <a:ext cx="64008" cy="13533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226771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Navisworks gap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00984" y="2560320"/>
            <a:ext cx="25420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Navisworks only detects modelled geometry.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insulation is in a Pset but not modelled as a 3D solid, Navisworks reports PASS.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reads the metadata — catches what isn't there.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2176272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2176272"/>
            <a:ext cx="64008" cy="135331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226771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Phase 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45352" y="2560320"/>
            <a:ext cx="25420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actual C-to-C &lt; minimum: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clash flagged immediately.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pair routed to Phase 4 resolution.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 issue generated with offset instruction.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37490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Standards: PIP PNE0003  ·  ASME B16.5 (US)  ·  EN 1092-1 (EU)  ·  ISO 16739-1 IFC schema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Halo envelope (LOD 350)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space now for support steelwork that doesn't exist yet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8686800" cy="658368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R_halo  =  (OD/2  +  T_ins)  +  100 mm (support buffer)  +  150 mm (seismic buffer, if active)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2084832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084832"/>
            <a:ext cx="27432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57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mm support buffer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4871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width of Unistrut P1000 + clevis hanger assembly (MSS SP-58 dimensions)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2084832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084832"/>
            <a:ext cx="27432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157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mm seismic buffer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24871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leg of sway brace per SMACNA / EN 13480-3 — active only when SeismicZone Pset is populated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2084832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2084832"/>
            <a:ext cx="2743200" cy="7315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157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breach = WARNING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4871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clear physically but LOD 350 hanger cannot fit — model held at Work in Progress in CDE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566160"/>
            <a:ext cx="86868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661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Halo concept is the unique academic contribution of Phase 2.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35661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BIM tools are reactive — they check what is in the model. BIMGUARD AI is proactive — it reserves space for what will be in the model at LOD 350.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gate — GC-001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BIMGUARD-GC-001 v1.0.0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3657600" cy="274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944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Standards:  NASA-STD-6012  ·  WorldStainless / Euro Inox (2025)  ·  IMOA Design Manual 4th Ed.  ·  AUCSC (2024)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GC-001 — Galvanic corrosion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22-material electrochemical series · 7 environment classes · PREN adequacy check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07008"/>
            <a:ext cx="8686800" cy="658368"/>
          </a:xfrm>
          <a:prstGeom prst="rect">
            <a:avLst/>
          </a:prstGeom>
          <a:solidFill>
            <a:srgbClr val="DEEAF1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Score_GC  =  (0.50 × voltage risk)  +  (0.30 × area ratio risk)  +  (0.20 × environment multiplier)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956816"/>
            <a:ext cx="411480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956816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956816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67712" y="1956816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 priority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55264" y="1956816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304288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304288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2304288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67712" y="2304288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55264" y="2304288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633472"/>
            <a:ext cx="411480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633472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2633472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 – 0.65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67712" y="2633472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55264" y="2633472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962656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962656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80160" y="2962656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 – 0.85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67712" y="2962656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55264" y="2962656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291840"/>
            <a:ext cx="411480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3291840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80160" y="3291840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67712" y="3291840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55264" y="3291840"/>
            <a:ext cx="914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1956816"/>
            <a:ext cx="434340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1956816"/>
            <a:ext cx="4343400" cy="640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02996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 adequacy check (stainless steel only)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63440" y="23957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  =  %Cr  +  3.3 × %Mo  +  16 × %N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63440" y="281635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E1–E2 (controlled indoor): PREN ≥ 18  →  SS304 adequate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63440" y="31363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E3–E4 (humid/external): PREN ≥ 25  →  SS316 required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63440" y="34564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E5–E7 (aggressive/coastal): PREN ≥ 32  →  Duplex 2205+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28600" y="4069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 issues generated for Medium, High, and Critical. Low results recorded in asset register only.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(continued)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Crevice gate — CC-001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BIMGUARD-CC-001 v1.0.0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365760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944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Standards:  EN ISO 15329:2007  ·  ASTM G48 Method B  ·  CIRIA C692  ·  CIBSE Guide G  ·  EN 1993-1-4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CC-001 — Crevice corrosion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 table · 14-type joint geometry library · 7 environment severity classes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07008"/>
            <a:ext cx="8686800" cy="658368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Score_CC  =  (0.35 × geometry risk)  +  (0.40 × CCT adequacy)  +  (0.25 × environment severity)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956816"/>
            <a:ext cx="466344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956816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92224" y="1956816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 (°C)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956816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 (typ.)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304288"/>
            <a:ext cx="4663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304288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92224" y="2304288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304288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633472"/>
            <a:ext cx="46634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633472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316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92224" y="2633472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633472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962656"/>
            <a:ext cx="4663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962656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Duplex 2205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92224" y="2962656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962656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33–38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291840"/>
            <a:ext cx="46634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291840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Duplex 2507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92224" y="3291840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3291840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621024"/>
            <a:ext cx="4663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3621024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Titanium Gr.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92224" y="3621024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3621024"/>
            <a:ext cx="142646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" y="396849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ASTM G48 Method B / CIRIA C692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74920" y="1956816"/>
            <a:ext cx="384048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1956816"/>
            <a:ext cx="18105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class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22592" y="1956816"/>
            <a:ext cx="18105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74920" y="2304288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2304288"/>
            <a:ext cx="18105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(butt weld)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22592" y="2304288"/>
            <a:ext cx="18105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74920" y="2633472"/>
            <a:ext cx="384048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38928" y="2633472"/>
            <a:ext cx="18105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(slip-on flange)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22592" y="2633472"/>
            <a:ext cx="18105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74920" y="2962656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38928" y="2962656"/>
            <a:ext cx="18105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(weld neck flange)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22592" y="2962656"/>
            <a:ext cx="18105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74920" y="3291840"/>
            <a:ext cx="384048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38928" y="3291840"/>
            <a:ext cx="18105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(threaded / under clamp)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22592" y="3291840"/>
            <a:ext cx="18105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that justifies the dual-engine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SS316 flanges in a pool plant room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3931920" cy="1920240"/>
          </a:xfrm>
          <a:prstGeom prst="rect">
            <a:avLst/>
          </a:prstGeom>
          <a:solidFill>
            <a:srgbClr val="0A1F2E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GC-001 galvanic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SS316 is among the most noble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metals in the galvanic series. No risk.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1920240"/>
          </a:xfrm>
          <a:prstGeom prst="rect">
            <a:avLst/>
          </a:prstGeom>
          <a:solidFill>
            <a:srgbClr val="2A1515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9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CC-001 crevice score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892040" y="27889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9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SS316 CCT = +10°C.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9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plant room regularly exceeds this.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9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Flanged joint geometry = Critical.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54787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galvanic-only tool classifies this installation as safe. BIMGUARD AI classifies it correctly — as a Critical crevice risk that will fail within two to five years.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engines are necessary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combined_risk_assessment() function runs GC-001 and CC-001 simultaneously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3258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 band rule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" y="1618488"/>
            <a:ext cx="3959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risk band = the higher of the two individual bands.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SS316 pool plant room: Low (GC) + Critical (CC) → Combined: CRITICAL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4343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234440"/>
            <a:ext cx="64008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132588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BCF issues per mechanism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0016" y="1618488"/>
            <a:ext cx="4142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GC-001 and CC-001 generate separate BCF issues for the same element — because the responsible engineer and the mitigation action differ.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35915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359152"/>
            <a:ext cx="64008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2450592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Pset write-back to IFC 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" y="2743200"/>
            <a:ext cx="3959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Pset_CorrosionRisk and Pset_CreviceCorrosionRisk are written to the IFC model — creating a permanent, machine-readable compliance record.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59152"/>
            <a:ext cx="4343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359152"/>
            <a:ext cx="64008" cy="960120"/>
          </a:xfrm>
          <a:prstGeom prst="rect">
            <a:avLst/>
          </a:prstGeom>
          <a:solidFill>
            <a:srgbClr val="8896A6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2450592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register CSV export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0016" y="2743200"/>
            <a:ext cx="4142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asset register: GlobalID · service type · GC score · CC score · combined band · cost · programme impact — one row per element.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493008"/>
            <a:ext cx="868680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930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also run the PREN adequacy check — ensuring the specified stainless grade is adequate for the environment class, regardless of the corrosion mechanism under assessment.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Resolution hierarchy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pipe moves, how far, at what cost and schedule impact — decided automatically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2743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27432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475488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" y="13167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priority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1783080"/>
            <a:ext cx="25603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attribute &gt; 0 → pipe is immovable.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algorithm can override a fixed drainage gradient.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sloped → Systemic Design Failure → human review required.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1234440"/>
            <a:ext cx="2743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234440"/>
            <a:ext cx="27432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1234440"/>
            <a:ext cx="475488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85032" y="13167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delta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1783080"/>
            <a:ext cx="25603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reroute cost for each pipe: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rate × length + labour complexity multiplier × length + fittings.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delta &gt; 20% → cheaper pipe moves automatically.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1234440"/>
            <a:ext cx="2743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23444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234440"/>
            <a:ext cx="47548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11112" y="13167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risk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1783080"/>
            <a:ext cx="25603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cost delta &lt; 20% → evaluate programme impact.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weld: +3 days per weld. Flanged restricted access: +1 day per joint.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programme impact wins. Equal → smaller bore moves.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721608"/>
            <a:ext cx="8686800" cy="54864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21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 output: Element GlobalID · offset direction &amp; magnitude (mm) · estimated cost (£) · working days impact · discipline engineer assigned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Executive report and ISO 19650 output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audience-specific deliverables from one compliance run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64008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984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engineer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 2.1 issue file — GlobalID, viewpoint, resolution instruction, cost, assignee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2203704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203704"/>
            <a:ext cx="64008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677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manager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25968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 — pass/fail by phase, open vs resolved issues, CDE container status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3172968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17296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2369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project manager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56616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avoidance summary — design-stage cost vs equivalent field-stage cost at 6× multiplier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4151376"/>
            <a:ext cx="868680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513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19650 status mapping:  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68880" y="4270248"/>
            <a:ext cx="2011680" cy="32918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4270248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Work in Progress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Phase 1/2 failures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81728" y="4270248"/>
            <a:ext cx="2011680" cy="32918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4270248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— Shared (NCR)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warnings present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94576" y="4270248"/>
            <a:ext cx="2011680" cy="329184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4270248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 — Approved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phases pass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BIMGUARD AI Streamlit application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· ifcopenshell · Plotly · BCF 2.1  —  runs at localhost:8501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43200" cy="1517904"/>
          </a:xfrm>
          <a:prstGeom prst="rect">
            <a:avLst/>
          </a:prstGeom>
          <a:solidFill>
            <a:srgbClr val="0D1B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61872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upload or 25-element demo.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 upload or synthetic.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Single-button compliance run.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261872"/>
            <a:ext cx="2743200" cy="1517904"/>
          </a:xfrm>
          <a:prstGeom prst="rect">
            <a:avLst/>
          </a:prstGeom>
          <a:solidFill>
            <a:srgbClr val="0D1B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261872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85616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82880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 element table — filterable.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inventory chart.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count by service type.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261872"/>
            <a:ext cx="2743200" cy="1517904"/>
          </a:xfrm>
          <a:prstGeom prst="rect">
            <a:avLst/>
          </a:prstGeom>
          <a:solidFill>
            <a:srgbClr val="0D1B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261872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9984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 compliance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54496" y="182880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distribution pie chart.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spatial risk map (Plotly).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results table + CSV export.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1517904"/>
          </a:xfrm>
          <a:prstGeom prst="rect">
            <a:avLst/>
          </a:prstGeom>
          <a:solidFill>
            <a:srgbClr val="0D1B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26080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3017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 compare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493008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centroids overlaid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 in 3D space.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analysis.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2926080"/>
            <a:ext cx="2743200" cy="1517904"/>
          </a:xfrm>
          <a:prstGeom prst="rect">
            <a:avLst/>
          </a:prstGeom>
          <a:solidFill>
            <a:srgbClr val="0D1B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8688" y="2926080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85616" y="3017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 issue manager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0128" y="3493008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by risk band.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assignment chart.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 2.1 ZIP download.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2926080"/>
            <a:ext cx="2743200" cy="1517904"/>
          </a:xfrm>
          <a:prstGeom prst="rect">
            <a:avLst/>
          </a:prstGeom>
          <a:solidFill>
            <a:srgbClr val="0D1B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056" y="2926080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29984" y="3017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cost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54496" y="3493008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Gantt: baseline vs delayed.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by band and mechanism.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Issue-level breakdown.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 — 25-element synthetic MEP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represent an unreviewed commercial plant room specification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1965960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99032"/>
            <a:ext cx="17830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083003"/>
            <a:ext cx="17830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59152" y="12344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59152" y="1234440"/>
            <a:ext cx="1965960" cy="73152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399032"/>
            <a:ext cx="17830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2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50592" y="2083003"/>
            <a:ext cx="17830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9704" y="12344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9704" y="1234440"/>
            <a:ext cx="19659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1399032"/>
            <a:ext cx="17830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81144" y="2083003"/>
            <a:ext cx="17830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0256" y="12344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0256" y="1234440"/>
            <a:ext cx="196596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1399032"/>
            <a:ext cx="17830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711696" y="2083003"/>
            <a:ext cx="17830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 issues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743200"/>
            <a:ext cx="8686800" cy="7132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7432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37360" y="274320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SS316 flanges in pool plant room — GC-001 score 0.00 (Low) · CC-001 score 0.89 (Critical). A galvanic-only tool classifies this as compliant. BIMGUARD AI correctly flags it as a Critical crevice risk requiring immediate attention.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28600" y="365760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demonstrates that GC-001 and CC-001 detect distinct and non-overlapping failure modes. Neither engine alone is sufficient for a comprehensive corrosion compliance assessment.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Halo results — hospital MEP case study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plant corridor, 3.5 m soffit height  ·  γa = 1.5  ·  seismic demand 0.35  ·  one run per brace family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1965960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99032"/>
            <a:ext cx="17830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mm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083003"/>
            <a:ext cx="17830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iron Halo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conflicts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59152" y="12344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59152" y="1234440"/>
            <a:ext cx="19659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C251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399032"/>
            <a:ext cx="17830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2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50592" y="2083003"/>
            <a:ext cx="17830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rod Halo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conflict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9704" y="12344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9704" y="1234440"/>
            <a:ext cx="196596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1399032"/>
            <a:ext cx="17830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mm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81144" y="2083003"/>
            <a:ext cx="17830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Halo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conflicts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0256" y="12344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0256" y="1234440"/>
            <a:ext cx="196596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1399032"/>
            <a:ext cx="17830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 m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711696" y="2083003"/>
            <a:ext cx="17830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 spacing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NFPA 13 Ch. 18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743200"/>
            <a:ext cx="8686800" cy="713232"/>
          </a:xfrm>
          <a:prstGeom prst="rect">
            <a:avLst/>
          </a:prstGeom>
          <a:solidFill>
            <a:srgbClr val="DEEAF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7432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37360" y="274320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bracing — the only family that resolves the node set without a design change. Smallest footprint, clear of both the sprinkler main and the conduit.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28600" y="365760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at LOD 300, the conflict reaches the designer while ductwork and conduit can still be moved. Mehrbod et al. (2019) record a comparable reroute costing six weeks once services were installed.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matters to a client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828800"/>
          </a:xfrm>
          <a:prstGeom prst="rect">
            <a:avLst/>
          </a:prstGeom>
          <a:solidFill>
            <a:srgbClr val="0A1F2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£170,600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cost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(design stage)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54864" cy="1005840"/>
          </a:xfrm>
          <a:prstGeom prst="rect">
            <a:avLst/>
          </a:prstGeom>
          <a:solidFill>
            <a:srgbClr val="8896A6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9611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4754880" y="20574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delay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816352"/>
            <a:ext cx="850392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620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avoidance at 6× field multiplier: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Design-stage cost  £170,600 × 6 = £1,023,600 field cost  →  £852,000 avoided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395020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Semiconductor Fab projects where a single day of production downtime can exceed the entire reroute cost, the multiplier is conservative — often 20× or higher.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academic contributions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BIMGUARD AI adds to the body of knowledge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8686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325880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—  Corrosion compliance from IFC metadata without geometric modelling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" y="1618488"/>
            <a:ext cx="8485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engineering-level corrosion risk assessment can be performed on property set metadata without requiring insulation, supports, or joint geometry to be modelled as 3D solids. Addresses a fundamental limitation of all current BIM clash detection tools.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395728"/>
            <a:ext cx="8686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395728"/>
            <a:ext cx="64008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2487168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—  White Box Architecture for AI-assisted compliance checking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" y="2779776"/>
            <a:ext cx="8485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 methodology in which every compliance decision is traceable to a named standard and a specific threshold. Demonstrates that transparent, auditable rule-based compliance checking is viable in a BIM context — and preferable to black-box ML approaches for regulatory acceptance.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557016"/>
            <a:ext cx="8686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557016"/>
            <a:ext cx="64008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3648456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—  Halo Envelope: proactive LOD 350 space reservation at LOD 300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" y="3941064"/>
            <a:ext cx="8485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a formal method for reserving space for LOD 350 support steelwork within a LOD 300 coordination model. Addresses a recognised and costly gap in current BIM coordination practice — the 'Coordination Fatigue' problem where 80% of meeting time is spent deciding who moves.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896A6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development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planned modules and two integration streams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6187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61872"/>
            <a:ext cx="658368" cy="1170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261872"/>
            <a:ext cx="6583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MC-001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module (Microbially Influenced Corrosion)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" y="170078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Dead-leg pipework · stagnant water · under-insulation scenarios. Relevant to healthcare, pharmaceutical, food processing, Legionella risk management.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126187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0872" y="1261872"/>
            <a:ext cx="658368" cy="1170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261872"/>
            <a:ext cx="6583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FC-001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compartmentation module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70078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sealing compliance · smoke control zoning · compartment integrity checking from IFC spatial data. Second major compliance domain alongside corrosion.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578608"/>
            <a:ext cx="658368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578608"/>
            <a:ext cx="6583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8408" y="2670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8408" y="30175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score updating from live Building Management System data. Transforms BIMGUARD from design-stage tool to continuous operational risk monitor.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90872" y="25786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2578608"/>
            <a:ext cx="658368" cy="11704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2578608"/>
            <a:ext cx="6583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2670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validation layer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30175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Delivery Specification validation — checking that the IFC model contains the required Psets before running compliance engines. Prevents false Low results from missing data.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858768"/>
            <a:ext cx="8686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858768"/>
            <a:ext cx="658368" cy="60350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858768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natural language interface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420624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query interface against the NotebookLM knowledge base — enabling engineers to ask 'why is this element flagged?' and receive a standard-referenced explanation.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context — the Golden Thread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as a compliance instrument, not just a coordination tool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0117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86868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Safety Act 2022 — Golden Thread requirement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2048256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048256"/>
            <a:ext cx="64008" cy="13533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" y="2139696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Act requires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" y="2432304"/>
            <a:ext cx="39593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higher-risk buildings: information about the building must be created, maintained, and passed through each lifecycle stage in a form that is accurate, up to date, and accessible to those who need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048256"/>
            <a:ext cx="43434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048256"/>
            <a:ext cx="64008" cy="13533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139696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BIMGUARD AI provides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0016" y="2432304"/>
            <a:ext cx="41422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compliance records embedded in the IFC model (Pset_CorrosionRisk, Pset_CreviceCorrosionRisk) and in BCF issues with full audit trails — standard-referenced, version-controlled, timestamped.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566160"/>
            <a:ext cx="8686800" cy="603504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6616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19650 adoption in 70+ countries means BIMGUARD AI's status code output — S2, S4, Status A — is internationally applicable. The tool is not UK-specific: the corrosion standards are international, the IFC format is global, and the BCF output works in every OpenBIM platform.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2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research questions answered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8503920" cy="914400"/>
          </a:xfrm>
          <a:prstGeom prst="rect">
            <a:avLst/>
          </a:prstGeom>
          <a:solidFill>
            <a:srgbClr val="0A1F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08760"/>
            <a:ext cx="59436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36192"/>
            <a:ext cx="7680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 risk can be reliably detected from standard IFC data. The material, spatial, and zone metadata required by GC-001 and CC-001 is within the scope of standard LOD 300 models and is routinely populated in well-authored IFC exports.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551176"/>
            <a:ext cx="8503920" cy="914400"/>
          </a:xfrm>
          <a:prstGeom prst="rect">
            <a:avLst/>
          </a:prstGeom>
          <a:solidFill>
            <a:srgbClr val="0A1F2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551176"/>
            <a:ext cx="59436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551176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578608"/>
            <a:ext cx="7680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dual-engine approach detects a significant class of risks that single-mechanism checking misses. The pool plant room finding — 0.00 galvanic, 0.89 crevice — is the definitive validation of this claim.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593592"/>
            <a:ext cx="8503920" cy="914400"/>
          </a:xfrm>
          <a:prstGeom prst="rect">
            <a:avLst/>
          </a:prstGeom>
          <a:solidFill>
            <a:srgbClr val="0A1F2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593592"/>
            <a:ext cx="594360" cy="9144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93592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621024"/>
            <a:ext cx="7680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OpenBIM architecture, using IFC as the sole input and BCF 2.1 as the sole output, has been validated as a viable cross-platform compliance checking approach. No proprietary access was required at any stage.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 |  Final Master Project  |  Zigurat Global Institute of Technology  |  Group 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2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6276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BIM Corrosion Compliance Checker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45720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3317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OpenBIM  ·  IFC ISO 16739-1  ·  BCF 2.1  ·  ISO 19650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GC-001 Galvanic Engine  ·  CC-001 Crevice Engine  ·  Python  ·  Streamlit  ·  ifcopenshell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1821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" y="4187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in BIM Management  ·  Final Master Project  ·  Group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4480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Zigurat Global Institute of Technology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BIMGUARD AI — Final Master Project</dc:title>
  <dc:subject>Automated BIM Corrosion Compliance Checker</dc:subject>
  <dc:creator>Group 5 — Zigurat Global Institute of Technology</dc:creator>
  <cp:lastModifiedBy>Group 5 — Zigurat Global Institute of Technology</cp:lastModifiedBy>
  <cp:revision>1</cp:revision>
  <dcterms:created xsi:type="dcterms:W3CDTF">2026-04-08T17:11:49Z</dcterms:created>
  <dcterms:modified xsi:type="dcterms:W3CDTF">2026-04-08T17:11:49Z</dcterms:modified>
</cp:coreProperties>
</file>