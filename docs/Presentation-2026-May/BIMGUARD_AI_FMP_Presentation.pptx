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BIM Corrosion Compliance Checker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25146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OpenBIM  ·  IFC ISO 16739-1  ·  BCF 2.1  ·  ISO 19650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944368"/>
            <a:ext cx="4114800" cy="20117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3108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Galvanic Corrosion Engine  GC-001    ·    Crevice Corrosion Engine  CC-001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" y="4416552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Master Project  |  Masters in BIM Management  |  Zigurat Global Institute of Technology  |  Group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BIM cannot currently solve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Corrosion causes predictable, preventable failures — but BIM coordination tools do not check for 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2011680" cy="731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990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0040" y="21122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global GDP lost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corrosion annually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23160" y="12344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23160" y="1234440"/>
            <a:ext cx="201168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3990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6–10×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514600" y="21122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multiplier: field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design-stage fix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12344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234440"/>
            <a:ext cx="2011680" cy="73152"/>
          </a:xfrm>
          <a:prstGeom prst="rect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3990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21122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BIM tools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corrosion risk in IFC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2280" y="12344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234440"/>
            <a:ext cx="2011680" cy="73152"/>
          </a:xfrm>
          <a:prstGeom prst="rect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3990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pts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903720" y="21122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Thread evidence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BIMGUARD 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" y="283464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BIM clash detection finds geometric conflicts — pipe-on-pipe clashes, services through structure. It does not check whether two correctly-positioned pipes will corrode each other because of their material pairing, joint geometry, or environment. This failure mode is invisible to every current BIM coordination tool.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" y="36118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closes this gap — using data already in the IFC model.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research questions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academic scope that frames this project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8686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64008" cy="10241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" y="1325880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 —  Detection from existing IFC 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" y="1618488"/>
            <a:ext cx="8485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corrosion risk in MEP building services be reliably detected from data already present in standard IFC models, without requiring additional manual input or proprietary BIM authoring tool access?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395728"/>
            <a:ext cx="8686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2395728"/>
            <a:ext cx="64008" cy="102412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" y="2487168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 —  Dual-mechanism simultaneous checking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" y="2779776"/>
            <a:ext cx="8485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galvanic corrosion and crevice corrosion be checked simultaneously within one automated workflow, and does the combined assessment detect risks that either mechanism alone would miss?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3557016"/>
            <a:ext cx="8686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3557016"/>
            <a:ext cx="64008" cy="10241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" y="3648456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 —  OpenBIM cross-platform deployment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" y="3941064"/>
            <a:ext cx="8485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 OpenBIM compliance checking tool — operating exclusively on open standards without proprietary APIs — be deployed effectively across the full range of authoring environments used by different disciplines?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OpenBIM?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and academically significant architectural decision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3931920" cy="2926080"/>
          </a:xfrm>
          <a:prstGeom prst="rect">
            <a:avLst/>
          </a:prstGeom>
          <a:solidFill>
            <a:srgbClr val="2A1515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BIM  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Revit API only — excludes ArchiCAD, Tekla, Vectorworks users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768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Proprietary plugins required on every authoring machine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cross-discipline compatibility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81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Cannot be adopted on mixed-software projects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48386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Vendor lock-in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4297680" cy="2926080"/>
          </a:xfrm>
          <a:prstGeom prst="rect">
            <a:avLst/>
          </a:prstGeom>
          <a:solidFill>
            <a:srgbClr val="0A1F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OpenBIM  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54880" y="18745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IFC (ISO 16739-1) — any tool, any discipline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227685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BCF 2.1 — issues read by all OpenBIM platforms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26791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plugins, no proprietary access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3081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Works with Revit, ArchiCAD, Tekla, Vectorworks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34838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ISO standard — internationally applicable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BIMGUARD AI five-phase compliance pipeline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file in → five sequential checks → BCF 2.1 issues out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61872"/>
            <a:ext cx="1463040" cy="658368"/>
          </a:xfrm>
          <a:prstGeom prst="rect">
            <a:avLst/>
          </a:prstGeom>
          <a:solidFill>
            <a:srgbClr val="DEEAF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2618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input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19072" y="1554480"/>
            <a:ext cx="274320" cy="54864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29968" y="1207008"/>
            <a:ext cx="1225296" cy="7680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29968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48256" y="1481328"/>
            <a:ext cx="11887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filter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48256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C-to-C spacing vs minimum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73552" y="1554480"/>
            <a:ext cx="109728" cy="54864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1568" y="1207008"/>
            <a:ext cx="1225296" cy="76809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01568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19856" y="1481328"/>
            <a:ext cx="11887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envelope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19856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 350 support reservation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45152" y="1554480"/>
            <a:ext cx="109728" cy="54864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1207008"/>
            <a:ext cx="1225296" cy="768096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73168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91456" y="1481328"/>
            <a:ext cx="11887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Galvanic gate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91456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GC-001 material compatibility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16752" y="1554480"/>
            <a:ext cx="109728" cy="54864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44768" y="1207008"/>
            <a:ext cx="1225296" cy="768096"/>
          </a:xfrm>
          <a:prstGeom prst="rect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44768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63056" y="1481328"/>
            <a:ext cx="11887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hierarchy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63056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moves, how far, cost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88352" y="1554480"/>
            <a:ext cx="109728" cy="54864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207008"/>
            <a:ext cx="1225296" cy="7680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16368" y="1207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34656" y="1481328"/>
            <a:ext cx="11887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34656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+ ISO 19650 + cost avoid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23960" y="1261872"/>
            <a:ext cx="91440" cy="658368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24505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paths from Phases 1, 2, 3 → all route to Phase 4 for resolution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28600" y="2852928"/>
            <a:ext cx="502920" cy="5029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95528" y="2871216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IFC 2x3 and IFC4 — any authoring tool (ifcopenshell)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200400" y="2852928"/>
            <a:ext cx="502920" cy="5029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767328" y="2871216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BCF 2.1 — every issue has GlobalID, viewpoint, cost, assignee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72200" y="2852928"/>
            <a:ext cx="502920" cy="5029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39128" y="2871216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 status codes: Work in Progress → Shared → Approved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Spatial filter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that standard BIM tools miss: metadata-driven insulation clash detection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8686800" cy="777240"/>
          </a:xfrm>
          <a:prstGeom prst="rect">
            <a:avLst/>
          </a:prstGeom>
          <a:solidFill>
            <a:srgbClr val="DEEAF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3444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C-to-C min  =  (OD₁/2  +  T_ins1)  +  25 mm  +  (T_ins2  +  OD₂/2)  +  Thermal displacement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" y="217627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2176272"/>
            <a:ext cx="64008" cy="13533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" y="226771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GC-001 reads from IFC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" y="2560320"/>
            <a:ext cx="25420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OuterDiameter from Pset_PipeSegmentOccurrence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Insulation from Pset_CoveringCommon.TotalThickness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type → default insulation fallback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72968" y="217627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72968" y="2176272"/>
            <a:ext cx="64008" cy="135331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00984" y="226771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Navisworks gap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00984" y="2560320"/>
            <a:ext cx="25420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Navisworks only detects modelled geometry.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insulation is in a Pset but not modelled as a 3D solid, Navisworks reports PASS.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reads the metadata — catches what isn't there.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17336" y="217627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17336" y="2176272"/>
            <a:ext cx="64008" cy="1353312"/>
          </a:xfrm>
          <a:prstGeom prst="rect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5352" y="226771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Phase 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45352" y="2560320"/>
            <a:ext cx="25420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actual C-to-C &lt; minimum: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clash flagged immediately.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pair routed to Phase 4 resolution.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issue generated with offset instruction.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" y="37490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Standards: PIP PNE0003  ·  ASME B16.5 (US)  ·  EN 1092-1 (EU)  ·  ISO 16739-1 IFC schema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Halo envelope (LOD 350)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space now for support steelwork that doesn't exist yet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8686800" cy="658368"/>
          </a:xfrm>
          <a:prstGeom prst="rect">
            <a:avLst/>
          </a:prstGeom>
          <a:solidFill>
            <a:srgbClr val="DEEAF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R_halo  =  (OD/2  +  T_ins)  +  100 mm (support buffer)  +  150 mm (seismic buffer, if active)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2084832"/>
            <a:ext cx="2743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2084832"/>
            <a:ext cx="274320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1579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mm support buffer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248716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width of Unistrut P1000 + clevis hanger assembly (MSS SP-58 dimensions)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54680" y="2084832"/>
            <a:ext cx="2743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2084832"/>
            <a:ext cx="2743200" cy="731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21579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mm seismic buffer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46120" y="248716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 leg of sway brace per SMACNA / EN 13480-3 — active only when SeismicZone Pset is populated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2084832"/>
            <a:ext cx="2743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2084832"/>
            <a:ext cx="2743200" cy="73152"/>
          </a:xfrm>
          <a:prstGeom prst="rect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21579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breach = WARNING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72200" y="248716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clear physically but LOD 350 hanger cannot fit — model held at Work in Progress in CDE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3566160"/>
            <a:ext cx="86868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56616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Halo concept is the unique academic contribution of Phase 2.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0" y="356616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E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BIM tools are reactive — they check what is in the model. BIMGUARD AI is proactive — it reserves space for what will be in the model at LOD 350.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Galvanic gate — GC-001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365760" y="23317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Engine: BIMGUARD-GC-001 v1.0.0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834640"/>
            <a:ext cx="3657600" cy="27432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944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Standards:  NASA-STD-6012  ·  WorldStainless / Euro Inox (2025)  ·  IMOA Design Manual 4th Ed.  ·  AUCSC (2024)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GC-001 — Galvanic corrosion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22-material electrochemical series · 7 environment classes · PREN adequacy check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07008"/>
            <a:ext cx="8686800" cy="658368"/>
          </a:xfrm>
          <a:prstGeom prst="rect">
            <a:avLst/>
          </a:prstGeom>
          <a:solidFill>
            <a:srgbClr val="DEEAF1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Score_GC  =  (0.50 × voltage risk)  +  (0.30 × area ratio risk)  +  (0.20 × environment multiplier)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1956816"/>
            <a:ext cx="41148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195681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band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80160" y="195681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range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67712" y="195681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priority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55264" y="195681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" y="2304288"/>
            <a:ext cx="4114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2304288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80160" y="2304288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0.35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67712" y="2304288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55264" y="2304288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2633472"/>
            <a:ext cx="4114800" cy="329184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80160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– 0.65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67712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55264" y="2633472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2962656"/>
            <a:ext cx="4114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" y="296265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5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80160" y="296265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 – 0.85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267712" y="296265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55264" y="2962656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291840"/>
            <a:ext cx="4114800" cy="329184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" y="3291840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80160" y="3291840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0.85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267712" y="3291840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55264" y="3291840"/>
            <a:ext cx="914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0" y="1956816"/>
            <a:ext cx="434340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0" y="1956816"/>
            <a:ext cx="4343400" cy="64008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2029968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 adequacy check (stainless steel only)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663440" y="239572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  =  %Cr  +  3.3 × %Mo  +  16 × %N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663440" y="281635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E1–E2 (controlled indoor): PREN ≥ 18  →  SS304 adequate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63440" y="31363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E3–E4 (humid/external): PREN ≥ 25  →  SS316 required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663440" y="34564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E5–E7 (aggressive/coastal): PREN ≥ 32  →  Duplex 2205+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28600" y="406908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issues generated for Medium, High, and Critical. Low results recorded in asset register only.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(continued)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Crevice gate — CC-001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365760" y="23317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Engine: BIMGUARD-CC-001 v1.0.0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834640"/>
            <a:ext cx="3657600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944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Standards:  EN ISO 15329:2007  ·  ASTM G48 Method B  ·  CIRIA C692  ·  CIBSE Guide G  ·  EN 1993-1-4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CC-001 — Crevice corrosion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 table · 14-type joint geometry library · 7 environment severity classes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07008"/>
            <a:ext cx="8686800" cy="658368"/>
          </a:xfrm>
          <a:prstGeom prst="rect">
            <a:avLst/>
          </a:prstGeom>
          <a:solidFill>
            <a:srgbClr val="DEEAF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Score_CC  =  (0.35 × geometry risk)  +  (0.40 × CCT adequacy)  +  (0.25 × environment severity)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1956816"/>
            <a:ext cx="466344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1956816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92224" y="1956816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 (°C)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91840" y="1956816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 (typ.)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2304288"/>
            <a:ext cx="4663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2304288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 304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92224" y="2304288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91840" y="2304288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2633472"/>
            <a:ext cx="4663440" cy="329184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" y="2633472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 316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92224" y="2633472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91840" y="2633472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2962656"/>
            <a:ext cx="4663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2608" y="2962656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Duplex 2205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792224" y="2962656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962656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33–38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291840"/>
            <a:ext cx="4663440" cy="329184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" y="3291840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Duplex 2507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92224" y="3291840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91840" y="3291840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621024"/>
            <a:ext cx="46634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" y="3621024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Titanium Gr. 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792224" y="3621024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91840" y="3621024"/>
            <a:ext cx="1426464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600" y="396849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ASTM G48 Method B / CIRIA C692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74920" y="1956816"/>
            <a:ext cx="38404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38928" y="1956816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class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22592" y="1956816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74920" y="2304288"/>
            <a:ext cx="3840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38928" y="2304288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(butt weld)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22592" y="2304288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74920" y="2633472"/>
            <a:ext cx="3840480" cy="329184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38928" y="2633472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(slip-on flange)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22592" y="2633472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74920" y="2962656"/>
            <a:ext cx="384048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138928" y="2962656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(weld neck flange)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22592" y="2962656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5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74920" y="3291840"/>
            <a:ext cx="3840480" cy="329184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38928" y="3291840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(threaded / under clamp)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022592" y="3291840"/>
            <a:ext cx="1810512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56032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that justifies the dual-engine 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SS316 flanges in a pool plant room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3931920" cy="1920240"/>
          </a:xfrm>
          <a:prstGeom prst="rect">
            <a:avLst/>
          </a:prstGeom>
          <a:solidFill>
            <a:srgbClr val="0A1F2E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GC-001 galvanic score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SS316 is among the most noble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in the galvanic series. No risk.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931920" cy="1920240"/>
          </a:xfrm>
          <a:prstGeom prst="rect">
            <a:avLst/>
          </a:prstGeom>
          <a:solidFill>
            <a:srgbClr val="2A1515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95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CC-001 crevice score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920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892040" y="278892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5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— SS316 CCT = +10°C.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95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plant room regularly exceeds this.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95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Flanged joint geometry = Critical.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354787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galvanic-only tool classifies this installation as safe. BIMGUARD AI classifies it correctly — as a Critical crevice risk that will fail within two to five years.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 engines are necessary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combined_risk_assessment() function runs GC-001 and CC-001 simultaneously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4160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64008" cy="9601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" y="132588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risk band rule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" y="1618488"/>
            <a:ext cx="3959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risk band = the higher of the two individual bands.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SS316 pool plant room: Low (GC) + Critical (CC) → Combined: CRITICAL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4343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234440"/>
            <a:ext cx="64008" cy="9601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3258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BCF issues per mechanism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00016" y="1618488"/>
            <a:ext cx="41422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GC-001 and CC-001 generate separate BCF issues for the same element — because the responsible engineer and the mitigation action differ.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2359152"/>
            <a:ext cx="4160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359152"/>
            <a:ext cx="64008" cy="9601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" y="2450592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Pset write-back to IFC model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" y="2743200"/>
            <a:ext cx="395935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Pset_CorrosionRisk and Pset_CreviceCorrosionRisk are written to the IFC model — creating a permanent, machine-readable compliance record.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2359152"/>
            <a:ext cx="4343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2359152"/>
            <a:ext cx="64008" cy="960120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0016" y="245059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register CSV export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00016" y="2743200"/>
            <a:ext cx="41422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asset register: GlobalID · service type · GC score · CC score · combined band · cost · programme impact — one row per element.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493008"/>
            <a:ext cx="868680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9300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also run the PREN adequacy check — ensuring the specified stainless grade is adequate for the environment class, regardless of the corrosion mechanism under assessment.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Resolution hierarchy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pipe moves, how far, at what cost and schedule impact — decided automatically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2743200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2743200" cy="731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234440"/>
            <a:ext cx="475488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58952" y="131673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priority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" y="1783080"/>
            <a:ext cx="25603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attribute &gt; 0 → pipe is immovable.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algorithm can override a fixed drainage gradient.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sloped → Systemic Design Failure → human review required.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54680" y="1234440"/>
            <a:ext cx="2743200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1234440"/>
            <a:ext cx="274320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54680" y="1234440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5468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85032" y="131673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delta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46120" y="1783080"/>
            <a:ext cx="25603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reroute cost for each pipe: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rate × length + labour complexity multiplier × length + fittings.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delta &gt; 20% → cheaper pipe moves automatically.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743200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7432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234440"/>
            <a:ext cx="475488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11112" y="131673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risk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72200" y="1783080"/>
            <a:ext cx="256032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cost delta &lt; 20% → evaluate programme impact.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weld: +3 days per weld. Flanged restricted access: +1 day per joint.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programme impact wins. Equal → smaller bore moves.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28600" y="3721608"/>
            <a:ext cx="8686800" cy="548640"/>
          </a:xfrm>
          <a:prstGeom prst="rect">
            <a:avLst/>
          </a:prstGeom>
          <a:solidFill>
            <a:srgbClr val="DEEAF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2160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output: Element GlobalID · offset direction &amp; magnitude (mm) · estimated cost (£) · working days impact · discipline engineer assigned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— Executive report and ISO 19650 output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audience-specific deliverables from one compliance run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8686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64008" cy="8686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984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engineer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2.1 issue file — GlobalID, viewpoint, resolution instruction, cost, assignee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28600" y="2203704"/>
            <a:ext cx="8686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2203704"/>
            <a:ext cx="64008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67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manager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" y="25968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 — pass/fail by phase, open vs resolved issues, CDE container status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28600" y="3172968"/>
            <a:ext cx="8686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3172968"/>
            <a:ext cx="64008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236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/ project manager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4048" y="3566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avoidance summary — design-stage cost vs equivalent field-stage cost at 6× multiplier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8600" y="4151376"/>
            <a:ext cx="86868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1513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 status mapping:  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68880" y="4270248"/>
            <a:ext cx="2011680" cy="329184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8880" y="427024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— Work in Progress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Phase 1/2 failures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81728" y="4270248"/>
            <a:ext cx="2011680" cy="32918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427024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— Shared (NCR)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warnings present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894576" y="4270248"/>
            <a:ext cx="2011680" cy="329184"/>
          </a:xfrm>
          <a:prstGeom prst="rect">
            <a:avLst/>
          </a:prstGeom>
          <a:solidFill>
            <a:srgbClr val="5DCAA5"/>
          </a:solidFill>
          <a:ln w="12700">
            <a:solidFill>
              <a:srgbClr val="5DCA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94576" y="427024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 — Approved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phases pass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5603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BIMGUARD AI Streamlit application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Streamlit · ifcopenshell · Plotly · BCF 2.1  —  runs at localhost:8501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2743200" cy="1517904"/>
          </a:xfrm>
          <a:prstGeom prst="rect">
            <a:avLst/>
          </a:prstGeom>
          <a:solidFill>
            <a:srgbClr val="0D1B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61872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61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13533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upload or 25-element demo.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 upload or synthetic.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Single-button compliance run.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18688" y="1261872"/>
            <a:ext cx="2743200" cy="1517904"/>
          </a:xfrm>
          <a:prstGeom prst="rect">
            <a:avLst/>
          </a:prstGeom>
          <a:solidFill>
            <a:srgbClr val="0D1B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18688" y="1261872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61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85616" y="13533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182880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 element table — filterable.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inventory chart.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count by service type.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3056" y="1261872"/>
            <a:ext cx="2743200" cy="1517904"/>
          </a:xfrm>
          <a:prstGeom prst="rect">
            <a:avLst/>
          </a:prstGeom>
          <a:solidFill>
            <a:srgbClr val="0D1B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1261872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1261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9984" y="13533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Corrosion compliance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54496" y="182880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distribution pie chart.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spatial risk map (Plotly).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results table + CSV export.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2926080"/>
            <a:ext cx="2743200" cy="1517904"/>
          </a:xfrm>
          <a:prstGeom prst="rect">
            <a:avLst/>
          </a:prstGeom>
          <a:solidFill>
            <a:srgbClr val="0D1B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292608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1248" y="3017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 compare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493008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centroids overlaid 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 in 3D space.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analysis.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18688" y="2926080"/>
            <a:ext cx="2743200" cy="1517904"/>
          </a:xfrm>
          <a:prstGeom prst="rect">
            <a:avLst/>
          </a:prstGeom>
          <a:solidFill>
            <a:srgbClr val="0D1B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8688" y="292608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18688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85616" y="3017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issue manager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3493008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by risk band.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assignment chart.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2.1 ZIP download.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63056" y="2926080"/>
            <a:ext cx="2743200" cy="1517904"/>
          </a:xfrm>
          <a:prstGeom prst="rect">
            <a:avLst/>
          </a:prstGeom>
          <a:solidFill>
            <a:srgbClr val="0D1B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63056" y="2926080"/>
            <a:ext cx="5029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3056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729984" y="3017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&amp; cost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54496" y="3493008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Gantt: baseline vs delayed.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by band and mechanism.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Issue-level breakdown.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results — 25-element synthetic MEP dataset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represent an unreviewed commercial plant room specification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1965960" cy="73152"/>
          </a:xfrm>
          <a:prstGeom prst="rect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99032"/>
            <a:ext cx="178308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0040" y="2083003"/>
            <a:ext cx="17830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59152" y="123444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59152" y="1234440"/>
            <a:ext cx="1965960" cy="73152"/>
          </a:xfrm>
          <a:prstGeom prst="rect">
            <a:avLst/>
          </a:prstGeom>
          <a:solidFill>
            <a:srgbClr val="C2510A"/>
          </a:solidFill>
          <a:ln w="12700">
            <a:solidFill>
              <a:srgbClr val="C251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50592" y="1399032"/>
            <a:ext cx="178308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25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450592" y="2083003"/>
            <a:ext cx="17830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9704" y="123444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9704" y="1234440"/>
            <a:ext cx="19659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81144" y="1399032"/>
            <a:ext cx="178308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81144" y="2083003"/>
            <a:ext cx="17830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20256" y="1234440"/>
            <a:ext cx="19659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20256" y="1234440"/>
            <a:ext cx="1965960" cy="731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11696" y="1399032"/>
            <a:ext cx="178308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711696" y="2083003"/>
            <a:ext cx="1783080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BCF issues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2743200"/>
            <a:ext cx="8686800" cy="713232"/>
          </a:xfrm>
          <a:prstGeom prst="rect">
            <a:avLst/>
          </a:prstGeom>
          <a:solidFill>
            <a:srgbClr val="DEEAF1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74320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737360" y="2743200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SS316 flanges in pool plant room — GC-001 score 0.00 (Low) · CC-001 score 0.89 (Critical). A galvanic-only tool classifies this as compliant. BIMGUARD AI correctly flags it as a Critical crevice risk requiring immediate attention.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demonstrates that GC-001 and CC-001 detect distinct and non-overlapping failure modes. Neither engine alone is sufficient for a comprehensive corrosion compliance assessment.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DCAA5"/>
          </a:solidFill>
          <a:ln w="12700">
            <a:solidFill>
              <a:srgbClr val="5DCA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matters to a client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1828800"/>
          </a:xfrm>
          <a:prstGeom prst="rect">
            <a:avLst/>
          </a:prstGeom>
          <a:solidFill>
            <a:srgbClr val="0A1F2E"/>
          </a:solidFill>
          <a:ln w="12700">
            <a:solidFill>
              <a:srgbClr val="5DCA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£170,600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cost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(design stage)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143000"/>
            <a:ext cx="54864" cy="1005840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89611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4754880" y="2057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delay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2816352"/>
            <a:ext cx="850392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620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avoidance at 6× field multiplier: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27355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Design-stage cost  £170,600 × 6 = £1,023,600 field cost  →  £852,000 avoided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" y="395020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Fab projects where a single day of production downtime can exceed the entire reroute cost, the multiplier is conservative — often 20× or higher.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academic contributions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BIMGUARD AI adds to the body of knowledge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8686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234440"/>
            <a:ext cx="64008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" y="1325880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—  Corrosion compliance from IFC metadata without geometric modelling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" y="1618488"/>
            <a:ext cx="8485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engineering-level corrosion risk assessment can be performed on property set metadata without requiring insulation, supports, or joint geometry to be modelled as 3D solids. Addresses a fundamental limitation of all current BIM clash detection tools.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395728"/>
            <a:ext cx="8686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2395728"/>
            <a:ext cx="64008" cy="10058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" y="2487168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—  White Box Architecture for AI-assisted compliance checking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" y="2779776"/>
            <a:ext cx="8485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Establishes a methodology in which every compliance decision is traceable to a named standard and a specific threshold. Demonstrates that transparent, auditable rule-based compliance checking is viable in a BIM context — and preferable to black-box ML approaches for regulatory acceptance.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3557016"/>
            <a:ext cx="8686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3557016"/>
            <a:ext cx="64008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" y="3648456"/>
            <a:ext cx="8485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—  Halo Envelope: proactive LOD 350 space reservation at LOD 300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" y="3941064"/>
            <a:ext cx="8485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Introduces a formal method for reserving space for LOD 350 support steelwork within a LOD 300 coordination model. Addresses a recognised and costly gap in current BIM coordination practice — the 'Coordination Fatigue' problem where 80% of meeting time is spent deciding who moves.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896A6"/>
          </a:solidFill>
          <a:ln w="12700">
            <a:solidFill>
              <a:srgbClr val="889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development 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planned modules and two integration streams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61872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1261872"/>
            <a:ext cx="658368" cy="1170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261872"/>
            <a:ext cx="6583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MC-001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" y="13533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module (Microbially Influenced Corrosion)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8408" y="1700784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Dead-leg pipework · stagnant water · under-insulation scenarios. Relevant to healthcare, pharmaceutical, food processing, Legionella risk management.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90872" y="1261872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90872" y="1261872"/>
            <a:ext cx="658368" cy="1170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90872" y="1261872"/>
            <a:ext cx="6583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FC-001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40680" y="13533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compartmentation module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1700784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sealing compliance · smoke control zoning · compartment integrity checking from IFC spatial data. Second major compliance domain alongside corrosion.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2578608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2578608"/>
            <a:ext cx="658368" cy="1170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2578608"/>
            <a:ext cx="6583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78408" y="2670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BMS integration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78408" y="30175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risk score updating from live Building Management System data. Transforms BIMGUARD from design-stage tool to continuous operational risk monitor.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90872" y="2578608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90872" y="2578608"/>
            <a:ext cx="658368" cy="1170432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90872" y="2578608"/>
            <a:ext cx="6583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40680" y="2670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validation layer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30175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Delivery Specification validation — checking that the IFC model contains the required Psets before running compliance engines. Prevents false Low results from missing data.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8600" y="3858768"/>
            <a:ext cx="86868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" y="3858768"/>
            <a:ext cx="658368" cy="603504"/>
          </a:xfrm>
          <a:prstGeom prst="rect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858768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0120" y="3913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natural language interface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0120" y="42062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query interface against the NotebookLM knowledge base — enabling engineers to ask 'why is this element flagged?' and receive a standard-referenced explanation.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context — the Golden Thread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as a compliance instrument, not just a coordination tool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8595360" cy="20117"/>
          </a:xfrm>
          <a:prstGeom prst="rect">
            <a:avLst/>
          </a:prstGeom>
          <a:solidFill>
            <a:srgbClr val="DEEAF1"/>
          </a:solidFill>
          <a:ln w="12700">
            <a:solidFill>
              <a:srgbClr val="DEEA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234440"/>
            <a:ext cx="86868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34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Safety Act 2022 — Golden Thread requirement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2048256"/>
            <a:ext cx="416052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2048256"/>
            <a:ext cx="64008" cy="13533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" y="2139696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Act requires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" y="2432304"/>
            <a:ext cx="39593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higher-risk buildings: information about the building must be created, maintained, and passed through each lifecycle stage in a form that is accurate, up to date, and accessible to those who need 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2048256"/>
            <a:ext cx="43434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A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048256"/>
            <a:ext cx="64008" cy="13533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21396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BIMGUARD AI provides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0016" y="2432304"/>
            <a:ext cx="41422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compliance records embedded in the IFC model (Pset_CorrosionRisk, Pset_CreviceCorrosionRisk) and in BCF issues with full audit trails — standard-referenced, version-controlled, timestamped.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3566160"/>
            <a:ext cx="8686800" cy="603504"/>
          </a:xfrm>
          <a:prstGeom prst="rect">
            <a:avLst/>
          </a:prstGeom>
          <a:solidFill>
            <a:srgbClr val="DEEAF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566160"/>
            <a:ext cx="8321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 adoption in 70+ countries means BIMGUARD AI's status code output — S2, S4, Status A — is internationally applicable. The tool is not UK-specific: the corrosion standards are international, the IFC format is global, and the BCF output works in every OpenBIM platform.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926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research questions answered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8503920" cy="914400"/>
          </a:xfrm>
          <a:prstGeom prst="rect">
            <a:avLst/>
          </a:prstGeom>
          <a:solidFill>
            <a:srgbClr val="0A1F2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508760"/>
            <a:ext cx="594360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536192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Corrosion risk can be reliably detected from standard IFC data. The material, spatial, and zone metadata required by GC-001 and CC-001 is within the scope of standard LOD 300 models and is routinely populated in well-authored IFC exports.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551176"/>
            <a:ext cx="8503920" cy="914400"/>
          </a:xfrm>
          <a:prstGeom prst="rect">
            <a:avLst/>
          </a:prstGeom>
          <a:solidFill>
            <a:srgbClr val="0A1F2E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2551176"/>
            <a:ext cx="59436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551176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578608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dual-engine approach detects a significant class of risks that single-mechanism checking misses. The pool plant room finding — 0.00 galvanic, 0.89 crevice — is the definitive validation of this claim.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3593592"/>
            <a:ext cx="8503920" cy="914400"/>
          </a:xfrm>
          <a:prstGeom prst="rect">
            <a:avLst/>
          </a:prstGeom>
          <a:solidFill>
            <a:srgbClr val="0A1F2E"/>
          </a:solidFill>
          <a:ln w="12700">
            <a:solidFill>
              <a:srgbClr val="5DCAA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3593592"/>
            <a:ext cx="594360" cy="914400"/>
          </a:xfrm>
          <a:prstGeom prst="rect">
            <a:avLst/>
          </a:prstGeom>
          <a:solidFill>
            <a:srgbClr val="5DCAA5"/>
          </a:solidFill>
          <a:ln w="12700">
            <a:solidFill>
              <a:srgbClr val="5DCA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593592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621024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OpenBIM architecture, using IFC as the sole input and BCF 2.1 as the sole output, has been validated as a viable cross-platform compliance checking approach. No proprietary access was required at any stage.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49011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  |  Final Master Project  |  Zigurat Global Institute of Technology  |  Group 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BIMGUARD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65760" y="16276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BIM Corrosion Compliance Checker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2176272"/>
            <a:ext cx="457200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3317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OpenBIM  ·  IFC ISO 16739-1  ·  BCF 2.1  ·  ISO 19650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9748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GC-001 Galvanic Engine  ·  CC-001 Crevice Engine  ·  Python  ·  Streamlit  ·  ifcopenshell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1821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28600" y="4187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E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Masters in BIM Management  ·  Final Master Project  ·  Group 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" y="4480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Zigurat Global Institute of Technology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BIMGUARD AI — Final Master Project</dc:title>
  <dc:subject>Automated BIM Corrosion Compliance Checker</dc:subject>
  <dc:creator>Group 5 — Zigurat Global Institute of Technology</dc:creator>
  <cp:lastModifiedBy>Group 5 — Zigurat Global Institute of Technology</cp:lastModifiedBy>
  <cp:revision>1</cp:revision>
  <dcterms:created xsi:type="dcterms:W3CDTF">2026-04-08T17:11:49Z</dcterms:created>
  <dcterms:modified xsi:type="dcterms:W3CDTF">2026-04-08T17:11:49Z</dcterms:modified>
</cp:coreProperties>
</file>