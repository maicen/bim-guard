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Architectural Code Analysis</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Building Envelope and Spatial Compliance — Specification and Design</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IBC  ·  ADA  ·  EN 17210  ·  ASTM E814  ·  NFPA 272  ·  UL 1479</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AR-001 – AR-006  ·  Designed ruleset  ·  Not implemented — post-FMP scope</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Status of this work</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is designed, and what is not built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ruleset is specified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Six rules, each with its query path through the IFC schema, its threshold basis in a cited code, and its output contract. That specification is the contribution presented here.</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engine is not implemented</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No ARCH module exists in the codebase. A search for AR-001 through AR-006 returns nothing, and no architectural rule appears in the compliance runner or the engine registry.</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No accuracy figure is claimed</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Precision, recall and per-rule accuracy would require an implementation and a labelled corpus. Neither exists, so no such figure appears in this deck.</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Why it is presented anyway</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design demonstrates that the method generalises beyond corrosion, and it is the concrete scope for the next phase. Presenting a specification as a specification costs nothing; presenting it as a result would.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Scope of architectural analysis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Four families of check</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Fire rating continuity</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Whether a compartment boundary actually holds: wall and slab ratings, and the sealing rating of everything that passes through them.</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Egress verification</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Travel distance to exit, door width and swing direction, dead-end limits, exit count against occupancy.</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Accessible routes</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Clear width, running slope and cross-slope along circulation paths; turning and approach space at fixtures.</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Spatial adjacency</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Whether incompatible uses are separated by the rating their combination demands.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six designed rules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Each with a query path and a threshold basis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78638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1207008" y="1280160"/>
            <a:ext cx="22494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Rule</a:t>
            </a:r>
          </a:p>
        </p:txBody>
      </p:sp>
      <p:sp>
        <p:nvSpPr>
          <p:cNvPr id="11" name="TextBox 10"/>
          <p:cNvSpPr txBox="1"/>
          <p:nvPr/>
        </p:nvSpPr>
        <p:spPr>
          <a:xfrm>
            <a:off x="3584448" y="1280160"/>
            <a:ext cx="27066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Primary IFC query</a:t>
            </a:r>
          </a:p>
        </p:txBody>
      </p:sp>
      <p:sp>
        <p:nvSpPr>
          <p:cNvPr id="12" name="TextBox 11"/>
          <p:cNvSpPr txBox="1"/>
          <p:nvPr/>
        </p:nvSpPr>
        <p:spPr>
          <a:xfrm>
            <a:off x="6419088" y="1280160"/>
            <a:ext cx="2432303"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Threshold basis</a:t>
            </a:r>
          </a:p>
        </p:txBody>
      </p:sp>
      <p:sp>
        <p:nvSpPr>
          <p:cNvPr id="13" name="Rectangle 12"/>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63624"/>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AR-001</a:t>
            </a:r>
          </a:p>
        </p:txBody>
      </p:sp>
      <p:sp>
        <p:nvSpPr>
          <p:cNvPr id="15" name="TextBox 14"/>
          <p:cNvSpPr txBox="1"/>
          <p:nvPr/>
        </p:nvSpPr>
        <p:spPr>
          <a:xfrm>
            <a:off x="1207008" y="1563624"/>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Fire rating continuity</a:t>
            </a:r>
          </a:p>
        </p:txBody>
      </p:sp>
      <p:sp>
        <p:nvSpPr>
          <p:cNvPr id="16" name="TextBox 15"/>
          <p:cNvSpPr txBox="1"/>
          <p:nvPr/>
        </p:nvSpPr>
        <p:spPr>
          <a:xfrm>
            <a:off x="3584448" y="1563624"/>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Pset_WallCommon.FireRating</a:t>
            </a:r>
          </a:p>
        </p:txBody>
      </p:sp>
      <p:sp>
        <p:nvSpPr>
          <p:cNvPr id="17" name="TextBox 16"/>
          <p:cNvSpPr txBox="1"/>
          <p:nvPr/>
        </p:nvSpPr>
        <p:spPr>
          <a:xfrm>
            <a:off x="6419088" y="1563624"/>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compartmentation</a:t>
            </a:r>
          </a:p>
        </p:txBody>
      </p:sp>
      <p:sp>
        <p:nvSpPr>
          <p:cNvPr id="18" name="Rectangle 17"/>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47088"/>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AR-002</a:t>
            </a:r>
          </a:p>
        </p:txBody>
      </p:sp>
      <p:sp>
        <p:nvSpPr>
          <p:cNvPr id="20" name="TextBox 19"/>
          <p:cNvSpPr txBox="1"/>
          <p:nvPr/>
        </p:nvSpPr>
        <p:spPr>
          <a:xfrm>
            <a:off x="1207008" y="1847088"/>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Accessible route geometry</a:t>
            </a:r>
          </a:p>
        </p:txBody>
      </p:sp>
      <p:sp>
        <p:nvSpPr>
          <p:cNvPr id="21" name="TextBox 20"/>
          <p:cNvSpPr txBox="1"/>
          <p:nvPr/>
        </p:nvSpPr>
        <p:spPr>
          <a:xfrm>
            <a:off x="3584448" y="1847088"/>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Circulation IfcSpace boundaries</a:t>
            </a:r>
          </a:p>
        </p:txBody>
      </p:sp>
      <p:sp>
        <p:nvSpPr>
          <p:cNvPr id="22" name="TextBox 21"/>
          <p:cNvSpPr txBox="1"/>
          <p:nvPr/>
        </p:nvSpPr>
        <p:spPr>
          <a:xfrm>
            <a:off x="6419088" y="1847088"/>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 EN 17210</a:t>
            </a:r>
          </a:p>
        </p:txBody>
      </p:sp>
      <p:sp>
        <p:nvSpPr>
          <p:cNvPr id="23" name="Rectangle 22"/>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30552"/>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AR-003</a:t>
            </a:r>
          </a:p>
        </p:txBody>
      </p:sp>
      <p:sp>
        <p:nvSpPr>
          <p:cNvPr id="25" name="TextBox 24"/>
          <p:cNvSpPr txBox="1"/>
          <p:nvPr/>
        </p:nvSpPr>
        <p:spPr>
          <a:xfrm>
            <a:off x="1207008" y="2130552"/>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Egress path verification</a:t>
            </a:r>
          </a:p>
        </p:txBody>
      </p:sp>
      <p:sp>
        <p:nvSpPr>
          <p:cNvPr id="26" name="TextBox 25"/>
          <p:cNvSpPr txBox="1"/>
          <p:nvPr/>
        </p:nvSpPr>
        <p:spPr>
          <a:xfrm>
            <a:off x="3584448" y="2130552"/>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IfcDoor + IfcSpace topology</a:t>
            </a:r>
          </a:p>
        </p:txBody>
      </p:sp>
      <p:sp>
        <p:nvSpPr>
          <p:cNvPr id="27" name="TextBox 26"/>
          <p:cNvSpPr txBox="1"/>
          <p:nvPr/>
        </p:nvSpPr>
        <p:spPr>
          <a:xfrm>
            <a:off x="6419088" y="2130552"/>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travel distance</a:t>
            </a:r>
          </a:p>
        </p:txBody>
      </p:sp>
      <p:sp>
        <p:nvSpPr>
          <p:cNvPr id="28" name="Rectangle 27"/>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414015"/>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AR-004</a:t>
            </a:r>
          </a:p>
        </p:txBody>
      </p:sp>
      <p:sp>
        <p:nvSpPr>
          <p:cNvPr id="30" name="TextBox 29"/>
          <p:cNvSpPr txBox="1"/>
          <p:nvPr/>
        </p:nvSpPr>
        <p:spPr>
          <a:xfrm>
            <a:off x="1207008" y="2414015"/>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Penetration sealing</a:t>
            </a:r>
          </a:p>
        </p:txBody>
      </p:sp>
      <p:sp>
        <p:nvSpPr>
          <p:cNvPr id="31" name="TextBox 30"/>
          <p:cNvSpPr txBox="1"/>
          <p:nvPr/>
        </p:nvSpPr>
        <p:spPr>
          <a:xfrm>
            <a:off x="3584448" y="2414015"/>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IfcOpeningElement + seal Pset</a:t>
            </a:r>
          </a:p>
        </p:txBody>
      </p:sp>
      <p:sp>
        <p:nvSpPr>
          <p:cNvPr id="32" name="TextBox 31"/>
          <p:cNvSpPr txBox="1"/>
          <p:nvPr/>
        </p:nvSpPr>
        <p:spPr>
          <a:xfrm>
            <a:off x="6419088" y="2414015"/>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ASTM E814 / NFPA 272</a:t>
            </a:r>
          </a:p>
        </p:txBody>
      </p:sp>
      <p:sp>
        <p:nvSpPr>
          <p:cNvPr id="33" name="Rectangle 32"/>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97480"/>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AR-005</a:t>
            </a:r>
          </a:p>
        </p:txBody>
      </p:sp>
      <p:sp>
        <p:nvSpPr>
          <p:cNvPr id="35" name="TextBox 34"/>
          <p:cNvSpPr txBox="1"/>
          <p:nvPr/>
        </p:nvSpPr>
        <p:spPr>
          <a:xfrm>
            <a:off x="1207008" y="2697480"/>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Barrier-free space</a:t>
            </a:r>
          </a:p>
        </p:txBody>
      </p:sp>
      <p:sp>
        <p:nvSpPr>
          <p:cNvPr id="36" name="TextBox 35"/>
          <p:cNvSpPr txBox="1"/>
          <p:nvPr/>
        </p:nvSpPr>
        <p:spPr>
          <a:xfrm>
            <a:off x="3584448" y="2697480"/>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IfcSpace geometry, fixture clearance</a:t>
            </a:r>
          </a:p>
        </p:txBody>
      </p:sp>
      <p:sp>
        <p:nvSpPr>
          <p:cNvPr id="37" name="TextBox 36"/>
          <p:cNvSpPr txBox="1"/>
          <p:nvPr/>
        </p:nvSpPr>
        <p:spPr>
          <a:xfrm>
            <a:off x="6419088" y="2697480"/>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clear floor area</a:t>
            </a:r>
          </a:p>
        </p:txBody>
      </p:sp>
      <p:sp>
        <p:nvSpPr>
          <p:cNvPr id="38" name="Rectangle 37"/>
          <p:cNvSpPr/>
          <p:nvPr/>
        </p:nvSpPr>
        <p:spPr>
          <a:xfrm>
            <a:off x="228600" y="2935224"/>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980944"/>
            <a:ext cx="7863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AR-006</a:t>
            </a:r>
          </a:p>
        </p:txBody>
      </p:sp>
      <p:sp>
        <p:nvSpPr>
          <p:cNvPr id="40" name="TextBox 39"/>
          <p:cNvSpPr txBox="1"/>
          <p:nvPr/>
        </p:nvSpPr>
        <p:spPr>
          <a:xfrm>
            <a:off x="1207008" y="2980944"/>
            <a:ext cx="22494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Spatial adjacency separation</a:t>
            </a:r>
          </a:p>
        </p:txBody>
      </p:sp>
      <p:sp>
        <p:nvSpPr>
          <p:cNvPr id="41" name="TextBox 40"/>
          <p:cNvSpPr txBox="1"/>
          <p:nvPr/>
        </p:nvSpPr>
        <p:spPr>
          <a:xfrm>
            <a:off x="3584448" y="2980944"/>
            <a:ext cx="27066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IfcRelSpaceBoundary</a:t>
            </a:r>
          </a:p>
        </p:txBody>
      </p:sp>
      <p:sp>
        <p:nvSpPr>
          <p:cNvPr id="42" name="TextBox 41"/>
          <p:cNvSpPr txBox="1"/>
          <p:nvPr/>
        </p:nvSpPr>
        <p:spPr>
          <a:xfrm>
            <a:off x="6419088" y="2980944"/>
            <a:ext cx="2432303"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use separation</a:t>
            </a:r>
          </a:p>
        </p:txBody>
      </p:sp>
      <p:sp>
        <p:nvSpPr>
          <p:cNvPr id="43" name="TextBox 42"/>
          <p:cNvSpPr txBox="1"/>
          <p:nvPr/>
        </p:nvSpPr>
        <p:spPr>
          <a:xfrm>
            <a:off x="228600" y="306324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Every rule resolves to a query the IFC schema can answer and a threshold a code clause supplies. That is the test a rule must pass to enter the 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AR-001 — fire rating continuity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check that compartmentation actually holds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Query</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All IfcWall and IfcSlab carrying Pset_WallCommon.FireRating or the slab equivalent; then every IfcOpeningElement that passes through them.</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Evaluate</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For each penetration, compare the sealing system rating against the rating of the element it breaches. A 2-hour wall with a 1-hour sleeve is a 1-hour wall.</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Output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Critical where seal rating is below element rating; Approved where equal or greater; data-quality issue where either rating is absent — which, on the corrosion corpus, was the common case.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Why it matters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This is the failure mode that is invisible in geometry and fatal in service. The model is clash-free and the compartment does not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AR-003 — egress path verification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Geometry that determines whether people get out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Step</a:t>
            </a:r>
          </a:p>
        </p:txBody>
      </p:sp>
      <p:sp>
        <p:nvSpPr>
          <p:cNvPr id="10" name="TextBox 9"/>
          <p:cNvSpPr txBox="1"/>
          <p:nvPr/>
        </p:nvSpPr>
        <p:spPr>
          <a:xfrm>
            <a:off x="932688" y="1280160"/>
            <a:ext cx="48097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Operation</a:t>
            </a:r>
          </a:p>
        </p:txBody>
      </p:sp>
      <p:sp>
        <p:nvSpPr>
          <p:cNvPr id="11" name="TextBox 10"/>
          <p:cNvSpPr txBox="1"/>
          <p:nvPr/>
        </p:nvSpPr>
        <p:spPr>
          <a:xfrm>
            <a:off x="5870448" y="1280160"/>
            <a:ext cx="29809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Reference</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4" name="TextBox 13"/>
          <p:cNvSpPr txBox="1"/>
          <p:nvPr/>
        </p:nvSpPr>
        <p:spPr>
          <a:xfrm>
            <a:off x="932688" y="1554480"/>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Identify exits: IfcDoor with exit classification</a:t>
            </a:r>
          </a:p>
        </p:txBody>
      </p:sp>
      <p:sp>
        <p:nvSpPr>
          <p:cNvPr id="15" name="TextBox 14"/>
          <p:cNvSpPr txBox="1"/>
          <p:nvPr/>
        </p:nvSpPr>
        <p:spPr>
          <a:xfrm>
            <a:off x="5870448" y="15544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Ch. 10</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18" name="TextBox 17"/>
          <p:cNvSpPr txBox="1"/>
          <p:nvPr/>
        </p:nvSpPr>
        <p:spPr>
          <a:xfrm>
            <a:off x="932688" y="1828800"/>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Build space topology from IfcRelSpaceBoundary</a:t>
            </a:r>
          </a:p>
        </p:txBody>
      </p:sp>
      <p:sp>
        <p:nvSpPr>
          <p:cNvPr id="19" name="TextBox 18"/>
          <p:cNvSpPr txBox="1"/>
          <p:nvPr/>
        </p:nvSpPr>
        <p:spPr>
          <a:xfrm>
            <a:off x="5870448" y="182880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16739-1</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a:t>
            </a:r>
          </a:p>
        </p:txBody>
      </p:sp>
      <p:sp>
        <p:nvSpPr>
          <p:cNvPr id="22" name="TextBox 21"/>
          <p:cNvSpPr txBox="1"/>
          <p:nvPr/>
        </p:nvSpPr>
        <p:spPr>
          <a:xfrm>
            <a:off x="932688" y="2103120"/>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Compute travel distance from the farthest occupied point</a:t>
            </a:r>
          </a:p>
        </p:txBody>
      </p:sp>
      <p:sp>
        <p:nvSpPr>
          <p:cNvPr id="23" name="TextBox 22"/>
          <p:cNvSpPr txBox="1"/>
          <p:nvPr/>
        </p:nvSpPr>
        <p:spPr>
          <a:xfrm>
            <a:off x="5870448" y="210312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common path</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26" name="TextBox 25"/>
          <p:cNvSpPr txBox="1"/>
          <p:nvPr/>
        </p:nvSpPr>
        <p:spPr>
          <a:xfrm>
            <a:off x="932688" y="2377439"/>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Compare against occupancy-dependent maximum</a:t>
            </a:r>
          </a:p>
        </p:txBody>
      </p:sp>
      <p:sp>
        <p:nvSpPr>
          <p:cNvPr id="27" name="TextBox 26"/>
          <p:cNvSpPr txBox="1"/>
          <p:nvPr/>
        </p:nvSpPr>
        <p:spPr>
          <a:xfrm>
            <a:off x="5870448" y="2377439"/>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travel distance table</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5</a:t>
            </a:r>
          </a:p>
        </p:txBody>
      </p:sp>
      <p:sp>
        <p:nvSpPr>
          <p:cNvPr id="30" name="TextBox 29"/>
          <p:cNvSpPr txBox="1"/>
          <p:nvPr/>
        </p:nvSpPr>
        <p:spPr>
          <a:xfrm>
            <a:off x="932688" y="2651760"/>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Check door clear width and swing direction</a:t>
            </a:r>
          </a:p>
        </p:txBody>
      </p:sp>
      <p:sp>
        <p:nvSpPr>
          <p:cNvPr id="31" name="TextBox 30"/>
          <p:cNvSpPr txBox="1"/>
          <p:nvPr/>
        </p:nvSpPr>
        <p:spPr>
          <a:xfrm>
            <a:off x="5870448" y="265176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1010, ADA 404</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51206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a:t>
            </a:r>
          </a:p>
        </p:txBody>
      </p:sp>
      <p:sp>
        <p:nvSpPr>
          <p:cNvPr id="34" name="TextBox 33"/>
          <p:cNvSpPr txBox="1"/>
          <p:nvPr/>
        </p:nvSpPr>
        <p:spPr>
          <a:xfrm>
            <a:off x="932688" y="2926080"/>
            <a:ext cx="4809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Verify exit count against occupant load</a:t>
            </a:r>
          </a:p>
        </p:txBody>
      </p:sp>
      <p:sp>
        <p:nvSpPr>
          <p:cNvPr id="35" name="TextBox 34"/>
          <p:cNvSpPr txBox="1"/>
          <p:nvPr/>
        </p:nvSpPr>
        <p:spPr>
          <a:xfrm>
            <a:off x="5870448" y="29260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1006</a:t>
            </a:r>
          </a:p>
        </p:txBody>
      </p:sp>
      <p:sp>
        <p:nvSpPr>
          <p:cNvPr id="36" name="TextBox 35"/>
          <p:cNvSpPr txBox="1"/>
          <p:nvPr/>
        </p:nvSpPr>
        <p:spPr>
          <a:xfrm>
            <a:off x="228600" y="32461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Steps 1–4 are the ones that need real graph traversal rather than property lookup, and they are where the implementation effort concentrates.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AR-002 — accessible route geometry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Dimensional compliance along circulation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61518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Dimension</a:t>
            </a:r>
          </a:p>
        </p:txBody>
      </p:sp>
      <p:sp>
        <p:nvSpPr>
          <p:cNvPr id="10" name="TextBox 9"/>
          <p:cNvSpPr txBox="1"/>
          <p:nvPr/>
        </p:nvSpPr>
        <p:spPr>
          <a:xfrm>
            <a:off x="3035808" y="1280160"/>
            <a:ext cx="298094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Requirement</a:t>
            </a:r>
          </a:p>
        </p:txBody>
      </p:sp>
      <p:sp>
        <p:nvSpPr>
          <p:cNvPr id="11" name="TextBox 10"/>
          <p:cNvSpPr txBox="1"/>
          <p:nvPr/>
        </p:nvSpPr>
        <p:spPr>
          <a:xfrm>
            <a:off x="6144768" y="1280160"/>
            <a:ext cx="270662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2" name="Rectangle 11"/>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72768"/>
            <a:ext cx="26151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Clear width, unobstructed</a:t>
            </a:r>
          </a:p>
        </p:txBody>
      </p:sp>
      <p:sp>
        <p:nvSpPr>
          <p:cNvPr id="14" name="TextBox 13"/>
          <p:cNvSpPr txBox="1"/>
          <p:nvPr/>
        </p:nvSpPr>
        <p:spPr>
          <a:xfrm>
            <a:off x="3035808" y="1572768"/>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915 mm (36 in)</a:t>
            </a:r>
          </a:p>
        </p:txBody>
      </p:sp>
      <p:sp>
        <p:nvSpPr>
          <p:cNvPr id="15" name="TextBox 14"/>
          <p:cNvSpPr txBox="1"/>
          <p:nvPr/>
        </p:nvSpPr>
        <p:spPr>
          <a:xfrm>
            <a:off x="6144768" y="1572768"/>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403.5 / EN 17210</a:t>
            </a:r>
          </a:p>
        </p:txBody>
      </p:sp>
      <p:sp>
        <p:nvSpPr>
          <p:cNvPr id="16" name="Rectangle 15"/>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65376"/>
            <a:ext cx="26151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Running slope</a:t>
            </a:r>
          </a:p>
        </p:txBody>
      </p:sp>
      <p:sp>
        <p:nvSpPr>
          <p:cNvPr id="18" name="TextBox 17"/>
          <p:cNvSpPr txBox="1"/>
          <p:nvPr/>
        </p:nvSpPr>
        <p:spPr>
          <a:xfrm>
            <a:off x="3035808" y="1865376"/>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1:20 (5%) without ramp provisions</a:t>
            </a:r>
          </a:p>
        </p:txBody>
      </p:sp>
      <p:sp>
        <p:nvSpPr>
          <p:cNvPr id="19" name="TextBox 18"/>
          <p:cNvSpPr txBox="1"/>
          <p:nvPr/>
        </p:nvSpPr>
        <p:spPr>
          <a:xfrm>
            <a:off x="6144768" y="1865376"/>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403.3</a:t>
            </a:r>
          </a:p>
        </p:txBody>
      </p:sp>
      <p:sp>
        <p:nvSpPr>
          <p:cNvPr id="20" name="Rectangle 19"/>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57984"/>
            <a:ext cx="26151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Cross slope</a:t>
            </a:r>
          </a:p>
        </p:txBody>
      </p:sp>
      <p:sp>
        <p:nvSpPr>
          <p:cNvPr id="22" name="TextBox 21"/>
          <p:cNvSpPr txBox="1"/>
          <p:nvPr/>
        </p:nvSpPr>
        <p:spPr>
          <a:xfrm>
            <a:off x="3035808" y="2157984"/>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1:48 (2%)</a:t>
            </a:r>
          </a:p>
        </p:txBody>
      </p:sp>
      <p:sp>
        <p:nvSpPr>
          <p:cNvPr id="23" name="TextBox 22"/>
          <p:cNvSpPr txBox="1"/>
          <p:nvPr/>
        </p:nvSpPr>
        <p:spPr>
          <a:xfrm>
            <a:off x="6144768" y="2157984"/>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403.3</a:t>
            </a:r>
          </a:p>
        </p:txBody>
      </p:sp>
      <p:sp>
        <p:nvSpPr>
          <p:cNvPr id="24" name="Rectangle 23"/>
          <p:cNvSpPr/>
          <p:nvPr/>
        </p:nvSpPr>
        <p:spPr>
          <a:xfrm>
            <a:off x="228600" y="2404872"/>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50591"/>
            <a:ext cx="26151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Passing space interval</a:t>
            </a:r>
          </a:p>
        </p:txBody>
      </p:sp>
      <p:sp>
        <p:nvSpPr>
          <p:cNvPr id="26" name="TextBox 25"/>
          <p:cNvSpPr txBox="1"/>
          <p:nvPr/>
        </p:nvSpPr>
        <p:spPr>
          <a:xfrm>
            <a:off x="3035808" y="2450591"/>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61 m (200 ft)</a:t>
            </a:r>
          </a:p>
        </p:txBody>
      </p:sp>
      <p:sp>
        <p:nvSpPr>
          <p:cNvPr id="27" name="TextBox 26"/>
          <p:cNvSpPr txBox="1"/>
          <p:nvPr/>
        </p:nvSpPr>
        <p:spPr>
          <a:xfrm>
            <a:off x="6144768" y="2450591"/>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403.5.3</a:t>
            </a:r>
          </a:p>
        </p:txBody>
      </p:sp>
      <p:sp>
        <p:nvSpPr>
          <p:cNvPr id="28" name="Rectangle 27"/>
          <p:cNvSpPr/>
          <p:nvPr/>
        </p:nvSpPr>
        <p:spPr>
          <a:xfrm>
            <a:off x="228600" y="2697480"/>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743200"/>
            <a:ext cx="26151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Changes in level</a:t>
            </a:r>
          </a:p>
        </p:txBody>
      </p:sp>
      <p:sp>
        <p:nvSpPr>
          <p:cNvPr id="30" name="TextBox 29"/>
          <p:cNvSpPr txBox="1"/>
          <p:nvPr/>
        </p:nvSpPr>
        <p:spPr>
          <a:xfrm>
            <a:off x="3035808" y="2743200"/>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6 mm without bevel</a:t>
            </a:r>
          </a:p>
        </p:txBody>
      </p:sp>
      <p:sp>
        <p:nvSpPr>
          <p:cNvPr id="31" name="TextBox 30"/>
          <p:cNvSpPr txBox="1"/>
          <p:nvPr/>
        </p:nvSpPr>
        <p:spPr>
          <a:xfrm>
            <a:off x="6144768" y="2743200"/>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303</a:t>
            </a:r>
          </a:p>
        </p:txBody>
      </p:sp>
      <p:sp>
        <p:nvSpPr>
          <p:cNvPr id="32" name="TextBox 31"/>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Width is measured at intervals along the path rather than once, because the binding constraint is usually a local pinch point — a column, a door leaf, a radiator — not the nominal corridor width.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AR-004 — penetration sealing</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Matching the seal to what it breaches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79806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Through-element</a:t>
            </a:r>
          </a:p>
        </p:txBody>
      </p:sp>
      <p:sp>
        <p:nvSpPr>
          <p:cNvPr id="10" name="TextBox 9"/>
          <p:cNvSpPr txBox="1"/>
          <p:nvPr/>
        </p:nvSpPr>
        <p:spPr>
          <a:xfrm>
            <a:off x="3218688" y="1280160"/>
            <a:ext cx="279806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Minimum seal rating</a:t>
            </a:r>
          </a:p>
        </p:txBody>
      </p:sp>
      <p:sp>
        <p:nvSpPr>
          <p:cNvPr id="11" name="TextBox 10"/>
          <p:cNvSpPr txBox="1"/>
          <p:nvPr/>
        </p:nvSpPr>
        <p:spPr>
          <a:xfrm>
            <a:off x="6144768" y="1280160"/>
            <a:ext cx="270662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2" name="Rectangle 11"/>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72768"/>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Duct through rated wall</a:t>
            </a:r>
          </a:p>
        </p:txBody>
      </p:sp>
      <p:sp>
        <p:nvSpPr>
          <p:cNvPr id="14" name="TextBox 13"/>
          <p:cNvSpPr txBox="1"/>
          <p:nvPr/>
        </p:nvSpPr>
        <p:spPr>
          <a:xfrm>
            <a:off x="3218688" y="1572768"/>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Equal to wall rating</a:t>
            </a:r>
          </a:p>
        </p:txBody>
      </p:sp>
      <p:sp>
        <p:nvSpPr>
          <p:cNvPr id="15" name="TextBox 14"/>
          <p:cNvSpPr txBox="1"/>
          <p:nvPr/>
        </p:nvSpPr>
        <p:spPr>
          <a:xfrm>
            <a:off x="6144768" y="1572768"/>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ASTM E814 / NFPA 272</a:t>
            </a:r>
          </a:p>
        </p:txBody>
      </p:sp>
      <p:sp>
        <p:nvSpPr>
          <p:cNvPr id="16" name="Rectangle 15"/>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65376"/>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Pipe through rated slab</a:t>
            </a:r>
          </a:p>
        </p:txBody>
      </p:sp>
      <p:sp>
        <p:nvSpPr>
          <p:cNvPr id="18" name="TextBox 17"/>
          <p:cNvSpPr txBox="1"/>
          <p:nvPr/>
        </p:nvSpPr>
        <p:spPr>
          <a:xfrm>
            <a:off x="3218688" y="1865376"/>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Equal to slab rating</a:t>
            </a:r>
          </a:p>
        </p:txBody>
      </p:sp>
      <p:sp>
        <p:nvSpPr>
          <p:cNvPr id="19" name="TextBox 18"/>
          <p:cNvSpPr txBox="1"/>
          <p:nvPr/>
        </p:nvSpPr>
        <p:spPr>
          <a:xfrm>
            <a:off x="6144768" y="1865376"/>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ASTM E814 / NFPA 272</a:t>
            </a:r>
          </a:p>
        </p:txBody>
      </p:sp>
      <p:sp>
        <p:nvSpPr>
          <p:cNvPr id="20" name="Rectangle 19"/>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57984"/>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Conduit through rated barrier</a:t>
            </a:r>
          </a:p>
        </p:txBody>
      </p:sp>
      <p:sp>
        <p:nvSpPr>
          <p:cNvPr id="22" name="TextBox 21"/>
          <p:cNvSpPr txBox="1"/>
          <p:nvPr/>
        </p:nvSpPr>
        <p:spPr>
          <a:xfrm>
            <a:off x="3218688" y="2157984"/>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Equal to barrier rating</a:t>
            </a:r>
          </a:p>
        </p:txBody>
      </p:sp>
      <p:sp>
        <p:nvSpPr>
          <p:cNvPr id="23" name="TextBox 22"/>
          <p:cNvSpPr txBox="1"/>
          <p:nvPr/>
        </p:nvSpPr>
        <p:spPr>
          <a:xfrm>
            <a:off x="6144768" y="2157984"/>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UL 1479 / ASTM E814</a:t>
            </a:r>
          </a:p>
        </p:txBody>
      </p:sp>
      <p:sp>
        <p:nvSpPr>
          <p:cNvPr id="24" name="Rectangle 23"/>
          <p:cNvSpPr/>
          <p:nvPr/>
        </p:nvSpPr>
        <p:spPr>
          <a:xfrm>
            <a:off x="228600" y="2404872"/>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50591"/>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Cable tray through rated wall</a:t>
            </a:r>
          </a:p>
        </p:txBody>
      </p:sp>
      <p:sp>
        <p:nvSpPr>
          <p:cNvPr id="26" name="TextBox 25"/>
          <p:cNvSpPr txBox="1"/>
          <p:nvPr/>
        </p:nvSpPr>
        <p:spPr>
          <a:xfrm>
            <a:off x="3218688" y="2450591"/>
            <a:ext cx="27980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Equal to wall rating, F and T rated</a:t>
            </a:r>
          </a:p>
        </p:txBody>
      </p:sp>
      <p:sp>
        <p:nvSpPr>
          <p:cNvPr id="27" name="TextBox 26"/>
          <p:cNvSpPr txBox="1"/>
          <p:nvPr/>
        </p:nvSpPr>
        <p:spPr>
          <a:xfrm>
            <a:off x="6144768" y="2450591"/>
            <a:ext cx="27066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UL 1479</a:t>
            </a:r>
          </a:p>
        </p:txBody>
      </p:sp>
      <p:sp>
        <p:nvSpPr>
          <p:cNvPr id="28" name="TextBox 27"/>
          <p:cNvSpPr txBox="1"/>
          <p:nvPr/>
        </p:nvSpPr>
        <p:spPr>
          <a:xfrm>
            <a:off x="228600" y="30175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This is the rule with the clearest cross-discipline dependency: the penetrating element belongs to MEP, the barrier to architecture, and the seal to neither package until someone owns it. A federated check is the only place it can be caught.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AR-005 and AR-006</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Barrier-free space and use separation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4261104"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4261104"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4041648"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AR-005 — barrier-free space</a:t>
            </a:r>
          </a:p>
        </p:txBody>
      </p:sp>
      <p:sp>
        <p:nvSpPr>
          <p:cNvPr id="11" name="TextBox 10"/>
          <p:cNvSpPr txBox="1"/>
          <p:nvPr/>
        </p:nvSpPr>
        <p:spPr>
          <a:xfrm>
            <a:off x="338328" y="1856232"/>
            <a:ext cx="4041648"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Turning circle 1525 mm diameter or T-turn equivalent. Forward approach 760 mm wide by 1220 mm deep; side approach 1220 by 760. Knee clearance 685 mm high, 280 mm deep. Counter height 865 mm maximum at accessible positions.</a:t>
            </a:r>
          </a:p>
        </p:txBody>
      </p:sp>
      <p:sp>
        <p:nvSpPr>
          <p:cNvPr id="12" name="Rectangle 11"/>
          <p:cNvSpPr/>
          <p:nvPr/>
        </p:nvSpPr>
        <p:spPr>
          <a:xfrm>
            <a:off x="4654296" y="1234440"/>
            <a:ext cx="4261104"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54296" y="1234440"/>
            <a:ext cx="4261104"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64024" y="1417320"/>
            <a:ext cx="4041648"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AR-006 — spatial adjacency</a:t>
            </a:r>
          </a:p>
        </p:txBody>
      </p:sp>
      <p:sp>
        <p:nvSpPr>
          <p:cNvPr id="15" name="TextBox 14"/>
          <p:cNvSpPr txBox="1"/>
          <p:nvPr/>
        </p:nvSpPr>
        <p:spPr>
          <a:xfrm>
            <a:off x="4764024" y="1856232"/>
            <a:ext cx="4041648"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Mechanical plant above a threshold input against residential occupancy: 1-hour minimum. Hazardous storage against occupancy: 2-hour. Exit stair enclosure against electrical switchroom: 1-hour. Evaluated by walking IfcRelSpaceBoundary and reading the separating element's rating.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How the rules would read the model</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Inputs the IFC must actually carry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7863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Rule</a:t>
            </a:r>
          </a:p>
        </p:txBody>
      </p:sp>
      <p:sp>
        <p:nvSpPr>
          <p:cNvPr id="10" name="TextBox 9"/>
          <p:cNvSpPr txBox="1"/>
          <p:nvPr/>
        </p:nvSpPr>
        <p:spPr>
          <a:xfrm>
            <a:off x="1207008" y="1280160"/>
            <a:ext cx="35295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Required input</a:t>
            </a:r>
          </a:p>
        </p:txBody>
      </p:sp>
      <p:sp>
        <p:nvSpPr>
          <p:cNvPr id="11" name="TextBox 10"/>
          <p:cNvSpPr txBox="1"/>
          <p:nvPr/>
        </p:nvSpPr>
        <p:spPr>
          <a:xfrm>
            <a:off x="4864608" y="1280160"/>
            <a:ext cx="39867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Availability in the corrosion corpus</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AR-001</a:t>
            </a:r>
          </a:p>
        </p:txBody>
      </p:sp>
      <p:sp>
        <p:nvSpPr>
          <p:cNvPr id="14" name="TextBox 13"/>
          <p:cNvSpPr txBox="1"/>
          <p:nvPr/>
        </p:nvSpPr>
        <p:spPr>
          <a:xfrm>
            <a:off x="1207008" y="155448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FireRating on walls and slabs</a:t>
            </a:r>
          </a:p>
        </p:txBody>
      </p:sp>
      <p:sp>
        <p:nvSpPr>
          <p:cNvPr id="15" name="TextBox 14"/>
          <p:cNvSpPr txBox="1"/>
          <p:nvPr/>
        </p:nvSpPr>
        <p:spPr>
          <a:xfrm>
            <a:off x="4864608" y="1554480"/>
            <a:ext cx="3986784" cy="201167"/>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Rarely populated</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AR-002</a:t>
            </a:r>
          </a:p>
        </p:txBody>
      </p:sp>
      <p:sp>
        <p:nvSpPr>
          <p:cNvPr id="18" name="TextBox 17"/>
          <p:cNvSpPr txBox="1"/>
          <p:nvPr/>
        </p:nvSpPr>
        <p:spPr>
          <a:xfrm>
            <a:off x="1207008" y="182880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Circulation space geometry</a:t>
            </a:r>
          </a:p>
        </p:txBody>
      </p:sp>
      <p:sp>
        <p:nvSpPr>
          <p:cNvPr id="19" name="TextBox 18"/>
          <p:cNvSpPr txBox="1"/>
          <p:nvPr/>
        </p:nvSpPr>
        <p:spPr>
          <a:xfrm>
            <a:off x="4864608" y="1828800"/>
            <a:ext cx="3986784" cy="201167"/>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Present where IfcSpace is modelled</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AR-003</a:t>
            </a:r>
          </a:p>
        </p:txBody>
      </p:sp>
      <p:sp>
        <p:nvSpPr>
          <p:cNvPr id="22" name="TextBox 21"/>
          <p:cNvSpPr txBox="1"/>
          <p:nvPr/>
        </p:nvSpPr>
        <p:spPr>
          <a:xfrm>
            <a:off x="1207008" y="210312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Door classification and space topology</a:t>
            </a:r>
          </a:p>
        </p:txBody>
      </p:sp>
      <p:sp>
        <p:nvSpPr>
          <p:cNvPr id="23" name="TextBox 22"/>
          <p:cNvSpPr txBox="1"/>
          <p:nvPr/>
        </p:nvSpPr>
        <p:spPr>
          <a:xfrm>
            <a:off x="4864608" y="2103120"/>
            <a:ext cx="3986784" cy="201167"/>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Partially present</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AR-004</a:t>
            </a:r>
          </a:p>
        </p:txBody>
      </p:sp>
      <p:sp>
        <p:nvSpPr>
          <p:cNvPr id="26" name="TextBox 25"/>
          <p:cNvSpPr txBox="1"/>
          <p:nvPr/>
        </p:nvSpPr>
        <p:spPr>
          <a:xfrm>
            <a:off x="1207008" y="2377439"/>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Penetration seal Pset</a:t>
            </a:r>
          </a:p>
        </p:txBody>
      </p:sp>
      <p:sp>
        <p:nvSpPr>
          <p:cNvPr id="27" name="TextBox 26"/>
          <p:cNvSpPr txBox="1"/>
          <p:nvPr/>
        </p:nvSpPr>
        <p:spPr>
          <a:xfrm>
            <a:off x="4864608" y="2377439"/>
            <a:ext cx="3986784" cy="201167"/>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Effectively absent</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AR-005</a:t>
            </a:r>
          </a:p>
        </p:txBody>
      </p:sp>
      <p:sp>
        <p:nvSpPr>
          <p:cNvPr id="30" name="TextBox 29"/>
          <p:cNvSpPr txBox="1"/>
          <p:nvPr/>
        </p:nvSpPr>
        <p:spPr>
          <a:xfrm>
            <a:off x="1207008" y="265176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Fixture and clear-space geometry</a:t>
            </a:r>
          </a:p>
        </p:txBody>
      </p:sp>
      <p:sp>
        <p:nvSpPr>
          <p:cNvPr id="31" name="TextBox 30"/>
          <p:cNvSpPr txBox="1"/>
          <p:nvPr/>
        </p:nvSpPr>
        <p:spPr>
          <a:xfrm>
            <a:off x="4864608" y="2651760"/>
            <a:ext cx="3986784" cy="201167"/>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Present where modelled</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786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AR-006</a:t>
            </a:r>
          </a:p>
        </p:txBody>
      </p:sp>
      <p:sp>
        <p:nvSpPr>
          <p:cNvPr id="34" name="TextBox 33"/>
          <p:cNvSpPr txBox="1"/>
          <p:nvPr/>
        </p:nvSpPr>
        <p:spPr>
          <a:xfrm>
            <a:off x="1207008" y="292608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Space use classification</a:t>
            </a:r>
          </a:p>
        </p:txBody>
      </p:sp>
      <p:sp>
        <p:nvSpPr>
          <p:cNvPr id="35" name="TextBox 34"/>
          <p:cNvSpPr txBox="1"/>
          <p:nvPr/>
        </p:nvSpPr>
        <p:spPr>
          <a:xfrm>
            <a:off x="4864608" y="2926080"/>
            <a:ext cx="3986784" cy="201167"/>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Partially present</a:t>
            </a:r>
          </a:p>
        </p:txBody>
      </p:sp>
      <p:sp>
        <p:nvSpPr>
          <p:cNvPr id="36" name="TextBox 35"/>
          <p:cNvSpPr txBox="1"/>
          <p:nvPr/>
        </p:nvSpPr>
        <p:spPr>
          <a:xfrm>
            <a:off x="228600" y="32461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corrosion sweep already measured what federated models carry, and the pattern generalises: geometry is reliably present, semantic property data is not. AR-001 and AR-004 would face the same input-availability wall that MM-001 and XM-001 hit.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What validation would require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work that has not been done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An implementation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Six comparator modules, each loading a versioned ruleset and emitting the standard Issue contract, wired into the engine registry.</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 labelled corpus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Models where the correct answer is known independently — from an approved building-control submission, not from the tool itself. Without that, precision and recall have no referent.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 method for spatial ground truth</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Egress distance and accessible width need a measured baseline. Corrosion could lean on material tables; geometry compliance cannot.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Honest reporting of coverage</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corrosion work showed that a 100% flag rate can mean zero input coverage. Any ARCH result must report coverage alongside findings from the first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Design case 1 — isolation ward penetration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Worked through the specification, not executed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 hr</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barrier rating
IBC compartment</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600 mm</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oval duct
penetration</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2 hr</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sleeve F-rating
ASTM E814</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PASS</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AR-004 as
specified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the rule would conclude</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Seal rating equals barrier rating, so the compartment holds and the penetration is compliant. The value of the check is not this case but its inverse: a 1-hour sleeve in the same opening produces a clash-free, geometrically valid model that fails compartmentation, and nothing in current tooling would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Design case 2 — single-exit floor plate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the rule earns its cost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75 × 45 m</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floor plate
footprint</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118 m</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travel distance
farthest corner</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76 m</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IBC maximum
common path</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FAIL</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AR-003 as
specified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Why the timing matters more than the finding</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42 m overrun is not a detail to resolve in coordination; it requires a second stair core, which is structure, foundations and floor plate. Found at LOD 300 it is a design revision. Found at construction it is a redesign. The rule is cheap; the stage at which it runs is what makes it valuable.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Integration with the existing pipeline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How ARCH would fit what already runs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Same Issue contract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ARCH rules would emit the mechanism-agnostic Issue used by every corrosion engine, so the reporter, BCF exporter and asset register need no change.</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Same engine registry</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Registration alongside GC-001, CC-001 and MC-001, so a run reports ARCH availability and coverage in the same status table.</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Cross-discipline by construction</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AR-004 reads MEP penetrations against architectural barriers — a check neither package can perform alone.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Same honesty requirement</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Coverage reported beside findings from the first run, so an ARCH flag rate is never read without the input availability that produced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 of the specification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design establishes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The method generalises</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pattern — versioned ruleset, IFC query path, cited threshold, mechanism-agnostic Issue — transfers from corrosion to code compliance without modification.</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Cross-discipline checking has a home</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Penetration sealing belongs to no single package. A federated rule engine is the natural place for it, and AR-004 shows the shape.</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Input availability is predictable</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corrosion corpus already measured what federated models carry. ARCH can predict its own coverage problem before implementation.</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Scope is bounded and costed</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Six rules, each with a defined query and threshold, is a specification a successor can implement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 of the design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Known before a line is written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Prescriptive, not performance-based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AR-004 compares ratings. It cannot evaluate an equivalent assembly that achieves the same performance by other means, which is how much real fire engineering is argued.</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Planar geometry assumptions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Egress and accessible-route logic assumes floor-plan traversal. Split levels, ramps and mezzanines need vertical routing that the design does not yet cover.</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Dependent on absent property data</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AR-001 and AR-004 need ratings that the corrosion corpus showed are rarely populated. Implementation without a data strategy would reproduce the MM-001 outcome.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Code scope is jurisdictional</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IBC and ADA thresholds are US. EN 17210 differs. The jurisdiction-config pattern from Blue Halo would need to carry across.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R1 – R6 for the architectural engine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932688" y="1280160"/>
            <a:ext cx="40782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5138928" y="1280160"/>
            <a:ext cx="279806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Prerequisite</a:t>
            </a:r>
          </a:p>
        </p:txBody>
      </p:sp>
      <p:sp>
        <p:nvSpPr>
          <p:cNvPr id="12" name="TextBox 11"/>
          <p:cNvSpPr txBox="1"/>
          <p:nvPr/>
        </p:nvSpPr>
        <p:spPr>
          <a:xfrm>
            <a:off x="8065008" y="1280160"/>
            <a:ext cx="78638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45336"/>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932688" y="1545336"/>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Implement AR-001 and AR-004 (fire and sealing)</a:t>
            </a:r>
          </a:p>
        </p:txBody>
      </p:sp>
      <p:sp>
        <p:nvSpPr>
          <p:cNvPr id="16" name="TextBox 15"/>
          <p:cNvSpPr txBox="1"/>
          <p:nvPr/>
        </p:nvSpPr>
        <p:spPr>
          <a:xfrm>
            <a:off x="5138928" y="1545336"/>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Ruleset packs in the shipped schema</a:t>
            </a:r>
          </a:p>
        </p:txBody>
      </p:sp>
      <p:sp>
        <p:nvSpPr>
          <p:cNvPr id="17" name="TextBox 16"/>
          <p:cNvSpPr txBox="1"/>
          <p:nvPr/>
        </p:nvSpPr>
        <p:spPr>
          <a:xfrm>
            <a:off x="8065008" y="1545336"/>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18" name="Rectangle 17"/>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10512"/>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932688" y="1810512"/>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Implement AR-003 egress with space-graph traversal</a:t>
            </a:r>
          </a:p>
        </p:txBody>
      </p:sp>
      <p:sp>
        <p:nvSpPr>
          <p:cNvPr id="21" name="TextBox 20"/>
          <p:cNvSpPr txBox="1"/>
          <p:nvPr/>
        </p:nvSpPr>
        <p:spPr>
          <a:xfrm>
            <a:off x="5138928" y="1810512"/>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Space topology extraction</a:t>
            </a:r>
          </a:p>
        </p:txBody>
      </p:sp>
      <p:sp>
        <p:nvSpPr>
          <p:cNvPr id="22" name="TextBox 21"/>
          <p:cNvSpPr txBox="1"/>
          <p:nvPr/>
        </p:nvSpPr>
        <p:spPr>
          <a:xfrm>
            <a:off x="8065008" y="1810512"/>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3" name="Rectangle 22"/>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075688"/>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932688" y="2075688"/>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Implement AR-002 and AR-005 accessibility</a:t>
            </a:r>
          </a:p>
        </p:txBody>
      </p:sp>
      <p:sp>
        <p:nvSpPr>
          <p:cNvPr id="26" name="TextBox 25"/>
          <p:cNvSpPr txBox="1"/>
          <p:nvPr/>
        </p:nvSpPr>
        <p:spPr>
          <a:xfrm>
            <a:off x="5138928" y="2075688"/>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Circulation geometry extraction</a:t>
            </a:r>
          </a:p>
        </p:txBody>
      </p:sp>
      <p:sp>
        <p:nvSpPr>
          <p:cNvPr id="27" name="TextBox 26"/>
          <p:cNvSpPr txBox="1"/>
          <p:nvPr/>
        </p:nvSpPr>
        <p:spPr>
          <a:xfrm>
            <a:off x="8065008" y="2075688"/>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8" name="Rectangle 27"/>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40863"/>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932688" y="2340863"/>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Labelled validation corpus</a:t>
            </a:r>
          </a:p>
        </p:txBody>
      </p:sp>
      <p:sp>
        <p:nvSpPr>
          <p:cNvPr id="31" name="TextBox 30"/>
          <p:cNvSpPr txBox="1"/>
          <p:nvPr/>
        </p:nvSpPr>
        <p:spPr>
          <a:xfrm>
            <a:off x="5138928" y="2340863"/>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Models with approved control submissions</a:t>
            </a:r>
          </a:p>
        </p:txBody>
      </p:sp>
      <p:sp>
        <p:nvSpPr>
          <p:cNvPr id="32" name="TextBox 31"/>
          <p:cNvSpPr txBox="1"/>
          <p:nvPr/>
        </p:nvSpPr>
        <p:spPr>
          <a:xfrm>
            <a:off x="8065008" y="2340863"/>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3" name="Rectangle 32"/>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06039"/>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R5</a:t>
            </a:r>
          </a:p>
        </p:txBody>
      </p:sp>
      <p:sp>
        <p:nvSpPr>
          <p:cNvPr id="35" name="TextBox 34"/>
          <p:cNvSpPr txBox="1"/>
          <p:nvPr/>
        </p:nvSpPr>
        <p:spPr>
          <a:xfrm>
            <a:off x="932688" y="2606039"/>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Jurisdiction configs (IBC / EN 17210)</a:t>
            </a:r>
          </a:p>
        </p:txBody>
      </p:sp>
      <p:sp>
        <p:nvSpPr>
          <p:cNvPr id="36" name="TextBox 35"/>
          <p:cNvSpPr txBox="1"/>
          <p:nvPr/>
        </p:nvSpPr>
        <p:spPr>
          <a:xfrm>
            <a:off x="5138928" y="2606039"/>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Standards research per Blue Halo pattern</a:t>
            </a:r>
          </a:p>
        </p:txBody>
      </p:sp>
      <p:sp>
        <p:nvSpPr>
          <p:cNvPr id="37" name="TextBox 36"/>
          <p:cNvSpPr txBox="1"/>
          <p:nvPr/>
        </p:nvSpPr>
        <p:spPr>
          <a:xfrm>
            <a:off x="8065008" y="2606039"/>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38" name="Rectangle 37"/>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871215"/>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R6</a:t>
            </a:r>
          </a:p>
        </p:txBody>
      </p:sp>
      <p:sp>
        <p:nvSpPr>
          <p:cNvPr id="40" name="TextBox 39"/>
          <p:cNvSpPr txBox="1"/>
          <p:nvPr/>
        </p:nvSpPr>
        <p:spPr>
          <a:xfrm>
            <a:off x="932688" y="2871215"/>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Performance-based equivalence for AR-004</a:t>
            </a:r>
          </a:p>
        </p:txBody>
      </p:sp>
      <p:sp>
        <p:nvSpPr>
          <p:cNvPr id="41" name="TextBox 40"/>
          <p:cNvSpPr txBox="1"/>
          <p:nvPr/>
        </p:nvSpPr>
        <p:spPr>
          <a:xfrm>
            <a:off x="5138928" y="2871215"/>
            <a:ext cx="279806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Assembly performance data</a:t>
            </a:r>
          </a:p>
        </p:txBody>
      </p:sp>
      <p:sp>
        <p:nvSpPr>
          <p:cNvPr id="42" name="TextBox 41"/>
          <p:cNvSpPr txBox="1"/>
          <p:nvPr/>
        </p:nvSpPr>
        <p:spPr>
          <a:xfrm>
            <a:off x="8065008" y="2871215"/>
            <a:ext cx="786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43" name="TextBox 42"/>
          <p:cNvSpPr txBox="1"/>
          <p:nvPr/>
        </p:nvSpPr>
        <p:spPr>
          <a:xfrm>
            <a:off x="228600" y="32004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R4 is the gating item: without a labelled corpus, R1–R3 can be implemented but not validated, and the deck would face the same evidence problem it avoids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referenced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Sources for each threshold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6151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0" name="TextBox 9"/>
          <p:cNvSpPr txBox="1"/>
          <p:nvPr/>
        </p:nvSpPr>
        <p:spPr>
          <a:xfrm>
            <a:off x="3035808" y="1280160"/>
            <a:ext cx="31638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Supplies</a:t>
            </a:r>
          </a:p>
        </p:txBody>
      </p:sp>
      <p:sp>
        <p:nvSpPr>
          <p:cNvPr id="11" name="TextBox 10"/>
          <p:cNvSpPr txBox="1"/>
          <p:nvPr/>
        </p:nvSpPr>
        <p:spPr>
          <a:xfrm>
            <a:off x="6327648" y="1280160"/>
            <a:ext cx="25237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Rules</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IBC — International Building Code</a:t>
            </a:r>
          </a:p>
        </p:txBody>
      </p:sp>
      <p:sp>
        <p:nvSpPr>
          <p:cNvPr id="14" name="TextBox 13"/>
          <p:cNvSpPr txBox="1"/>
          <p:nvPr/>
        </p:nvSpPr>
        <p:spPr>
          <a:xfrm>
            <a:off x="3035808" y="155448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Compartmentation, travel distance, exit count</a:t>
            </a:r>
          </a:p>
        </p:txBody>
      </p:sp>
      <p:sp>
        <p:nvSpPr>
          <p:cNvPr id="15" name="TextBox 14"/>
          <p:cNvSpPr txBox="1"/>
          <p:nvPr/>
        </p:nvSpPr>
        <p:spPr>
          <a:xfrm>
            <a:off x="6327648" y="15544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AR-001, AR-003, AR-006</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ADA — Americans with Disabilities Act</a:t>
            </a:r>
          </a:p>
        </p:txBody>
      </p:sp>
      <p:sp>
        <p:nvSpPr>
          <p:cNvPr id="18" name="TextBox 17"/>
          <p:cNvSpPr txBox="1"/>
          <p:nvPr/>
        </p:nvSpPr>
        <p:spPr>
          <a:xfrm>
            <a:off x="3035808" y="182880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Route width, slope, clear space</a:t>
            </a:r>
          </a:p>
        </p:txBody>
      </p:sp>
      <p:sp>
        <p:nvSpPr>
          <p:cNvPr id="19" name="TextBox 18"/>
          <p:cNvSpPr txBox="1"/>
          <p:nvPr/>
        </p:nvSpPr>
        <p:spPr>
          <a:xfrm>
            <a:off x="6327648" y="182880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AR-002, AR-005</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EN 17210</a:t>
            </a:r>
          </a:p>
        </p:txBody>
      </p:sp>
      <p:sp>
        <p:nvSpPr>
          <p:cNvPr id="22" name="TextBox 21"/>
          <p:cNvSpPr txBox="1"/>
          <p:nvPr/>
        </p:nvSpPr>
        <p:spPr>
          <a:xfrm>
            <a:off x="3035808" y="210312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European accessibility equivalents</a:t>
            </a:r>
          </a:p>
        </p:txBody>
      </p:sp>
      <p:sp>
        <p:nvSpPr>
          <p:cNvPr id="23" name="TextBox 22"/>
          <p:cNvSpPr txBox="1"/>
          <p:nvPr/>
        </p:nvSpPr>
        <p:spPr>
          <a:xfrm>
            <a:off x="6327648" y="210312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AR-002, AR-005</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ASTM E814 / NFPA 272</a:t>
            </a:r>
          </a:p>
        </p:txBody>
      </p:sp>
      <p:sp>
        <p:nvSpPr>
          <p:cNvPr id="26" name="TextBox 25"/>
          <p:cNvSpPr txBox="1"/>
          <p:nvPr/>
        </p:nvSpPr>
        <p:spPr>
          <a:xfrm>
            <a:off x="3035808" y="2377439"/>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Penetration firestop test method</a:t>
            </a:r>
          </a:p>
        </p:txBody>
      </p:sp>
      <p:sp>
        <p:nvSpPr>
          <p:cNvPr id="27" name="TextBox 26"/>
          <p:cNvSpPr txBox="1"/>
          <p:nvPr/>
        </p:nvSpPr>
        <p:spPr>
          <a:xfrm>
            <a:off x="6327648" y="2377439"/>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AR-004</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UL 1479</a:t>
            </a:r>
          </a:p>
        </p:txBody>
      </p:sp>
      <p:sp>
        <p:nvSpPr>
          <p:cNvPr id="30" name="TextBox 29"/>
          <p:cNvSpPr txBox="1"/>
          <p:nvPr/>
        </p:nvSpPr>
        <p:spPr>
          <a:xfrm>
            <a:off x="3035808" y="265176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Through-penetration firestop systems</a:t>
            </a:r>
          </a:p>
        </p:txBody>
      </p:sp>
      <p:sp>
        <p:nvSpPr>
          <p:cNvPr id="31" name="TextBox 30"/>
          <p:cNvSpPr txBox="1"/>
          <p:nvPr/>
        </p:nvSpPr>
        <p:spPr>
          <a:xfrm>
            <a:off x="6327648" y="265176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AR-004</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26151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16739-1</a:t>
            </a:r>
          </a:p>
        </p:txBody>
      </p:sp>
      <p:sp>
        <p:nvSpPr>
          <p:cNvPr id="34" name="TextBox 33"/>
          <p:cNvSpPr txBox="1"/>
          <p:nvPr/>
        </p:nvSpPr>
        <p:spPr>
          <a:xfrm>
            <a:off x="3035808" y="292608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schema, spatial relationships</a:t>
            </a:r>
          </a:p>
        </p:txBody>
      </p:sp>
      <p:sp>
        <p:nvSpPr>
          <p:cNvPr id="35" name="TextBox 34"/>
          <p:cNvSpPr txBox="1"/>
          <p:nvPr/>
        </p:nvSpPr>
        <p:spPr>
          <a:xfrm>
            <a:off x="6327648" y="29260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All</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Each would be carried in a versioned pack rather than embedded in code, matching the corrosion and Blue Halo pattern.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Designed output contract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an ARCH finding would carry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4264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Field</a:t>
            </a:r>
          </a:p>
        </p:txBody>
      </p:sp>
      <p:sp>
        <p:nvSpPr>
          <p:cNvPr id="10" name="TextBox 9"/>
          <p:cNvSpPr txBox="1"/>
          <p:nvPr/>
        </p:nvSpPr>
        <p:spPr>
          <a:xfrm>
            <a:off x="1847088" y="1280160"/>
            <a:ext cx="35295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Content</a:t>
            </a:r>
          </a:p>
        </p:txBody>
      </p:sp>
      <p:sp>
        <p:nvSpPr>
          <p:cNvPr id="11" name="TextBox 10"/>
          <p:cNvSpPr txBox="1"/>
          <p:nvPr/>
        </p:nvSpPr>
        <p:spPr>
          <a:xfrm>
            <a:off x="5504688" y="1280160"/>
            <a:ext cx="334670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Why it is required</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rule_id</a:t>
            </a:r>
          </a:p>
        </p:txBody>
      </p:sp>
      <p:sp>
        <p:nvSpPr>
          <p:cNvPr id="14" name="TextBox 13"/>
          <p:cNvSpPr txBox="1"/>
          <p:nvPr/>
        </p:nvSpPr>
        <p:spPr>
          <a:xfrm>
            <a:off x="1847088" y="155448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AR-001 … AR-006</a:t>
            </a:r>
          </a:p>
        </p:txBody>
      </p:sp>
      <p:sp>
        <p:nvSpPr>
          <p:cNvPr id="15" name="TextBox 14"/>
          <p:cNvSpPr txBox="1"/>
          <p:nvPr/>
        </p:nvSpPr>
        <p:spPr>
          <a:xfrm>
            <a:off x="5504688" y="1554480"/>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Identifies the rule that fired</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element_id</a:t>
            </a:r>
          </a:p>
        </p:txBody>
      </p:sp>
      <p:sp>
        <p:nvSpPr>
          <p:cNvPr id="18" name="TextBox 17"/>
          <p:cNvSpPr txBox="1"/>
          <p:nvPr/>
        </p:nvSpPr>
        <p:spPr>
          <a:xfrm>
            <a:off x="1847088" y="182880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GlobalId of the failing element</a:t>
            </a:r>
          </a:p>
        </p:txBody>
      </p:sp>
      <p:sp>
        <p:nvSpPr>
          <p:cNvPr id="19" name="TextBox 18"/>
          <p:cNvSpPr txBox="1"/>
          <p:nvPr/>
        </p:nvSpPr>
        <p:spPr>
          <a:xfrm>
            <a:off x="5504688" y="1828800"/>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Anchors the finding to the model</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band</a:t>
            </a:r>
          </a:p>
        </p:txBody>
      </p:sp>
      <p:sp>
        <p:nvSpPr>
          <p:cNvPr id="22" name="TextBox 21"/>
          <p:cNvSpPr txBox="1"/>
          <p:nvPr/>
        </p:nvSpPr>
        <p:spPr>
          <a:xfrm>
            <a:off x="1847088" y="210312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Critical / High / Medium / Low</a:t>
            </a:r>
          </a:p>
        </p:txBody>
      </p:sp>
      <p:sp>
        <p:nvSpPr>
          <p:cNvPr id="23" name="TextBox 22"/>
          <p:cNvSpPr txBox="1"/>
          <p:nvPr/>
        </p:nvSpPr>
        <p:spPr>
          <a:xfrm>
            <a:off x="5504688" y="2103120"/>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Triage order for the reviewer</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citations</a:t>
            </a:r>
          </a:p>
        </p:txBody>
      </p:sp>
      <p:sp>
        <p:nvSpPr>
          <p:cNvPr id="26" name="TextBox 25"/>
          <p:cNvSpPr txBox="1"/>
          <p:nvPr/>
        </p:nvSpPr>
        <p:spPr>
          <a:xfrm>
            <a:off x="1847088" y="2377439"/>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Standard and clause that set the threshold</a:t>
            </a:r>
          </a:p>
        </p:txBody>
      </p:sp>
      <p:sp>
        <p:nvSpPr>
          <p:cNvPr id="27" name="TextBox 26"/>
          <p:cNvSpPr txBox="1"/>
          <p:nvPr/>
        </p:nvSpPr>
        <p:spPr>
          <a:xfrm>
            <a:off x="5504688" y="2377439"/>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Makes the finding arguable on evidence</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metadata</a:t>
            </a:r>
          </a:p>
        </p:txBody>
      </p:sp>
      <p:sp>
        <p:nvSpPr>
          <p:cNvPr id="30" name="TextBox 29"/>
          <p:cNvSpPr txBox="1"/>
          <p:nvPr/>
        </p:nvSpPr>
        <p:spPr>
          <a:xfrm>
            <a:off x="1847088" y="265176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Measured value against required value</a:t>
            </a:r>
          </a:p>
        </p:txBody>
      </p:sp>
      <p:sp>
        <p:nvSpPr>
          <p:cNvPr id="31" name="TextBox 30"/>
          <p:cNvSpPr txBox="1"/>
          <p:nvPr/>
        </p:nvSpPr>
        <p:spPr>
          <a:xfrm>
            <a:off x="5504688" y="2651760"/>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Shows the margin, not just the verdict</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mechanism</a:t>
            </a:r>
          </a:p>
        </p:txBody>
      </p:sp>
      <p:sp>
        <p:nvSpPr>
          <p:cNvPr id="34" name="TextBox 33"/>
          <p:cNvSpPr txBox="1"/>
          <p:nvPr/>
        </p:nvSpPr>
        <p:spPr>
          <a:xfrm>
            <a:off x="1847088" y="2926080"/>
            <a:ext cx="35295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fire_rating, egress, accessibility …</a:t>
            </a:r>
          </a:p>
        </p:txBody>
      </p:sp>
      <p:sp>
        <p:nvSpPr>
          <p:cNvPr id="35" name="TextBox 34"/>
          <p:cNvSpPr txBox="1"/>
          <p:nvPr/>
        </p:nvSpPr>
        <p:spPr>
          <a:xfrm>
            <a:off x="5504688" y="2926080"/>
            <a:ext cx="33467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Keeps distinct failures separately actionable</a:t>
            </a:r>
          </a:p>
        </p:txBody>
      </p:sp>
      <p:sp>
        <p:nvSpPr>
          <p:cNvPr id="36" name="TextBox 35"/>
          <p:cNvSpPr txBox="1"/>
          <p:nvPr/>
        </p:nvSpPr>
        <p:spPr>
          <a:xfrm>
            <a:off x="228600" y="32461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This is the existing Issue contract, unchanged. ARCH rules would populate the same structure the corrosion engines already use, which is why the reporter, BCF exporter and asset register need no modification to carry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Regulatory context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an auditable trail matters here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Building Safety Act 2022</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Requires demonstrable, auditable evidence that compliance was considered — not merely asserted at hand-over.</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Pset write-back</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An ARCH finding would attach to the element, so the compliance state travels with the object through federation and hand-over.</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BCF as the review record</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Each finding becomes a topic with a viewpoint, so the reviewer sees what the rule saw.</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ISO 19650 status codes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S2 while unresolved, S4 with an NCR raised, Status A on acceptance — the same lifecycle the corrosion engines already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Cross-discipline integration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ARCH and the corrosion engines meet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ARCH reads MEP</a:t>
            </a:r>
          </a:p>
        </p:txBody>
      </p:sp>
      <p:sp>
        <p:nvSpPr>
          <p:cNvPr id="11" name="TextBox 10"/>
          <p:cNvSpPr txBox="1"/>
          <p:nvPr/>
        </p:nvSpPr>
        <p:spPr>
          <a:xfrm>
            <a:off x="338328" y="1856232"/>
            <a:ext cx="2566416"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AR-004 evaluates MEP penetrations against architectural barriers. Neither discipline's model contains both halves.</a:t>
            </a:r>
          </a:p>
        </p:txBody>
      </p:sp>
      <p:sp>
        <p:nvSpPr>
          <p:cNvPr id="12" name="Rectangle 11"/>
          <p:cNvSpPr/>
          <p:nvPr/>
        </p:nvSpPr>
        <p:spPr>
          <a:xfrm>
            <a:off x="3179064" y="1234440"/>
            <a:ext cx="2785872"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MEP reads ARCH</a:t>
            </a:r>
          </a:p>
        </p:txBody>
      </p:sp>
      <p:sp>
        <p:nvSpPr>
          <p:cNvPr id="15" name="TextBox 14"/>
          <p:cNvSpPr txBox="1"/>
          <p:nvPr/>
        </p:nvSpPr>
        <p:spPr>
          <a:xfrm>
            <a:off x="3288792" y="1856232"/>
            <a:ext cx="2566416"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Corrosion environment class is inferred from architectural spatial containment — space name, storey, zone.</a:t>
            </a:r>
          </a:p>
        </p:txBody>
      </p:sp>
      <p:sp>
        <p:nvSpPr>
          <p:cNvPr id="16" name="Rectangle 15"/>
          <p:cNvSpPr/>
          <p:nvPr/>
        </p:nvSpPr>
        <p:spPr>
          <a:xfrm>
            <a:off x="6129528" y="1234440"/>
            <a:ext cx="2785872"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Findings stay separate</a:t>
            </a:r>
          </a:p>
        </p:txBody>
      </p:sp>
      <p:sp>
        <p:nvSpPr>
          <p:cNvPr id="19" name="TextBox 18"/>
          <p:cNvSpPr txBox="1"/>
          <p:nvPr/>
        </p:nvSpPr>
        <p:spPr>
          <a:xfrm>
            <a:off x="6239256" y="1856232"/>
            <a:ext cx="2566416"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One Issue per mechanism, because the mitigations differ. A firestop sleeve does not fix a galvanic couple.</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dependency already runs in one direction today: environment classification reads architectural spatial data. AR-004 would close the loop.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Honest summary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may and may not be claimed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6</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rules fully
specified</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rules
implemented</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accuracy figures
claimed</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R1–R6</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roadmap with
prerequisites</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claim this deck makes</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That the compliance method demonstrated on corrosion extends to architectural code checking, and that the extension has been specified to the level of query path and cited threshold. It does not claim the engine exists, that any model has been checked, or that any accuracy has been measured. Those claims would need R1 and R4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Key points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to take from this specification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Code compliance is machine-checkable in principle</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Every one of the six rules resolves to an IFC query and a cited threshold. None requires judgement the schema cannot supply.</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Fire and egress carry the life-safety weight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AR-001, AR-003 and AR-004 are the rules whose failure modes are fatal rather than costly, and they are first on the roadmap.</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Input availability will be the binding constraint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corrosion corpus already showed it. ARCH should measure coverage from its first run rather than discover it later.</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architecture is already in place</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Issue contract, engine registry, BCF exporter and Pset write-back all exist and are engine-agnostic.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Architectural Code Analysis</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