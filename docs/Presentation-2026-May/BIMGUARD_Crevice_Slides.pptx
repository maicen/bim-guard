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Crevice Corrosion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CC-001 Compliance Engine  —  BIMGUARD AI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08483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Engine: BIMGUARD-CC-001 v1.0.0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523744"/>
            <a:ext cx="457200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6700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Standards:  EN ISO 15329:2007  ·  ASTM G48 Method B  ·  CIRIA C692  ·  CIBSE Guide G  ·  EN 1993-1-4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31089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BIMGUARD AI beyond galvanic checking — the failure mode invisible to GC-001 alone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" y="44165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Master Project  |  Masters in BIM Management  |  Zigurat Global Institute of Technology  |  Group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galvanic checking alone is not enough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corrosion mechanism most likely to be missed — on the material most likely to be specified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0117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34440"/>
            <a:ext cx="8686800" cy="868680"/>
          </a:xfrm>
          <a:prstGeom prst="rect">
            <a:avLst/>
          </a:prstGeom>
          <a:solidFill>
            <a:srgbClr val="12243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Stainless steel is specified precisely because of its galvanic nobility.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same nobility makes crevice corrosion its dominant failure mode in chloride environments.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2267712"/>
            <a:ext cx="2743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267712"/>
            <a:ext cx="64008" cy="138988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" y="235915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GC-001 result (galvanic)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" y="2670048"/>
            <a:ext cx="25420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SS316 flanges in a pool plant room: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Galvanic composite score: 0.00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band: LOW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no galvanic risk identified.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72968" y="2267712"/>
            <a:ext cx="2743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2267712"/>
            <a:ext cx="64008" cy="1389888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00984" y="235915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CC-001 result (crevice)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00984" y="2670048"/>
            <a:ext cx="25420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SS316 flanges, same environment: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Crevice composite score: 0.89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band: CRITICAL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immediate remediation required.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17336" y="2267712"/>
            <a:ext cx="2743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17336" y="2267712"/>
            <a:ext cx="64008" cy="13898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5352" y="235915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45352" y="2670048"/>
            <a:ext cx="25420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galvanic-only tool classifies this installation as safe.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Crevice corrosion will produce through-wall failure within 2–5 years.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CC-001 is not optional — it is necessary.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" y="38221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finding is the academic justification for the dual-engine architecture of BIMGUARD AI.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CC-001 Crevice Corrosion Engine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crevice corrosion mechanism — four stages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Fontana &amp; Greene (1967) — the chemistry that destroys stainless steel in confined spaces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0117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34440"/>
            <a:ext cx="199339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234440"/>
            <a:ext cx="1993392" cy="7315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234440"/>
            <a:ext cx="475488" cy="47548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58952" y="1316736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1783080"/>
            <a:ext cx="181051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Confined electrolyte initially identical to bulk solution. Oxygen depletion begins as cathodic reduction consumes O₂ faster than diffusion can replenish it.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40280" y="2377440"/>
            <a:ext cx="137160" cy="54864"/>
          </a:xfrm>
          <a:prstGeom prst="rect">
            <a:avLst/>
          </a:prstGeom>
          <a:solidFill>
            <a:srgbClr val="8896A6"/>
          </a:solidFill>
          <a:ln w="12700">
            <a:solidFill>
              <a:srgbClr val="8896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95728" y="1234440"/>
            <a:ext cx="199339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95728" y="1234440"/>
            <a:ext cx="1993392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95728" y="1234440"/>
            <a:ext cx="475488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95728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926080" y="1316736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aeration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87168" y="1783080"/>
            <a:ext cx="181051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O₂-depleted crevice becomes anodic. Metal dissolution begins: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→ M²⁺ + 2e⁻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Electrons travel to oxygenated exterior.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07408" y="2377440"/>
            <a:ext cx="137160" cy="54864"/>
          </a:xfrm>
          <a:prstGeom prst="rect">
            <a:avLst/>
          </a:prstGeom>
          <a:solidFill>
            <a:srgbClr val="8896A6"/>
          </a:solidFill>
          <a:ln w="12700">
            <a:solidFill>
              <a:srgbClr val="8896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62856" y="1234440"/>
            <a:ext cx="199339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62856" y="1234440"/>
            <a:ext cx="1993392" cy="7315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62856" y="1234440"/>
            <a:ext cx="475488" cy="475488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62856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93208" y="1316736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Autocatalytic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54296" y="1783080"/>
            <a:ext cx="181051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cation hydrolysis lowers local pH. Chloride ions migrate in to maintain charge neutrality. Passive film destroyed by low pH + high Cl⁻.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74536" y="2377440"/>
            <a:ext cx="137160" cy="54864"/>
          </a:xfrm>
          <a:prstGeom prst="rect">
            <a:avLst/>
          </a:prstGeom>
          <a:solidFill>
            <a:srgbClr val="8896A6"/>
          </a:solidFill>
          <a:ln w="12700">
            <a:solidFill>
              <a:srgbClr val="8896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29984" y="1234440"/>
            <a:ext cx="199339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29984" y="1234440"/>
            <a:ext cx="1993392" cy="7315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29984" y="1234440"/>
            <a:ext cx="475488" cy="475488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9984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260336" y="1316736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21424" y="1783080"/>
            <a:ext cx="181051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Autocatalytic chemistry is self-sustaining. Corrosion continues even if external conditions improve — until crevice is destroyed or pipe perforated.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8600" y="3785616"/>
            <a:ext cx="8686800" cy="603504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785616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737360" y="3785616"/>
            <a:ext cx="7040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Stage 3 is reached, the corrosion is self-sustaining — it cannot be stopped by improving the external environment. Prevention must happen at design stage, before the chemistry initiates.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CC-001 Crevice Corrosion Engine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Crevice Corrosion Temperature (CCT)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 temperature at which crevice attack initiates — ASTM G48 Method B / CIRIA C692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0117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234440"/>
          <a:ext cx="8686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188720"/>
                <a:gridCol w="1463040"/>
                <a:gridCol w="39319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CCT (°C)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PREN (typical)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MEP application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 304 / 1.4301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S30400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HVAC, cold water (low chloride environments only)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 316 / 1.4401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S31600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54F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24–26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Process, pharmaceutical, pool — risk above 10°C in Cl⁻ environments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Duplex 2205 / 1.4462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S32205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33–38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Coastal, desalination, aggressive process environments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Duplex 2507 / 1.4410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S32750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Offshore, seawater, highly aggressive chloride environments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Titanium Grade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R50400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Exceptional resistance — used where all SS grades are inadequate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28600" y="37673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 formula (IMOA Design Manual 4th Ed.):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0" y="37673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  =  %Cr  +  3.3 × %Mo  +  16 × %N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28600" y="413308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ASTM G48 Method B / CIRIA C692 / Sandvik Corrosion Handbook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CC-001 Crevice Corrosion Engine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CC-001 scoring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Three-component weighted composite score — referenced to published standards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0117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34440"/>
            <a:ext cx="8686800" cy="658368"/>
          </a:xfrm>
          <a:prstGeom prst="rect">
            <a:avLst/>
          </a:prstGeom>
          <a:solidFill>
            <a:srgbClr val="DEEAF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Score_CC  =  (0.35 × geometry risk)  +  (0.40 × CCT adequacy)  +  (0.25 × environment severity)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2029968"/>
            <a:ext cx="27432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029968"/>
            <a:ext cx="64008" cy="15361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" y="212140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risk  (0.35)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" y="2432304"/>
            <a:ext cx="25420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classes: Open (0.10) → Moderate (0.45) → Tight (0.75) → Critical (1.00)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14-type joint library maps IFC element type to geometry class.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Tightest geometry = most restricted electrolyte circulation = highest risk.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2029968"/>
            <a:ext cx="27432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2029968"/>
            <a:ext cx="64008" cy="15361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00984" y="212140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 adequacy  (0.40)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00984" y="2432304"/>
            <a:ext cx="25420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weight — most material-specific determinant.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operating temperature against the material's CCT.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CCT = risk score 1.00, regardless of geometry or environment.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17336" y="2029968"/>
            <a:ext cx="27432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17336" y="2029968"/>
            <a:ext cx="64008" cy="15361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212140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severity  (0.25)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45352" y="2432304"/>
            <a:ext cx="25420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classes per EN ISO 15329:2007 wetting classifications.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Chloride concentration determines class.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/ coastal / pharmaceutical = highest severity.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" y="3730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bands: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737360" y="3703320"/>
            <a:ext cx="1627632" cy="2743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37360" y="370332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&lt; 0.30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29584" y="3703320"/>
            <a:ext cx="16276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9584" y="370332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0.30 – 0.55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21808" y="3703320"/>
            <a:ext cx="1627632" cy="274320"/>
          </a:xfrm>
          <a:prstGeom prst="rect">
            <a:avLst/>
          </a:prstGeom>
          <a:solidFill>
            <a:srgbClr val="C2510A"/>
          </a:solidFill>
          <a:ln w="12700">
            <a:solidFill>
              <a:srgbClr val="C251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21808" y="370332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0.55 – 0.80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14032" y="3703320"/>
            <a:ext cx="1627632" cy="27432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14032" y="370332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&gt; 0.80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CC-001 Crevice Corrosion Engine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14-type joint library — IFC element to geometry class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IfcPipeSegment / IfcPipeFitting classification to crevice geometry risk without requiring joint geometry to be modelled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0117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234440"/>
          <a:ext cx="86868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508760"/>
                <a:gridCol w="1097280"/>
                <a:gridCol w="777240"/>
                <a:gridCol w="685800"/>
                <a:gridCol w="1691640"/>
                <a:gridCol w="1188720"/>
                <a:gridCol w="777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Geometry 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mult.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Geometry 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mult.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JT-001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 weld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JT-008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Victaulic groove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JT-002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 weld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JT-009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Screwed BSP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JT-003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Slip-on flange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JT-010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 joint flange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251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251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JT-004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Weld neck flange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251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251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JT-011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Ring-type joint flange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251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251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JT-005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Threaded NPT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JT-012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 clamp under insulation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JT-006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Compression fitting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251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251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JT-013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Mechanical anchor contact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251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251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JT-007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Push-fit press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JT-014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/ unclassified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251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 (default)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251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28600" y="4169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JT-014 conservative default: any unclassified IFC joint type is assigned Tight (0.75) — tool always fails safe when joint data is incomplete.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CC-001 Crevice Corrosion Engine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CC-001 validation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scenarios — all results consistent with engineering expectation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0117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3444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234440"/>
            <a:ext cx="196596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71600"/>
            <a:ext cx="17830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0040" y="2056486"/>
            <a:ext cx="178308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run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59152" y="123444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59152" y="1234440"/>
            <a:ext cx="1965960" cy="7315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371600"/>
            <a:ext cx="17830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450592" y="2056486"/>
            <a:ext cx="178308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9704" y="123444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9704" y="1234440"/>
            <a:ext cx="1965960" cy="73152"/>
          </a:xfrm>
          <a:prstGeom prst="rect">
            <a:avLst/>
          </a:prstGeom>
          <a:solidFill>
            <a:srgbClr val="C2510A"/>
          </a:solidFill>
          <a:ln w="12700">
            <a:solidFill>
              <a:srgbClr val="C251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1144" y="1371600"/>
            <a:ext cx="17830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25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581144" y="2056486"/>
            <a:ext cx="178308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20256" y="123444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20256" y="1234440"/>
            <a:ext cx="1965960" cy="7315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11696" y="1371600"/>
            <a:ext cx="17830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711696" y="2056486"/>
            <a:ext cx="178308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expectation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2724912"/>
            <a:ext cx="8686800" cy="987552"/>
          </a:xfrm>
          <a:prstGeom prst="rect">
            <a:avLst/>
          </a:prstGeom>
          <a:solidFill>
            <a:srgbClr val="12243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7614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validation finding: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1272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SS316 flanges in pool plant room  ·  GC-001: 0.00 (Low)  ·  CC-001: 0.89 (Critical)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35112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that stainless steel — the most galvanically noble grade in the series — requires crevice assessment independently of galvanic result.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8600" y="385876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858768"/>
            <a:ext cx="64008" cy="658368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" y="395020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SS304 flanged pool enclosure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6616" y="4261104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0.97 Critical — below CCT by 20°C, flanged joint, pool chloride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72968" y="385876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72968" y="3858768"/>
            <a:ext cx="64008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00984" y="395020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Duplex 2205 coastal external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00984" y="4261104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0.42 Medium — CCT adequate (+25°C margin), exposed environment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17336" y="385876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17336" y="3858768"/>
            <a:ext cx="64008" cy="6583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45352" y="395020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Titanium process pipe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45352" y="4261104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0.04 Low — CCT +120°C provides full protection across all environment classes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CC-001 Crevice Corrosion Engine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CC-001 integration with the BIMGUARD AI framework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risk assessment, dual Pset write-back, separate BCF issues per mechanism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0117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34440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234440"/>
            <a:ext cx="64008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" y="132588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risk assessment function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" y="1636776"/>
            <a:ext cx="3959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combined_risk_assessment() runs GC-001 and CC-001 simultaneously.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band = higher of the two individual bands.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SS316 pool plant room: Low (GC) + Critical (CC) → Combined: CRITICAL.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234440"/>
            <a:ext cx="4343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234440"/>
            <a:ext cx="64008" cy="10789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0016" y="1325880"/>
            <a:ext cx="4142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BCF issues per mechanism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0016" y="1636776"/>
            <a:ext cx="4142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GC-001 and CC-001 generate independent BCF issues for the same element.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responsible engineer, different mitigation action.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ambiguity about what needs to be done and who does it.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487168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487168"/>
            <a:ext cx="64008" cy="10789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" y="2578608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Pset_CreviceCorrosionRisk IFC write-back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" y="2889504"/>
            <a:ext cx="3959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CC-001 writes a property set to the IFC model alongside Pset_CorrosionRisk.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Properties: CreviceRiskScore, CreviceRiskBand, CCTAdequacyScore, GeometryClass, EnvironmentSeverity, RecommendedMitigation, RulesetVersion, AssessmentDate.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487168"/>
            <a:ext cx="4343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2487168"/>
            <a:ext cx="64008" cy="1078992"/>
          </a:xfrm>
          <a:prstGeom prst="rect">
            <a:avLst/>
          </a:prstGeom>
          <a:solidFill>
            <a:srgbClr val="8896A6"/>
          </a:solidFill>
          <a:ln w="12700">
            <a:solidFill>
              <a:srgbClr val="889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2578608"/>
            <a:ext cx="4142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asset register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00016" y="2889504"/>
            <a:ext cx="4142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CSV row per element: GlobalID · GC-001 score · CC-001 score · combined band · cost · programme impact · assigned engineer.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two-mechanism view of every MEP element.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3730752"/>
            <a:ext cx="8686800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7307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19650 status:  Elements with unresolved CC-001 Critical findings are held at Status S2 (Work in Progress) in the CDE — cannot advance to Shared until the finding is resolved and the model re-checked.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CC-001 Crevice Corrosion Engine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CC-001 — three conclusions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Crevice corrosion changes the compliance picture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8503920" cy="877824"/>
          </a:xfrm>
          <a:prstGeom prst="rect">
            <a:avLst/>
          </a:prstGeom>
          <a:solidFill>
            <a:srgbClr val="0A1F2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508760"/>
            <a:ext cx="566928" cy="8778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08760"/>
            <a:ext cx="5669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9264" y="1536192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Single-mechanism checking is not sufficient. A tool that checks only galvanic compatibility will classify SS316 stainless steel as safe in a pool plant room. BIMGUARD AI — with CC-001 — correctly classifies it as Critical. The two engines are genuinely independent and genuinely necessary.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514600"/>
            <a:ext cx="8503920" cy="877824"/>
          </a:xfrm>
          <a:prstGeom prst="rect">
            <a:avLst/>
          </a:prstGeom>
          <a:solidFill>
            <a:srgbClr val="0A1F2E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514600"/>
            <a:ext cx="566928" cy="87782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514600"/>
            <a:ext cx="5669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9264" y="2542032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nobility is not protection. The most corrosion-resistant stainless grades are more susceptible to crevice corrosion than standard carbon steel in aggressive crevice conditions, because their passive film — the source of their nobility — is exactly what crevice chemistry destroys. CCT is the defining parameter, not PREN.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520440"/>
            <a:ext cx="8503920" cy="877824"/>
          </a:xfrm>
          <a:prstGeom prst="rect">
            <a:avLst/>
          </a:prstGeom>
          <a:solidFill>
            <a:srgbClr val="0A1F2E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520440"/>
            <a:ext cx="566928" cy="8778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520440"/>
            <a:ext cx="5669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9264" y="3547872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must happen at design stage. Once autocatalytic crevice chemistry initiates (Stage 3), the corrosion is self-sustaining regardless of external conditions. The CC-001 compliance check, run on the LOD 300 model before fabrication, is the only intervention point at which crevice corrosion can be designed out rather than managed.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CC-001 Crevice Corrosion Engine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BIMGUARD AI — CC-001 Crevice Corrosion Module</dc:title>
  <dc:subject>Crevice Corrosion Compliance Engine</dc:subject>
  <dc:creator>Group 5 — Zigurat Global Institute of Technology</dc:creator>
  <cp:lastModifiedBy>Group 5 — Zigurat Global Institute of Technology</cp:lastModifiedBy>
  <cp:revision>1</cp:revision>
  <dcterms:created xsi:type="dcterms:W3CDTF">2026-04-08T19:16:29Z</dcterms:created>
  <dcterms:modified xsi:type="dcterms:W3CDTF">2026-04-08T19:16:29Z</dcterms:modified>
</cp:coreProperties>
</file>