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6"/>
    <p:sldId id="275" r:id="rId5"/>
    <p:sldId id="276" r:id="rId4"/>
    <p:sldId id="277" r:id="rId3"/>
    <p:sldId id="278" r:id="rId2"/>
    <p:sldId id="279" r:id="rId30"/>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3.xml"/><Relationship Id="rId3" Type="http://schemas.openxmlformats.org/officeDocument/2006/relationships/slide" Target="slides/slide22.xml"/><Relationship Id="rId4" Type="http://schemas.openxmlformats.org/officeDocument/2006/relationships/slide" Target="slides/slide21.xml"/><Relationship Id="rId5" Type="http://schemas.openxmlformats.org/officeDocument/2006/relationships/slide" Target="slides/slide20.xml"/><Relationship Id="rId6" Type="http://schemas.openxmlformats.org/officeDocument/2006/relationships/slide" Target="slides/slide1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22960"/>
            <a:ext cx="8412480" cy="1097280"/>
          </a:xfrm>
          <a:prstGeom prst="rect">
            <a:avLst/>
          </a:prstGeom>
          <a:noFill/>
        </p:spPr>
        <p:txBody>
          <a:bodyPr wrap="square" anchor="t" lIns="0" rIns="0" tIns="0" bIns="0">
            <a:spAutoFit/>
          </a:bodyPr>
          <a:lstStyle/>
          <a:p>
            <a:pPr algn="l">
              <a:lnSpc>
                <a:spcPct val="100000"/>
              </a:lnSpc>
            </a:pPr>
            <a:r>
              <a:rPr sz="5400" b="1">
                <a:solidFill>
                  <a:srgbClr val="FFFFFF"/>
                </a:solidFill>
                <a:latin typeface="Calibri"/>
              </a:rPr>
              <a:t>Blue Halo Clearance Algorithm</a:t>
            </a:r>
          </a:p>
        </p:txBody>
      </p:sp>
      <p:sp>
        <p:nvSpPr>
          <p:cNvPr id="5" name="TextBox 4"/>
          <p:cNvSpPr txBox="1"/>
          <p:nvPr/>
        </p:nvSpPr>
        <p:spPr>
          <a:xfrm>
            <a:off x="365760" y="1920240"/>
            <a:ext cx="8412480" cy="502920"/>
          </a:xfrm>
          <a:prstGeom prst="rect">
            <a:avLst/>
          </a:prstGeom>
          <a:noFill/>
        </p:spPr>
        <p:txBody>
          <a:bodyPr wrap="square" anchor="t" lIns="0" rIns="0" tIns="0" bIns="0">
            <a:spAutoFit/>
          </a:bodyPr>
          <a:lstStyle/>
          <a:p>
            <a:pPr algn="l">
              <a:lnSpc>
                <a:spcPct val="100000"/>
              </a:lnSpc>
            </a:pPr>
            <a:r>
              <a:rPr sz="2200" b="0">
                <a:solidFill>
                  <a:srgbClr val="00B4D8"/>
                </a:solidFill>
                <a:latin typeface="Calibri"/>
              </a:rPr>
              <a:t>Seismic Bracing Proactive Space Reservation</a:t>
            </a:r>
          </a:p>
        </p:txBody>
      </p:sp>
      <p:sp>
        <p:nvSpPr>
          <p:cNvPr id="6" name="TextBox 5"/>
          <p:cNvSpPr txBox="1"/>
          <p:nvPr/>
        </p:nvSpPr>
        <p:spPr>
          <a:xfrm>
            <a:off x="365760" y="2514600"/>
            <a:ext cx="8412480" cy="365760"/>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EN 1998-1  ·  DIN 4149  ·  ASCE 7-22  ·  NFPA 13  ·  SMACNA  ·  MSS SP-58</a:t>
            </a:r>
          </a:p>
        </p:txBody>
      </p:sp>
      <p:sp>
        <p:nvSpPr>
          <p:cNvPr id="7" name="Rectangle 6"/>
          <p:cNvSpPr/>
          <p:nvPr/>
        </p:nvSpPr>
        <p:spPr>
          <a:xfrm>
            <a:off x="365760" y="2944368"/>
            <a:ext cx="4114800" cy="1828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3108960"/>
            <a:ext cx="8412480" cy="548640"/>
          </a:xfrm>
          <a:prstGeom prst="rect">
            <a:avLst/>
          </a:prstGeom>
          <a:noFill/>
        </p:spPr>
        <p:txBody>
          <a:bodyPr wrap="square" anchor="t" lIns="0" rIns="0" tIns="0" bIns="0">
            <a:spAutoFit/>
          </a:bodyPr>
          <a:lstStyle/>
          <a:p>
            <a:pPr algn="l">
              <a:lnSpc>
                <a:spcPct val="100000"/>
              </a:lnSpc>
            </a:pPr>
            <a:r>
              <a:rPr sz="1200" b="0">
                <a:solidFill>
                  <a:srgbClr val="FFFFFF"/>
                </a:solidFill>
                <a:latin typeface="Calibri"/>
              </a:rPr>
              <a:t>BH-001  ·  LOD 300 → 350 space reservation  ·  Pluggable jurisdiction configs  ·  BCF 2.1 output</a:t>
            </a:r>
          </a:p>
        </p:txBody>
      </p:sp>
      <p:sp>
        <p:nvSpPr>
          <p:cNvPr id="9" name="TextBox 8"/>
          <p:cNvSpPr txBox="1"/>
          <p:nvPr/>
        </p:nvSpPr>
        <p:spPr>
          <a:xfrm>
            <a:off x="228600" y="4416552"/>
            <a:ext cx="8686800" cy="228600"/>
          </a:xfrm>
          <a:prstGeom prst="rect">
            <a:avLst/>
          </a:prstGeom>
          <a:noFill/>
        </p:spPr>
        <p:txBody>
          <a:bodyPr wrap="square" anchor="t" lIns="0" rIns="0" tIns="0" bIns="0">
            <a:spAutoFit/>
          </a:bodyPr>
          <a:lstStyle/>
          <a:p>
            <a:pPr algn="l">
              <a:lnSpc>
                <a:spcPct val="100000"/>
              </a:lnSpc>
            </a:pPr>
            <a:r>
              <a:rPr sz="900" b="0">
                <a:solidFill>
                  <a:srgbClr val="8896A6"/>
                </a:solidFill>
                <a:latin typeface="Calibri"/>
              </a:rPr>
              <a:t>BIMGUARD AI  |  Final Master Project  |  Zigurat Global Institute of Technology  |  Group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The problem in the design cycle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Space for supports is designed after the space is gone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LOD 300 — services routed</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Pipes, ducts and conduit are modelled to their own envelope. The support system does not exist yet, so nothing reserves room for it.</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LOD 350 — supports designed</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Hangers and sway braces are added. They need a diagonal leg and a base footprint that the surrounding services have already occupied.</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Result — rework, not clash</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clash is real but late. Rerouting a duct run at LOD 350 costs an order of magnitude more than shifting a pipe at LOD 300, and it lands on the programme.</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Blue Halo — reserve first</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Compute the support envelope at LOD 300 and publish it as a reserved volume. The conflict surfaces while services are still cheap to move.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How the clearance envelope is derived</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Jurisdiction-driven, not hard-coded</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325880"/>
            <a:ext cx="8686800" cy="7315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490472"/>
            <a:ext cx="8503920" cy="457200"/>
          </a:xfrm>
          <a:prstGeom prst="rect">
            <a:avLst/>
          </a:prstGeom>
          <a:noFill/>
        </p:spPr>
        <p:txBody>
          <a:bodyPr wrap="square" anchor="t" lIns="0" rIns="0" tIns="0" bIns="0">
            <a:spAutoFit/>
          </a:bodyPr>
          <a:lstStyle/>
          <a:p>
            <a:pPr algn="ctr">
              <a:lnSpc>
                <a:spcPct val="100000"/>
              </a:lnSpc>
            </a:pPr>
            <a:r>
              <a:rPr sz="1800" b="1">
                <a:solidFill>
                  <a:srgbClr val="1F3864"/>
                </a:solidFill>
                <a:latin typeface="Calibri"/>
              </a:rPr>
              <a:t>halo_bbox  =  element_bbox  ⊕  effective_clearance</a:t>
            </a:r>
          </a:p>
        </p:txBody>
      </p:sp>
      <p:sp>
        <p:nvSpPr>
          <p:cNvPr id="10" name="TextBox 9"/>
          <p:cNvSpPr txBox="1"/>
          <p:nvPr/>
        </p:nvSpPr>
        <p:spPr>
          <a:xfrm>
            <a:off x="228600" y="2148840"/>
            <a:ext cx="8686800" cy="274320"/>
          </a:xfrm>
          <a:prstGeom prst="rect">
            <a:avLst/>
          </a:prstGeom>
          <a:noFill/>
        </p:spPr>
        <p:txBody>
          <a:bodyPr wrap="square" anchor="t" lIns="0" rIns="0" tIns="0" bIns="0">
            <a:spAutoFit/>
          </a:bodyPr>
          <a:lstStyle/>
          <a:p>
            <a:pPr algn="ctr">
              <a:lnSpc>
                <a:spcPct val="100000"/>
              </a:lnSpc>
            </a:pPr>
            <a:r>
              <a:rPr sz="1050" b="0">
                <a:solidFill>
                  <a:srgbClr val="8896A6"/>
                </a:solidFill>
                <a:latin typeface="Calibri"/>
              </a:rPr>
              <a:t>⊕ is a uniform expansion on every face. effective_clearance is read from the jurisdiction config, never from code.</a:t>
            </a:r>
          </a:p>
        </p:txBody>
      </p:sp>
      <p:sp>
        <p:nvSpPr>
          <p:cNvPr id="11" name="Rectangle 10"/>
          <p:cNvSpPr/>
          <p:nvPr/>
        </p:nvSpPr>
        <p:spPr>
          <a:xfrm>
            <a:off x="228600" y="2286000"/>
            <a:ext cx="8686800" cy="7315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2450592"/>
            <a:ext cx="8503920" cy="457200"/>
          </a:xfrm>
          <a:prstGeom prst="rect">
            <a:avLst/>
          </a:prstGeom>
          <a:noFill/>
        </p:spPr>
        <p:txBody>
          <a:bodyPr wrap="square" anchor="t" lIns="0" rIns="0" tIns="0" bIns="0">
            <a:spAutoFit/>
          </a:bodyPr>
          <a:lstStyle/>
          <a:p>
            <a:pPr algn="ctr">
              <a:lnSpc>
                <a:spcPct val="100000"/>
              </a:lnSpc>
            </a:pPr>
            <a:r>
              <a:rPr sz="1800" b="1">
                <a:solidFill>
                  <a:srgbClr val="1F3864"/>
                </a:solidFill>
                <a:latin typeface="Calibri"/>
              </a:rPr>
              <a:t>effective_clearance  =  base_clearance  +  seismic_zone_addition  +  hospital_addition</a:t>
            </a:r>
          </a:p>
        </p:txBody>
      </p:sp>
      <p:sp>
        <p:nvSpPr>
          <p:cNvPr id="13" name="TextBox 12"/>
          <p:cNvSpPr txBox="1"/>
          <p:nvPr/>
        </p:nvSpPr>
        <p:spPr>
          <a:xfrm>
            <a:off x="228600" y="3108960"/>
            <a:ext cx="8686800" cy="274320"/>
          </a:xfrm>
          <a:prstGeom prst="rect">
            <a:avLst/>
          </a:prstGeom>
          <a:noFill/>
        </p:spPr>
        <p:txBody>
          <a:bodyPr wrap="square" anchor="t" lIns="0" rIns="0" tIns="0" bIns="0">
            <a:spAutoFit/>
          </a:bodyPr>
          <a:lstStyle/>
          <a:p>
            <a:pPr algn="ctr">
              <a:lnSpc>
                <a:spcPct val="100000"/>
              </a:lnSpc>
            </a:pPr>
            <a:r>
              <a:rPr sz="1050" b="0">
                <a:solidFill>
                  <a:srgbClr val="8896A6"/>
                </a:solidFill>
                <a:latin typeface="Calibri"/>
              </a:rPr>
              <a:t>EN 1998-1:2020 + DIN 4149:2022 resolve to 200 mm base; ASCE 7-22 + NFPA 13 resolve to 457.2 mm (18 in).</a:t>
            </a:r>
          </a:p>
        </p:txBody>
      </p:sp>
      <p:sp>
        <p:nvSpPr>
          <p:cNvPr id="14" name="TextBox 13"/>
          <p:cNvSpPr txBox="1"/>
          <p:nvPr/>
        </p:nvSpPr>
        <p:spPr>
          <a:xfrm>
            <a:off x="228600" y="342900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The implementation applies a uniform buffer because that is what the corpus can support. Angle-aware wedge envelopes for diagonal cable and rod bracing are deferred: the corpus carries no brace geometry to validate them against, and an unvalidated wedge would be a guess wearing a formula.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Four-phase architecture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Each phase fails independently and reports why</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310896"/>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603504" cy="237744"/>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Phase</a:t>
            </a:r>
          </a:p>
        </p:txBody>
      </p:sp>
      <p:sp>
        <p:nvSpPr>
          <p:cNvPr id="10" name="TextBox 9"/>
          <p:cNvSpPr txBox="1"/>
          <p:nvPr/>
        </p:nvSpPr>
        <p:spPr>
          <a:xfrm>
            <a:off x="1024128" y="1280160"/>
            <a:ext cx="2249424" cy="237744"/>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Function</a:t>
            </a:r>
          </a:p>
        </p:txBody>
      </p:sp>
      <p:sp>
        <p:nvSpPr>
          <p:cNvPr id="11" name="TextBox 10"/>
          <p:cNvSpPr txBox="1"/>
          <p:nvPr/>
        </p:nvSpPr>
        <p:spPr>
          <a:xfrm>
            <a:off x="3401568" y="1280160"/>
            <a:ext cx="2615184" cy="237744"/>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Input</a:t>
            </a:r>
          </a:p>
        </p:txBody>
      </p:sp>
      <p:sp>
        <p:nvSpPr>
          <p:cNvPr id="12" name="TextBox 11"/>
          <p:cNvSpPr txBox="1"/>
          <p:nvPr/>
        </p:nvSpPr>
        <p:spPr>
          <a:xfrm>
            <a:off x="6144768" y="1280160"/>
            <a:ext cx="2706624" cy="237744"/>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Output</a:t>
            </a:r>
          </a:p>
        </p:txBody>
      </p:sp>
      <p:sp>
        <p:nvSpPr>
          <p:cNvPr id="13" name="Rectangle 12"/>
          <p:cNvSpPr/>
          <p:nvPr/>
        </p:nvSpPr>
        <p:spPr>
          <a:xfrm>
            <a:off x="228600" y="1545336"/>
            <a:ext cx="8686800" cy="31089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 y="1591056"/>
            <a:ext cx="60350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a:t>
            </a:r>
          </a:p>
        </p:txBody>
      </p:sp>
      <p:sp>
        <p:nvSpPr>
          <p:cNvPr id="15" name="TextBox 14"/>
          <p:cNvSpPr txBox="1"/>
          <p:nvPr/>
        </p:nvSpPr>
        <p:spPr>
          <a:xfrm>
            <a:off x="1024128" y="1591056"/>
            <a:ext cx="224942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Geometry normalisation</a:t>
            </a:r>
          </a:p>
        </p:txBody>
      </p:sp>
      <p:sp>
        <p:nvSpPr>
          <p:cNvPr id="16" name="TextBox 15"/>
          <p:cNvSpPr txBox="1"/>
          <p:nvPr/>
        </p:nvSpPr>
        <p:spPr>
          <a:xfrm>
            <a:off x="3401568" y="1591056"/>
            <a:ext cx="261518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Any IFC representation type</a:t>
            </a:r>
          </a:p>
        </p:txBody>
      </p:sp>
      <p:sp>
        <p:nvSpPr>
          <p:cNvPr id="17" name="TextBox 16"/>
          <p:cNvSpPr txBox="1"/>
          <p:nvPr/>
        </p:nvSpPr>
        <p:spPr>
          <a:xfrm>
            <a:off x="6144768" y="1591056"/>
            <a:ext cx="270662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World-coordinate bounding boxes, mm</a:t>
            </a:r>
          </a:p>
        </p:txBody>
      </p:sp>
      <p:sp>
        <p:nvSpPr>
          <p:cNvPr id="18" name="Rectangle 17"/>
          <p:cNvSpPr/>
          <p:nvPr/>
        </p:nvSpPr>
        <p:spPr>
          <a:xfrm>
            <a:off x="228600" y="1856232"/>
            <a:ext cx="8686800" cy="31089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608" y="1901952"/>
            <a:ext cx="60350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a:t>
            </a:r>
          </a:p>
        </p:txBody>
      </p:sp>
      <p:sp>
        <p:nvSpPr>
          <p:cNvPr id="20" name="TextBox 19"/>
          <p:cNvSpPr txBox="1"/>
          <p:nvPr/>
        </p:nvSpPr>
        <p:spPr>
          <a:xfrm>
            <a:off x="1024128" y="1901952"/>
            <a:ext cx="224942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Halo generation</a:t>
            </a:r>
          </a:p>
        </p:txBody>
      </p:sp>
      <p:sp>
        <p:nvSpPr>
          <p:cNvPr id="21" name="TextBox 20"/>
          <p:cNvSpPr txBox="1"/>
          <p:nvPr/>
        </p:nvSpPr>
        <p:spPr>
          <a:xfrm>
            <a:off x="3401568" y="1901952"/>
            <a:ext cx="261518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Element bbox + jurisdiction rule</a:t>
            </a:r>
          </a:p>
        </p:txBody>
      </p:sp>
      <p:sp>
        <p:nvSpPr>
          <p:cNvPr id="22" name="TextBox 21"/>
          <p:cNvSpPr txBox="1"/>
          <p:nvPr/>
        </p:nvSpPr>
        <p:spPr>
          <a:xfrm>
            <a:off x="6144768" y="1901952"/>
            <a:ext cx="270662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Expanded clearance envelope per element</a:t>
            </a:r>
          </a:p>
        </p:txBody>
      </p:sp>
      <p:sp>
        <p:nvSpPr>
          <p:cNvPr id="23" name="Rectangle 22"/>
          <p:cNvSpPr/>
          <p:nvPr/>
        </p:nvSpPr>
        <p:spPr>
          <a:xfrm>
            <a:off x="228600" y="2167128"/>
            <a:ext cx="8686800" cy="31089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2212848"/>
            <a:ext cx="60350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a:t>
            </a:r>
          </a:p>
        </p:txBody>
      </p:sp>
      <p:sp>
        <p:nvSpPr>
          <p:cNvPr id="25" name="TextBox 24"/>
          <p:cNvSpPr txBox="1"/>
          <p:nvPr/>
        </p:nvSpPr>
        <p:spPr>
          <a:xfrm>
            <a:off x="1024128" y="2212848"/>
            <a:ext cx="224942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Spatial indexing</a:t>
            </a:r>
          </a:p>
        </p:txBody>
      </p:sp>
      <p:sp>
        <p:nvSpPr>
          <p:cNvPr id="26" name="TextBox 25"/>
          <p:cNvSpPr txBox="1"/>
          <p:nvPr/>
        </p:nvSpPr>
        <p:spPr>
          <a:xfrm>
            <a:off x="3401568" y="2212848"/>
            <a:ext cx="261518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All candidate geometries</a:t>
            </a:r>
          </a:p>
        </p:txBody>
      </p:sp>
      <p:sp>
        <p:nvSpPr>
          <p:cNvPr id="27" name="TextBox 26"/>
          <p:cNvSpPr txBox="1"/>
          <p:nvPr/>
        </p:nvSpPr>
        <p:spPr>
          <a:xfrm>
            <a:off x="6144768" y="2212848"/>
            <a:ext cx="270662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Uniform grid, cell-bucketed</a:t>
            </a:r>
          </a:p>
        </p:txBody>
      </p:sp>
      <p:sp>
        <p:nvSpPr>
          <p:cNvPr id="28" name="Rectangle 27"/>
          <p:cNvSpPr/>
          <p:nvPr/>
        </p:nvSpPr>
        <p:spPr>
          <a:xfrm>
            <a:off x="228600" y="2478024"/>
            <a:ext cx="8686800" cy="31089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523744"/>
            <a:ext cx="60350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a:t>
            </a:r>
          </a:p>
        </p:txBody>
      </p:sp>
      <p:sp>
        <p:nvSpPr>
          <p:cNvPr id="30" name="TextBox 29"/>
          <p:cNvSpPr txBox="1"/>
          <p:nvPr/>
        </p:nvSpPr>
        <p:spPr>
          <a:xfrm>
            <a:off x="1024128" y="2523744"/>
            <a:ext cx="224942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Collision detection</a:t>
            </a:r>
          </a:p>
        </p:txBody>
      </p:sp>
      <p:sp>
        <p:nvSpPr>
          <p:cNvPr id="31" name="TextBox 30"/>
          <p:cNvSpPr txBox="1"/>
          <p:nvPr/>
        </p:nvSpPr>
        <p:spPr>
          <a:xfrm>
            <a:off x="3401568" y="2523744"/>
            <a:ext cx="261518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Halo + indexed candidates</a:t>
            </a:r>
          </a:p>
        </p:txBody>
      </p:sp>
      <p:sp>
        <p:nvSpPr>
          <p:cNvPr id="32" name="TextBox 31"/>
          <p:cNvSpPr txBox="1"/>
          <p:nvPr/>
        </p:nvSpPr>
        <p:spPr>
          <a:xfrm>
            <a:off x="6144768" y="2523744"/>
            <a:ext cx="270662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ClashReport per intersection, severity banded</a:t>
            </a:r>
          </a:p>
        </p:txBody>
      </p:sp>
      <p:sp>
        <p:nvSpPr>
          <p:cNvPr id="33" name="TextBox 32"/>
          <p:cNvSpPr txBox="1"/>
          <p:nvPr/>
        </p:nvSpPr>
        <p:spPr>
          <a:xfrm>
            <a:off x="228600" y="288036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Separation matters for diagnosis: a model that yields no halos has failed Phase 1, and the run says so rather than reporting zero conflicts as a clean result.</a:t>
            </a:r>
          </a:p>
        </p:txBody>
      </p:sp>
      <p:sp>
        <p:nvSpPr>
          <p:cNvPr id="34" name="TextBox 33"/>
          <p:cNvSpPr txBox="1"/>
          <p:nvPr/>
        </p:nvSpPr>
        <p:spPr>
          <a:xfrm>
            <a:off x="228600" y="365760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Measured on the corpus: Phase 1 resolved geometry for 49,736 of 49,736 MEP elements — 100%.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Phase 1 — geometry normalisation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The phase that decides whether anything else can run</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785872" cy="6400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Why it is not trivial</a:t>
            </a:r>
          </a:p>
        </p:txBody>
      </p:sp>
      <p:sp>
        <p:nvSpPr>
          <p:cNvPr id="11" name="TextBox 10"/>
          <p:cNvSpPr txBox="1"/>
          <p:nvPr/>
        </p:nvSpPr>
        <p:spPr>
          <a:xfrm>
            <a:off x="338328"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Real exports overwhelmingly use IfcMappedItem and IfcFacetedBrep. A fast vertex reader handling only tessellated sets, polylines and swept solids resolves none of them — measured at 0 of 87 elements on the AISC steel models.</a:t>
            </a:r>
          </a:p>
        </p:txBody>
      </p:sp>
      <p:sp>
        <p:nvSpPr>
          <p:cNvPr id="12" name="Rectangle 11"/>
          <p:cNvSpPr/>
          <p:nvPr/>
        </p:nvSpPr>
        <p:spPr>
          <a:xfrm>
            <a:off x="3179064"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179064" y="1234440"/>
            <a:ext cx="2785872"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88792"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What the harness does</a:t>
            </a:r>
          </a:p>
        </p:txBody>
      </p:sp>
      <p:sp>
        <p:nvSpPr>
          <p:cNvPr id="15" name="TextBox 14"/>
          <p:cNvSpPr txBox="1"/>
          <p:nvPr/>
        </p:nvSpPr>
        <p:spPr>
          <a:xfrm>
            <a:off x="3288792"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Evaluates real geometry through ifcopenshell.geom's multithreaded iterator, which handles every representation type, then converts to axis-aligned boxes in millimetres.</a:t>
            </a:r>
          </a:p>
        </p:txBody>
      </p:sp>
      <p:sp>
        <p:nvSpPr>
          <p:cNvPr id="16" name="Rectangle 15"/>
          <p:cNvSpPr/>
          <p:nvPr/>
        </p:nvSpPr>
        <p:spPr>
          <a:xfrm>
            <a:off x="6129528"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9528" y="1234440"/>
            <a:ext cx="2785872" cy="640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9256"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Two settings that decide correctness</a:t>
            </a:r>
          </a:p>
        </p:txBody>
      </p:sp>
      <p:sp>
        <p:nvSpPr>
          <p:cNvPr id="19" name="TextBox 18"/>
          <p:cNvSpPr txBox="1"/>
          <p:nvPr/>
        </p:nvSpPr>
        <p:spPr>
          <a:xfrm>
            <a:off x="6239256"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use-world-coords must be set, or every element returns in local coordinates near the origin and everything appears to clash. The iterator emits SI metres regardless of declared file units, so results scale by 1000.</a:t>
            </a:r>
          </a:p>
        </p:txBody>
      </p:sp>
      <p:sp>
        <p:nvSpPr>
          <p:cNvPr id="20" name="TextBox 19"/>
          <p:cNvSpPr txBox="1"/>
          <p:nvPr/>
        </p:nvSpPr>
        <p:spPr>
          <a:xfrm>
            <a:off x="228600" y="416052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Verified against a fixture whose true extents are known exactly, so the unit handling is checked rather than assumed.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Phase 2 — halo generation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Deterministic, and traceable to a clause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Read the rule, not a constant</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brace variant selects a ClearanceRule from the loaded jurisdiction config. Base clearance, spacing and angle limits all come from the pack.</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Expand uniformly</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element bounding box grows by the effective clearance on every face, producing an axis-aligned envelope in millimetres.</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Record what produced it</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Each HaloVolume carries the rule variant, the clearance applied and the flags that modified it, so a volume can be traced back to the standard clause.</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Immutable with respect to source</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original element geometry is never mutated; the halo is a separate object keyed by GlobalId.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Phase 3 — spatial indexing</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Why brute-force pairing does not finish</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325880"/>
            <a:ext cx="8686800" cy="7315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490472"/>
            <a:ext cx="8503920" cy="457200"/>
          </a:xfrm>
          <a:prstGeom prst="rect">
            <a:avLst/>
          </a:prstGeom>
          <a:noFill/>
        </p:spPr>
        <p:txBody>
          <a:bodyPr wrap="square" anchor="t" lIns="0" rIns="0" tIns="0" bIns="0">
            <a:spAutoFit/>
          </a:bodyPr>
          <a:lstStyle/>
          <a:p>
            <a:pPr algn="ctr">
              <a:lnSpc>
                <a:spcPct val="100000"/>
              </a:lnSpc>
            </a:pPr>
            <a:r>
              <a:rPr sz="1800" b="1">
                <a:solidFill>
                  <a:srgbClr val="1F3864"/>
                </a:solidFill>
                <a:latin typeface="Calibri"/>
              </a:rPr>
              <a:t>brute force  O(n²)   →   uniform grid  ≈ O(n)  for spatially sparse models</a:t>
            </a:r>
          </a:p>
        </p:txBody>
      </p:sp>
      <p:sp>
        <p:nvSpPr>
          <p:cNvPr id="10" name="TextBox 9"/>
          <p:cNvSpPr txBox="1"/>
          <p:nvPr/>
        </p:nvSpPr>
        <p:spPr>
          <a:xfrm>
            <a:off x="228600" y="2148840"/>
            <a:ext cx="8686800" cy="274320"/>
          </a:xfrm>
          <a:prstGeom prst="rect">
            <a:avLst/>
          </a:prstGeom>
          <a:noFill/>
        </p:spPr>
        <p:txBody>
          <a:bodyPr wrap="square" anchor="t" lIns="0" rIns="0" tIns="0" bIns="0">
            <a:spAutoFit/>
          </a:bodyPr>
          <a:lstStyle/>
          <a:p>
            <a:pPr algn="ctr">
              <a:lnSpc>
                <a:spcPct val="100000"/>
              </a:lnSpc>
            </a:pPr>
            <a:r>
              <a:rPr sz="1050" b="0">
                <a:solidFill>
                  <a:srgbClr val="8896A6"/>
                </a:solidFill>
                <a:latin typeface="Calibri"/>
              </a:rPr>
              <a:t>West Riverside mechanical alone carries 8,732 duct and pipe segments: 76 million pair tests without pre-filtering.</a:t>
            </a:r>
          </a:p>
        </p:txBody>
      </p:sp>
      <p:sp>
        <p:nvSpPr>
          <p:cNvPr id="11" name="Rectangle 10"/>
          <p:cNvSpPr/>
          <p:nvPr/>
        </p:nvSpPr>
        <p:spPr>
          <a:xfrm>
            <a:off x="228600" y="2331720"/>
            <a:ext cx="2785872" cy="12344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28600" y="2331720"/>
            <a:ext cx="2785872"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 y="251460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Cell sizing</a:t>
            </a:r>
          </a:p>
        </p:txBody>
      </p:sp>
      <p:sp>
        <p:nvSpPr>
          <p:cNvPr id="14" name="TextBox 13"/>
          <p:cNvSpPr txBox="1"/>
          <p:nvPr/>
        </p:nvSpPr>
        <p:spPr>
          <a:xfrm>
            <a:off x="338328" y="2953512"/>
            <a:ext cx="2566416" cy="5029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Cell edge is the median element extent, floored at four times the clearance, so a halo touches few cells.</a:t>
            </a:r>
          </a:p>
        </p:txBody>
      </p:sp>
      <p:sp>
        <p:nvSpPr>
          <p:cNvPr id="15" name="Rectangle 14"/>
          <p:cNvSpPr/>
          <p:nvPr/>
        </p:nvSpPr>
        <p:spPr>
          <a:xfrm>
            <a:off x="3179064" y="2331720"/>
            <a:ext cx="2785872" cy="12344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179064" y="2331720"/>
            <a:ext cx="2785872" cy="6400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88792" y="251460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Bucketing</a:t>
            </a:r>
          </a:p>
        </p:txBody>
      </p:sp>
      <p:sp>
        <p:nvSpPr>
          <p:cNvPr id="18" name="TextBox 17"/>
          <p:cNvSpPr txBox="1"/>
          <p:nvPr/>
        </p:nvSpPr>
        <p:spPr>
          <a:xfrm>
            <a:off x="3288792" y="2953512"/>
            <a:ext cx="2566416" cy="5029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Every candidate bbox is inserted into each cell it overlaps; a halo queries only its own cells.</a:t>
            </a:r>
          </a:p>
        </p:txBody>
      </p:sp>
      <p:sp>
        <p:nvSpPr>
          <p:cNvPr id="19" name="Rectangle 18"/>
          <p:cNvSpPr/>
          <p:nvPr/>
        </p:nvSpPr>
        <p:spPr>
          <a:xfrm>
            <a:off x="6129528" y="2331720"/>
            <a:ext cx="2785872" cy="12344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9528" y="2331720"/>
            <a:ext cx="2785872" cy="640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9256" y="251460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Exactness preserved</a:t>
            </a:r>
          </a:p>
        </p:txBody>
      </p:sp>
      <p:sp>
        <p:nvSpPr>
          <p:cNvPr id="22" name="TextBox 21"/>
          <p:cNvSpPr txBox="1"/>
          <p:nvPr/>
        </p:nvSpPr>
        <p:spPr>
          <a:xfrm>
            <a:off x="6239256" y="2953512"/>
            <a:ext cx="2566416" cy="5029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Results are identical to brute-force pairing. Only the comparisons that could not intersect are removed.</a:t>
            </a:r>
          </a:p>
        </p:txBody>
      </p:sp>
      <p:sp>
        <p:nvSpPr>
          <p:cNvPr id="23" name="TextBox 22"/>
          <p:cNvSpPr txBox="1"/>
          <p:nvPr/>
        </p:nvSpPr>
        <p:spPr>
          <a:xfrm>
            <a:off x="228600" y="3749039"/>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This is the difference between a sweep that completes in an hour and one that does not complete.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Phase 4 — collision detection and severity</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AABB intersection, banded by overlap fraction</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80160"/>
            <a:ext cx="8686800" cy="64008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444751"/>
            <a:ext cx="8503920" cy="365759"/>
          </a:xfrm>
          <a:prstGeom prst="rect">
            <a:avLst/>
          </a:prstGeom>
          <a:noFill/>
        </p:spPr>
        <p:txBody>
          <a:bodyPr wrap="square" anchor="t" lIns="0" rIns="0" tIns="0" bIns="0">
            <a:spAutoFit/>
          </a:bodyPr>
          <a:lstStyle/>
          <a:p>
            <a:pPr algn="ctr">
              <a:lnSpc>
                <a:spcPct val="100000"/>
              </a:lnSpc>
            </a:pPr>
            <a:r>
              <a:rPr sz="1800" b="1">
                <a:solidFill>
                  <a:srgbClr val="1F3864"/>
                </a:solidFill>
                <a:latin typeface="Calibri"/>
              </a:rPr>
              <a:t>overlap_ratio  =  overlap_volume  ÷  halo_volume</a:t>
            </a:r>
          </a:p>
        </p:txBody>
      </p:sp>
      <p:sp>
        <p:nvSpPr>
          <p:cNvPr id="10" name="Rectangle 9"/>
          <p:cNvSpPr/>
          <p:nvPr/>
        </p:nvSpPr>
        <p:spPr>
          <a:xfrm>
            <a:off x="228600" y="2103120"/>
            <a:ext cx="8686800" cy="2926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 y="2148839"/>
            <a:ext cx="1461032"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Band</a:t>
            </a:r>
          </a:p>
        </p:txBody>
      </p:sp>
      <p:sp>
        <p:nvSpPr>
          <p:cNvPr id="12" name="TextBox 11"/>
          <p:cNvSpPr txBox="1"/>
          <p:nvPr/>
        </p:nvSpPr>
        <p:spPr>
          <a:xfrm>
            <a:off x="1881656" y="2148839"/>
            <a:ext cx="1990715"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Threshold</a:t>
            </a:r>
          </a:p>
        </p:txBody>
      </p:sp>
      <p:sp>
        <p:nvSpPr>
          <p:cNvPr id="13" name="TextBox 12"/>
          <p:cNvSpPr txBox="1"/>
          <p:nvPr/>
        </p:nvSpPr>
        <p:spPr>
          <a:xfrm>
            <a:off x="4000388" y="2148839"/>
            <a:ext cx="3261954"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Measured across corpus</a:t>
            </a:r>
          </a:p>
        </p:txBody>
      </p:sp>
      <p:sp>
        <p:nvSpPr>
          <p:cNvPr id="14" name="TextBox 13"/>
          <p:cNvSpPr txBox="1"/>
          <p:nvPr/>
        </p:nvSpPr>
        <p:spPr>
          <a:xfrm>
            <a:off x="7390359" y="2148839"/>
            <a:ext cx="1461032"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Share</a:t>
            </a:r>
          </a:p>
        </p:txBody>
      </p:sp>
      <p:sp>
        <p:nvSpPr>
          <p:cNvPr id="15" name="Rectangle 14"/>
          <p:cNvSpPr/>
          <p:nvPr/>
        </p:nvSpPr>
        <p:spPr>
          <a:xfrm>
            <a:off x="228600" y="2395727"/>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2608" y="2441447"/>
            <a:ext cx="1461032" cy="219456"/>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Critical</a:t>
            </a:r>
          </a:p>
        </p:txBody>
      </p:sp>
      <p:sp>
        <p:nvSpPr>
          <p:cNvPr id="17" name="TextBox 16"/>
          <p:cNvSpPr txBox="1"/>
          <p:nvPr/>
        </p:nvSpPr>
        <p:spPr>
          <a:xfrm>
            <a:off x="1881656" y="2441447"/>
            <a:ext cx="199071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ratio ≥ 0.25</a:t>
            </a:r>
          </a:p>
        </p:txBody>
      </p:sp>
      <p:sp>
        <p:nvSpPr>
          <p:cNvPr id="18" name="TextBox 17"/>
          <p:cNvSpPr txBox="1"/>
          <p:nvPr/>
        </p:nvSpPr>
        <p:spPr>
          <a:xfrm>
            <a:off x="4000388" y="2441447"/>
            <a:ext cx="326195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5,236</a:t>
            </a:r>
          </a:p>
        </p:txBody>
      </p:sp>
      <p:sp>
        <p:nvSpPr>
          <p:cNvPr id="19" name="TextBox 18"/>
          <p:cNvSpPr txBox="1"/>
          <p:nvPr/>
        </p:nvSpPr>
        <p:spPr>
          <a:xfrm>
            <a:off x="7390359" y="2441447"/>
            <a:ext cx="1461032"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2.34%</a:t>
            </a:r>
          </a:p>
        </p:txBody>
      </p:sp>
      <p:sp>
        <p:nvSpPr>
          <p:cNvPr id="20" name="Rectangle 19"/>
          <p:cNvSpPr/>
          <p:nvPr/>
        </p:nvSpPr>
        <p:spPr>
          <a:xfrm>
            <a:off x="228600" y="2688335"/>
            <a:ext cx="8686800" cy="29260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734055"/>
            <a:ext cx="1461032" cy="219456"/>
          </a:xfrm>
          <a:prstGeom prst="rect">
            <a:avLst/>
          </a:prstGeom>
          <a:noFill/>
        </p:spPr>
        <p:txBody>
          <a:bodyPr wrap="square" anchor="t" lIns="0" rIns="0" tIns="0" bIns="0">
            <a:spAutoFit/>
          </a:bodyPr>
          <a:lstStyle/>
          <a:p>
            <a:pPr algn="l">
              <a:lnSpc>
                <a:spcPct val="100000"/>
              </a:lnSpc>
            </a:pPr>
            <a:r>
              <a:rPr sz="1100" b="1">
                <a:solidFill>
                  <a:srgbClr val="854F0B"/>
                </a:solidFill>
                <a:latin typeface="Calibri"/>
              </a:rPr>
              <a:t>Major</a:t>
            </a:r>
          </a:p>
        </p:txBody>
      </p:sp>
      <p:sp>
        <p:nvSpPr>
          <p:cNvPr id="22" name="TextBox 21"/>
          <p:cNvSpPr txBox="1"/>
          <p:nvPr/>
        </p:nvSpPr>
        <p:spPr>
          <a:xfrm>
            <a:off x="1881656" y="2734055"/>
            <a:ext cx="199071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ratio ≥ 0.05</a:t>
            </a:r>
          </a:p>
        </p:txBody>
      </p:sp>
      <p:sp>
        <p:nvSpPr>
          <p:cNvPr id="23" name="TextBox 22"/>
          <p:cNvSpPr txBox="1"/>
          <p:nvPr/>
        </p:nvSpPr>
        <p:spPr>
          <a:xfrm>
            <a:off x="4000388" y="2734055"/>
            <a:ext cx="326195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6,699</a:t>
            </a:r>
          </a:p>
        </p:txBody>
      </p:sp>
      <p:sp>
        <p:nvSpPr>
          <p:cNvPr id="24" name="TextBox 23"/>
          <p:cNvSpPr txBox="1"/>
          <p:nvPr/>
        </p:nvSpPr>
        <p:spPr>
          <a:xfrm>
            <a:off x="7390359" y="2734055"/>
            <a:ext cx="1461032"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3.00%</a:t>
            </a:r>
          </a:p>
        </p:txBody>
      </p:sp>
      <p:sp>
        <p:nvSpPr>
          <p:cNvPr id="25" name="Rectangle 24"/>
          <p:cNvSpPr/>
          <p:nvPr/>
        </p:nvSpPr>
        <p:spPr>
          <a:xfrm>
            <a:off x="228600" y="2980944"/>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2608" y="3026663"/>
            <a:ext cx="1461032" cy="219456"/>
          </a:xfrm>
          <a:prstGeom prst="rect">
            <a:avLst/>
          </a:prstGeom>
          <a:noFill/>
        </p:spPr>
        <p:txBody>
          <a:bodyPr wrap="square" anchor="t" lIns="0" rIns="0" tIns="0" bIns="0">
            <a:spAutoFit/>
          </a:bodyPr>
          <a:lstStyle/>
          <a:p>
            <a:pPr algn="l">
              <a:lnSpc>
                <a:spcPct val="100000"/>
              </a:lnSpc>
            </a:pPr>
            <a:r>
              <a:rPr sz="1100" b="1">
                <a:solidFill>
                  <a:srgbClr val="1E7A4B"/>
                </a:solidFill>
                <a:latin typeface="Calibri"/>
              </a:rPr>
              <a:t>Minor</a:t>
            </a:r>
          </a:p>
        </p:txBody>
      </p:sp>
      <p:sp>
        <p:nvSpPr>
          <p:cNvPr id="27" name="TextBox 26"/>
          <p:cNvSpPr txBox="1"/>
          <p:nvPr/>
        </p:nvSpPr>
        <p:spPr>
          <a:xfrm>
            <a:off x="1881656" y="3026663"/>
            <a:ext cx="199071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ratio &lt; 0.05</a:t>
            </a:r>
          </a:p>
        </p:txBody>
      </p:sp>
      <p:sp>
        <p:nvSpPr>
          <p:cNvPr id="28" name="TextBox 27"/>
          <p:cNvSpPr txBox="1"/>
          <p:nvPr/>
        </p:nvSpPr>
        <p:spPr>
          <a:xfrm>
            <a:off x="4000388" y="3026663"/>
            <a:ext cx="326195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211,581</a:t>
            </a:r>
          </a:p>
        </p:txBody>
      </p:sp>
      <p:sp>
        <p:nvSpPr>
          <p:cNvPr id="29" name="TextBox 28"/>
          <p:cNvSpPr txBox="1"/>
          <p:nvPr/>
        </p:nvSpPr>
        <p:spPr>
          <a:xfrm>
            <a:off x="7390359" y="3026663"/>
            <a:ext cx="1461032"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94.66%</a:t>
            </a:r>
          </a:p>
        </p:txBody>
      </p:sp>
      <p:sp>
        <p:nvSpPr>
          <p:cNvPr id="30" name="TextBox 29"/>
          <p:cNvSpPr txBox="1"/>
          <p:nvPr/>
        </p:nvSpPr>
        <p:spPr>
          <a:xfrm>
            <a:off x="228600" y="342900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The banding is a spatial heuristic, not a standards-derived threshold — stated as such in Appendix B under threats to validity. Table B.6 shows how sensitive the totals are to the clearance input, which is the stronger reason to treat severity as triage rather than verdict.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Hospital MEP corridor — brace family comparison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One element, three candidate supports, one clearance regime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926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176645"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Brace family</a:t>
            </a:r>
          </a:p>
        </p:txBody>
      </p:sp>
      <p:sp>
        <p:nvSpPr>
          <p:cNvPr id="10" name="TextBox 9"/>
          <p:cNvSpPr txBox="1"/>
          <p:nvPr/>
        </p:nvSpPr>
        <p:spPr>
          <a:xfrm>
            <a:off x="2597269" y="1280160"/>
            <a:ext cx="1112955"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Clearance</a:t>
            </a:r>
          </a:p>
        </p:txBody>
      </p:sp>
      <p:sp>
        <p:nvSpPr>
          <p:cNvPr id="11" name="TextBox 10"/>
          <p:cNvSpPr txBox="1"/>
          <p:nvPr/>
        </p:nvSpPr>
        <p:spPr>
          <a:xfrm>
            <a:off x="3838240" y="1280160"/>
            <a:ext cx="1999363"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Halo volume (mm³)</a:t>
            </a:r>
          </a:p>
        </p:txBody>
      </p:sp>
      <p:sp>
        <p:nvSpPr>
          <p:cNvPr id="12" name="TextBox 11"/>
          <p:cNvSpPr txBox="1"/>
          <p:nvPr/>
        </p:nvSpPr>
        <p:spPr>
          <a:xfrm>
            <a:off x="5965620" y="1280160"/>
            <a:ext cx="935673"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Conflicts</a:t>
            </a:r>
          </a:p>
        </p:txBody>
      </p:sp>
      <p:sp>
        <p:nvSpPr>
          <p:cNvPr id="13" name="TextBox 12"/>
          <p:cNvSpPr txBox="1"/>
          <p:nvPr/>
        </p:nvSpPr>
        <p:spPr>
          <a:xfrm>
            <a:off x="7029310" y="1280160"/>
            <a:ext cx="1822081"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Recommendation</a:t>
            </a:r>
          </a:p>
        </p:txBody>
      </p:sp>
      <p:sp>
        <p:nvSpPr>
          <p:cNvPr id="14" name="Rectangle 13"/>
          <p:cNvSpPr/>
          <p:nvPr/>
        </p:nvSpPr>
        <p:spPr>
          <a:xfrm>
            <a:off x="228600" y="1527048"/>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2608" y="1572768"/>
            <a:ext cx="217664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Angle iron — fire</a:t>
            </a:r>
          </a:p>
        </p:txBody>
      </p:sp>
      <p:sp>
        <p:nvSpPr>
          <p:cNvPr id="16" name="TextBox 15"/>
          <p:cNvSpPr txBox="1"/>
          <p:nvPr/>
        </p:nvSpPr>
        <p:spPr>
          <a:xfrm>
            <a:off x="2597269" y="1572768"/>
            <a:ext cx="111295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200 mm</a:t>
            </a:r>
          </a:p>
        </p:txBody>
      </p:sp>
      <p:sp>
        <p:nvSpPr>
          <p:cNvPr id="17" name="TextBox 16"/>
          <p:cNvSpPr txBox="1"/>
          <p:nvPr/>
        </p:nvSpPr>
        <p:spPr>
          <a:xfrm>
            <a:off x="3838240" y="1572768"/>
            <a:ext cx="199936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688,500,000</a:t>
            </a:r>
          </a:p>
        </p:txBody>
      </p:sp>
      <p:sp>
        <p:nvSpPr>
          <p:cNvPr id="18" name="TextBox 17"/>
          <p:cNvSpPr txBox="1"/>
          <p:nvPr/>
        </p:nvSpPr>
        <p:spPr>
          <a:xfrm>
            <a:off x="5965620" y="1572768"/>
            <a:ext cx="93567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a:t>
            </a:r>
          </a:p>
        </p:txBody>
      </p:sp>
      <p:sp>
        <p:nvSpPr>
          <p:cNvPr id="19" name="TextBox 18"/>
          <p:cNvSpPr txBox="1"/>
          <p:nvPr/>
        </p:nvSpPr>
        <p:spPr>
          <a:xfrm>
            <a:off x="7029310" y="1572768"/>
            <a:ext cx="1822081"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Marginal</a:t>
            </a:r>
          </a:p>
        </p:txBody>
      </p:sp>
      <p:sp>
        <p:nvSpPr>
          <p:cNvPr id="20" name="Rectangle 19"/>
          <p:cNvSpPr/>
          <p:nvPr/>
        </p:nvSpPr>
        <p:spPr>
          <a:xfrm>
            <a:off x="228600" y="1819656"/>
            <a:ext cx="8686800" cy="29260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1865376"/>
            <a:ext cx="217664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Angle iron — mechanical</a:t>
            </a:r>
          </a:p>
        </p:txBody>
      </p:sp>
      <p:sp>
        <p:nvSpPr>
          <p:cNvPr id="22" name="TextBox 21"/>
          <p:cNvSpPr txBox="1"/>
          <p:nvPr/>
        </p:nvSpPr>
        <p:spPr>
          <a:xfrm>
            <a:off x="2597269" y="1865376"/>
            <a:ext cx="111295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200 mm</a:t>
            </a:r>
          </a:p>
        </p:txBody>
      </p:sp>
      <p:sp>
        <p:nvSpPr>
          <p:cNvPr id="23" name="TextBox 22"/>
          <p:cNvSpPr txBox="1"/>
          <p:nvPr/>
        </p:nvSpPr>
        <p:spPr>
          <a:xfrm>
            <a:off x="3838240" y="1865376"/>
            <a:ext cx="199936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688,500,000</a:t>
            </a:r>
          </a:p>
        </p:txBody>
      </p:sp>
      <p:sp>
        <p:nvSpPr>
          <p:cNvPr id="24" name="TextBox 23"/>
          <p:cNvSpPr txBox="1"/>
          <p:nvPr/>
        </p:nvSpPr>
        <p:spPr>
          <a:xfrm>
            <a:off x="5965620" y="1865376"/>
            <a:ext cx="93567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a:t>
            </a:r>
          </a:p>
        </p:txBody>
      </p:sp>
      <p:sp>
        <p:nvSpPr>
          <p:cNvPr id="25" name="TextBox 24"/>
          <p:cNvSpPr txBox="1"/>
          <p:nvPr/>
        </p:nvSpPr>
        <p:spPr>
          <a:xfrm>
            <a:off x="7029310" y="1865376"/>
            <a:ext cx="1822081"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Marginal</a:t>
            </a:r>
          </a:p>
        </p:txBody>
      </p:sp>
      <p:sp>
        <p:nvSpPr>
          <p:cNvPr id="26" name="Rectangle 25"/>
          <p:cNvSpPr/>
          <p:nvPr/>
        </p:nvSpPr>
        <p:spPr>
          <a:xfrm>
            <a:off x="228600" y="2112264"/>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8" y="2157984"/>
            <a:ext cx="217664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Rod</a:t>
            </a:r>
          </a:p>
        </p:txBody>
      </p:sp>
      <p:sp>
        <p:nvSpPr>
          <p:cNvPr id="28" name="TextBox 27"/>
          <p:cNvSpPr txBox="1"/>
          <p:nvPr/>
        </p:nvSpPr>
        <p:spPr>
          <a:xfrm>
            <a:off x="2597269" y="2157984"/>
            <a:ext cx="111295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200 mm</a:t>
            </a:r>
          </a:p>
        </p:txBody>
      </p:sp>
      <p:sp>
        <p:nvSpPr>
          <p:cNvPr id="29" name="TextBox 28"/>
          <p:cNvSpPr txBox="1"/>
          <p:nvPr/>
        </p:nvSpPr>
        <p:spPr>
          <a:xfrm>
            <a:off x="3838240" y="2157984"/>
            <a:ext cx="199936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688,500,000</a:t>
            </a:r>
          </a:p>
        </p:txBody>
      </p:sp>
      <p:sp>
        <p:nvSpPr>
          <p:cNvPr id="30" name="TextBox 29"/>
          <p:cNvSpPr txBox="1"/>
          <p:nvPr/>
        </p:nvSpPr>
        <p:spPr>
          <a:xfrm>
            <a:off x="5965620" y="2157984"/>
            <a:ext cx="93567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a:t>
            </a:r>
          </a:p>
        </p:txBody>
      </p:sp>
      <p:sp>
        <p:nvSpPr>
          <p:cNvPr id="31" name="TextBox 30"/>
          <p:cNvSpPr txBox="1"/>
          <p:nvPr/>
        </p:nvSpPr>
        <p:spPr>
          <a:xfrm>
            <a:off x="7029310" y="2157984"/>
            <a:ext cx="1822081"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Marginal</a:t>
            </a:r>
          </a:p>
        </p:txBody>
      </p:sp>
      <p:sp>
        <p:nvSpPr>
          <p:cNvPr id="32" name="Rectangle 31"/>
          <p:cNvSpPr/>
          <p:nvPr/>
        </p:nvSpPr>
        <p:spPr>
          <a:xfrm>
            <a:off x="228600" y="2404872"/>
            <a:ext cx="8686800" cy="29260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450591"/>
            <a:ext cx="2176645" cy="219456"/>
          </a:xfrm>
          <a:prstGeom prst="rect">
            <a:avLst/>
          </a:prstGeom>
          <a:noFill/>
        </p:spPr>
        <p:txBody>
          <a:bodyPr wrap="square" anchor="t" lIns="0" rIns="0" tIns="0" bIns="0">
            <a:spAutoFit/>
          </a:bodyPr>
          <a:lstStyle/>
          <a:p>
            <a:pPr algn="l">
              <a:lnSpc>
                <a:spcPct val="100000"/>
              </a:lnSpc>
            </a:pPr>
            <a:r>
              <a:rPr sz="1100" b="1">
                <a:solidFill>
                  <a:srgbClr val="1E7A4B"/>
                </a:solidFill>
                <a:latin typeface="Calibri"/>
              </a:rPr>
              <a:t>Cable</a:t>
            </a:r>
          </a:p>
        </p:txBody>
      </p:sp>
      <p:sp>
        <p:nvSpPr>
          <p:cNvPr id="34" name="TextBox 33"/>
          <p:cNvSpPr txBox="1"/>
          <p:nvPr/>
        </p:nvSpPr>
        <p:spPr>
          <a:xfrm>
            <a:off x="2597269" y="2450591"/>
            <a:ext cx="1112955" cy="219456"/>
          </a:xfrm>
          <a:prstGeom prst="rect">
            <a:avLst/>
          </a:prstGeom>
          <a:noFill/>
        </p:spPr>
        <p:txBody>
          <a:bodyPr wrap="square" anchor="t" lIns="0" rIns="0" tIns="0" bIns="0">
            <a:spAutoFit/>
          </a:bodyPr>
          <a:lstStyle/>
          <a:p>
            <a:pPr algn="l">
              <a:lnSpc>
                <a:spcPct val="100000"/>
              </a:lnSpc>
            </a:pPr>
            <a:r>
              <a:rPr sz="1100" b="1">
                <a:solidFill>
                  <a:srgbClr val="1E7A4B"/>
                </a:solidFill>
                <a:latin typeface="Calibri"/>
              </a:rPr>
              <a:t>200 mm</a:t>
            </a:r>
          </a:p>
        </p:txBody>
      </p:sp>
      <p:sp>
        <p:nvSpPr>
          <p:cNvPr id="35" name="TextBox 34"/>
          <p:cNvSpPr txBox="1"/>
          <p:nvPr/>
        </p:nvSpPr>
        <p:spPr>
          <a:xfrm>
            <a:off x="3838240" y="2450591"/>
            <a:ext cx="1999363" cy="219456"/>
          </a:xfrm>
          <a:prstGeom prst="rect">
            <a:avLst/>
          </a:prstGeom>
          <a:noFill/>
        </p:spPr>
        <p:txBody>
          <a:bodyPr wrap="square" anchor="t" lIns="0" rIns="0" tIns="0" bIns="0">
            <a:spAutoFit/>
          </a:bodyPr>
          <a:lstStyle/>
          <a:p>
            <a:pPr algn="l">
              <a:lnSpc>
                <a:spcPct val="100000"/>
              </a:lnSpc>
            </a:pPr>
            <a:r>
              <a:rPr sz="1100" b="1">
                <a:solidFill>
                  <a:srgbClr val="1E7A4B"/>
                </a:solidFill>
                <a:latin typeface="Calibri"/>
              </a:rPr>
              <a:t>688,500,000</a:t>
            </a:r>
          </a:p>
        </p:txBody>
      </p:sp>
      <p:sp>
        <p:nvSpPr>
          <p:cNvPr id="36" name="TextBox 35"/>
          <p:cNvSpPr txBox="1"/>
          <p:nvPr/>
        </p:nvSpPr>
        <p:spPr>
          <a:xfrm>
            <a:off x="5965620" y="2450591"/>
            <a:ext cx="935673" cy="219456"/>
          </a:xfrm>
          <a:prstGeom prst="rect">
            <a:avLst/>
          </a:prstGeom>
          <a:noFill/>
        </p:spPr>
        <p:txBody>
          <a:bodyPr wrap="square" anchor="t" lIns="0" rIns="0" tIns="0" bIns="0">
            <a:spAutoFit/>
          </a:bodyPr>
          <a:lstStyle/>
          <a:p>
            <a:pPr algn="l">
              <a:lnSpc>
                <a:spcPct val="100000"/>
              </a:lnSpc>
            </a:pPr>
            <a:r>
              <a:rPr sz="1100" b="1">
                <a:solidFill>
                  <a:srgbClr val="1E7A4B"/>
                </a:solidFill>
                <a:latin typeface="Calibri"/>
              </a:rPr>
              <a:t>1</a:t>
            </a:r>
          </a:p>
        </p:txBody>
      </p:sp>
      <p:sp>
        <p:nvSpPr>
          <p:cNvPr id="37" name="TextBox 36"/>
          <p:cNvSpPr txBox="1"/>
          <p:nvPr/>
        </p:nvSpPr>
        <p:spPr>
          <a:xfrm>
            <a:off x="7029310" y="2450591"/>
            <a:ext cx="1822081" cy="219456"/>
          </a:xfrm>
          <a:prstGeom prst="rect">
            <a:avLst/>
          </a:prstGeom>
          <a:noFill/>
        </p:spPr>
        <p:txBody>
          <a:bodyPr wrap="square" anchor="t" lIns="0" rIns="0" tIns="0" bIns="0">
            <a:spAutoFit/>
          </a:bodyPr>
          <a:lstStyle/>
          <a:p>
            <a:pPr algn="l">
              <a:lnSpc>
                <a:spcPct val="100000"/>
              </a:lnSpc>
            </a:pPr>
            <a:r>
              <a:rPr sz="1100" b="1">
                <a:solidFill>
                  <a:srgbClr val="1E7A4B"/>
                </a:solidFill>
                <a:latin typeface="Calibri"/>
              </a:rPr>
              <a:t>Preferred on footprint</a:t>
            </a:r>
          </a:p>
        </p:txBody>
      </p:sp>
      <p:sp>
        <p:nvSpPr>
          <p:cNvPr id="38" name="TextBox 37"/>
          <p:cNvSpPr txBox="1"/>
          <p:nvPr/>
        </p:nvSpPr>
        <p:spPr>
          <a:xfrm>
            <a:off x="228600" y="292608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All four variants share one clearance because the EN 1998-1 + DIN 4149 research does not differentiate clearance by brace hardware — a documented data gap in that config, not a property of the building. Where a jurisdiction does differentiate, the comparison separates and the smallest-footprint family wins.</a:t>
            </a:r>
          </a:p>
        </p:txBody>
      </p:sp>
      <p:sp>
        <p:nvSpPr>
          <p:cNvPr id="39" name="TextBox 38"/>
          <p:cNvSpPr txBox="1"/>
          <p:nvPr/>
        </p:nvSpPr>
        <p:spPr>
          <a:xfrm>
            <a:off x="228600" y="3977639"/>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This is the honest form of the comparison: the method distinguishes families; this jurisdiction's data does not yet let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Standards sensitivity — the counter-intuitive result</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Raising the clearance requirement raises findings and lowers severity</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8346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1193888"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Clearance</a:t>
            </a:r>
          </a:p>
        </p:txBody>
      </p:sp>
      <p:sp>
        <p:nvSpPr>
          <p:cNvPr id="10" name="TextBox 9"/>
          <p:cNvSpPr txBox="1"/>
          <p:nvPr/>
        </p:nvSpPr>
        <p:spPr>
          <a:xfrm>
            <a:off x="1614512" y="1280160"/>
            <a:ext cx="2893479"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Jurisdiction</a:t>
            </a:r>
          </a:p>
        </p:txBody>
      </p:sp>
      <p:sp>
        <p:nvSpPr>
          <p:cNvPr id="11" name="TextBox 10"/>
          <p:cNvSpPr txBox="1"/>
          <p:nvPr/>
        </p:nvSpPr>
        <p:spPr>
          <a:xfrm>
            <a:off x="4636008" y="1280160"/>
            <a:ext cx="1571575"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Clashes</a:t>
            </a:r>
          </a:p>
        </p:txBody>
      </p:sp>
      <p:sp>
        <p:nvSpPr>
          <p:cNvPr id="12" name="TextBox 11"/>
          <p:cNvSpPr txBox="1"/>
          <p:nvPr/>
        </p:nvSpPr>
        <p:spPr>
          <a:xfrm>
            <a:off x="6335599" y="1280160"/>
            <a:ext cx="1193888"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Critical</a:t>
            </a:r>
          </a:p>
        </p:txBody>
      </p:sp>
      <p:sp>
        <p:nvSpPr>
          <p:cNvPr id="13" name="TextBox 12"/>
          <p:cNvSpPr txBox="1"/>
          <p:nvPr/>
        </p:nvSpPr>
        <p:spPr>
          <a:xfrm>
            <a:off x="7657503" y="1280160"/>
            <a:ext cx="1193888"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vs 200 mm</a:t>
            </a:r>
          </a:p>
        </p:txBody>
      </p:sp>
      <p:sp>
        <p:nvSpPr>
          <p:cNvPr id="14" name="Rectangle 13"/>
          <p:cNvSpPr/>
          <p:nvPr/>
        </p:nvSpPr>
        <p:spPr>
          <a:xfrm>
            <a:off x="228600" y="1517904"/>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2608" y="1563624"/>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25 mm</a:t>
            </a:r>
          </a:p>
        </p:txBody>
      </p:sp>
      <p:sp>
        <p:nvSpPr>
          <p:cNvPr id="16" name="TextBox 15"/>
          <p:cNvSpPr txBox="1"/>
          <p:nvPr/>
        </p:nvSpPr>
        <p:spPr>
          <a:xfrm>
            <a:off x="1614512" y="1563624"/>
            <a:ext cx="2893479"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17" name="TextBox 16"/>
          <p:cNvSpPr txBox="1"/>
          <p:nvPr/>
        </p:nvSpPr>
        <p:spPr>
          <a:xfrm>
            <a:off x="4636008" y="1563624"/>
            <a:ext cx="1571575"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30,332</a:t>
            </a:r>
          </a:p>
        </p:txBody>
      </p:sp>
      <p:sp>
        <p:nvSpPr>
          <p:cNvPr id="18" name="TextBox 17"/>
          <p:cNvSpPr txBox="1"/>
          <p:nvPr/>
        </p:nvSpPr>
        <p:spPr>
          <a:xfrm>
            <a:off x="6335599" y="1563624"/>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148</a:t>
            </a:r>
          </a:p>
        </p:txBody>
      </p:sp>
      <p:sp>
        <p:nvSpPr>
          <p:cNvPr id="19" name="TextBox 18"/>
          <p:cNvSpPr txBox="1"/>
          <p:nvPr/>
        </p:nvSpPr>
        <p:spPr>
          <a:xfrm>
            <a:off x="7657503" y="1563624"/>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0.29×</a:t>
            </a:r>
          </a:p>
        </p:txBody>
      </p:sp>
      <p:sp>
        <p:nvSpPr>
          <p:cNvPr id="20" name="Rectangle 19"/>
          <p:cNvSpPr/>
          <p:nvPr/>
        </p:nvSpPr>
        <p:spPr>
          <a:xfrm>
            <a:off x="228600" y="1801368"/>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1847088"/>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100 mm</a:t>
            </a:r>
          </a:p>
        </p:txBody>
      </p:sp>
      <p:sp>
        <p:nvSpPr>
          <p:cNvPr id="22" name="TextBox 21"/>
          <p:cNvSpPr txBox="1"/>
          <p:nvPr/>
        </p:nvSpPr>
        <p:spPr>
          <a:xfrm>
            <a:off x="1614512" y="1847088"/>
            <a:ext cx="2893479"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23" name="TextBox 22"/>
          <p:cNvSpPr txBox="1"/>
          <p:nvPr/>
        </p:nvSpPr>
        <p:spPr>
          <a:xfrm>
            <a:off x="4636008" y="1847088"/>
            <a:ext cx="1571575"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69,307</a:t>
            </a:r>
          </a:p>
        </p:txBody>
      </p:sp>
      <p:sp>
        <p:nvSpPr>
          <p:cNvPr id="24" name="TextBox 23"/>
          <p:cNvSpPr txBox="1"/>
          <p:nvPr/>
        </p:nvSpPr>
        <p:spPr>
          <a:xfrm>
            <a:off x="6335599" y="1847088"/>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38</a:t>
            </a:r>
          </a:p>
        </p:txBody>
      </p:sp>
      <p:sp>
        <p:nvSpPr>
          <p:cNvPr id="25" name="TextBox 24"/>
          <p:cNvSpPr txBox="1"/>
          <p:nvPr/>
        </p:nvSpPr>
        <p:spPr>
          <a:xfrm>
            <a:off x="7657503" y="1847088"/>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0.67×</a:t>
            </a:r>
          </a:p>
        </p:txBody>
      </p:sp>
      <p:sp>
        <p:nvSpPr>
          <p:cNvPr id="26" name="Rectangle 25"/>
          <p:cNvSpPr/>
          <p:nvPr/>
        </p:nvSpPr>
        <p:spPr>
          <a:xfrm>
            <a:off x="228600" y="2084832"/>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8" y="2130552"/>
            <a:ext cx="1193888"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200 mm</a:t>
            </a:r>
          </a:p>
        </p:txBody>
      </p:sp>
      <p:sp>
        <p:nvSpPr>
          <p:cNvPr id="28" name="TextBox 27"/>
          <p:cNvSpPr txBox="1"/>
          <p:nvPr/>
        </p:nvSpPr>
        <p:spPr>
          <a:xfrm>
            <a:off x="1614512" y="2130552"/>
            <a:ext cx="2893479"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EN 1998-1 + DIN 4149</a:t>
            </a:r>
          </a:p>
        </p:txBody>
      </p:sp>
      <p:sp>
        <p:nvSpPr>
          <p:cNvPr id="29" name="TextBox 28"/>
          <p:cNvSpPr txBox="1"/>
          <p:nvPr/>
        </p:nvSpPr>
        <p:spPr>
          <a:xfrm>
            <a:off x="4636008" y="2130552"/>
            <a:ext cx="1571575"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104,144</a:t>
            </a:r>
          </a:p>
        </p:txBody>
      </p:sp>
      <p:sp>
        <p:nvSpPr>
          <p:cNvPr id="30" name="TextBox 29"/>
          <p:cNvSpPr txBox="1"/>
          <p:nvPr/>
        </p:nvSpPr>
        <p:spPr>
          <a:xfrm>
            <a:off x="6335599" y="2130552"/>
            <a:ext cx="1193888"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31</a:t>
            </a:r>
          </a:p>
        </p:txBody>
      </p:sp>
      <p:sp>
        <p:nvSpPr>
          <p:cNvPr id="31" name="TextBox 30"/>
          <p:cNvSpPr txBox="1"/>
          <p:nvPr/>
        </p:nvSpPr>
        <p:spPr>
          <a:xfrm>
            <a:off x="7657503" y="2130552"/>
            <a:ext cx="1193888"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1.00×</a:t>
            </a:r>
          </a:p>
        </p:txBody>
      </p:sp>
      <p:sp>
        <p:nvSpPr>
          <p:cNvPr id="32" name="Rectangle 31"/>
          <p:cNvSpPr/>
          <p:nvPr/>
        </p:nvSpPr>
        <p:spPr>
          <a:xfrm>
            <a:off x="228600" y="2368296"/>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414015"/>
            <a:ext cx="1193888"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457.2 mm</a:t>
            </a:r>
          </a:p>
        </p:txBody>
      </p:sp>
      <p:sp>
        <p:nvSpPr>
          <p:cNvPr id="34" name="TextBox 33"/>
          <p:cNvSpPr txBox="1"/>
          <p:nvPr/>
        </p:nvSpPr>
        <p:spPr>
          <a:xfrm>
            <a:off x="1614512" y="2414015"/>
            <a:ext cx="2893479"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ASCE 7-22 + NFPA 13</a:t>
            </a:r>
          </a:p>
        </p:txBody>
      </p:sp>
      <p:sp>
        <p:nvSpPr>
          <p:cNvPr id="35" name="TextBox 34"/>
          <p:cNvSpPr txBox="1"/>
          <p:nvPr/>
        </p:nvSpPr>
        <p:spPr>
          <a:xfrm>
            <a:off x="4636008" y="2414015"/>
            <a:ext cx="1571575"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172,812</a:t>
            </a:r>
          </a:p>
        </p:txBody>
      </p:sp>
      <p:sp>
        <p:nvSpPr>
          <p:cNvPr id="36" name="TextBox 35"/>
          <p:cNvSpPr txBox="1"/>
          <p:nvPr/>
        </p:nvSpPr>
        <p:spPr>
          <a:xfrm>
            <a:off x="6335599" y="2414015"/>
            <a:ext cx="1193888"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16</a:t>
            </a:r>
          </a:p>
        </p:txBody>
      </p:sp>
      <p:sp>
        <p:nvSpPr>
          <p:cNvPr id="37" name="TextBox 36"/>
          <p:cNvSpPr txBox="1"/>
          <p:nvPr/>
        </p:nvSpPr>
        <p:spPr>
          <a:xfrm>
            <a:off x="7657503" y="2414015"/>
            <a:ext cx="1193888"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1.66×</a:t>
            </a:r>
          </a:p>
        </p:txBody>
      </p:sp>
      <p:sp>
        <p:nvSpPr>
          <p:cNvPr id="38" name="Rectangle 37"/>
          <p:cNvSpPr/>
          <p:nvPr/>
        </p:nvSpPr>
        <p:spPr>
          <a:xfrm>
            <a:off x="228600" y="2651760"/>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2608" y="2697480"/>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600 mm</a:t>
            </a:r>
          </a:p>
        </p:txBody>
      </p:sp>
      <p:sp>
        <p:nvSpPr>
          <p:cNvPr id="40" name="TextBox 39"/>
          <p:cNvSpPr txBox="1"/>
          <p:nvPr/>
        </p:nvSpPr>
        <p:spPr>
          <a:xfrm>
            <a:off x="1614512" y="2697480"/>
            <a:ext cx="2893479"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41" name="TextBox 40"/>
          <p:cNvSpPr txBox="1"/>
          <p:nvPr/>
        </p:nvSpPr>
        <p:spPr>
          <a:xfrm>
            <a:off x="4636008" y="2697480"/>
            <a:ext cx="1571575"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212,870</a:t>
            </a:r>
          </a:p>
        </p:txBody>
      </p:sp>
      <p:sp>
        <p:nvSpPr>
          <p:cNvPr id="42" name="TextBox 41"/>
          <p:cNvSpPr txBox="1"/>
          <p:nvPr/>
        </p:nvSpPr>
        <p:spPr>
          <a:xfrm>
            <a:off x="6335599" y="2697480"/>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11</a:t>
            </a:r>
          </a:p>
        </p:txBody>
      </p:sp>
      <p:sp>
        <p:nvSpPr>
          <p:cNvPr id="43" name="TextBox 42"/>
          <p:cNvSpPr txBox="1"/>
          <p:nvPr/>
        </p:nvSpPr>
        <p:spPr>
          <a:xfrm>
            <a:off x="7657503" y="2697480"/>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2.04×</a:t>
            </a:r>
          </a:p>
        </p:txBody>
      </p:sp>
      <p:sp>
        <p:nvSpPr>
          <p:cNvPr id="44" name="TextBox 43"/>
          <p:cNvSpPr txBox="1"/>
          <p:nvPr/>
        </p:nvSpPr>
        <p:spPr>
          <a:xfrm>
            <a:off x="228600" y="315468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Adopting the US standard over the European yields 66% more clashes but 48% fewer Critical ones. Severity is an overlap ratio against halo volume, so a larger clearance inflates the denominator faster than the numerator.</a:t>
            </a:r>
          </a:p>
        </p:txBody>
      </p:sp>
      <p:sp>
        <p:nvSpPr>
          <p:cNvPr id="45" name="TextBox 44"/>
          <p:cNvSpPr txBox="1"/>
          <p:nvPr/>
        </p:nvSpPr>
        <p:spPr>
          <a:xfrm>
            <a:off x="228600" y="402336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The finding is an argument that the severity heuristic needs rethinking, not retuning. It held on two independent model subsets, at 1.62× and 1.66×.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Validation dataset</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the algorithm was run against</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00B4D8"/>
                </a:solidFill>
                <a:latin typeface="Calibri"/>
              </a:rPr>
              <a:t>37 / 38</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models processed
8 repositories</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49,736</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MEP elements
100% geometry</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1F3864"/>
                </a:solidFill>
                <a:latin typeface="Calibri"/>
              </a:rPr>
              <a:t>223,516</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clashes detected
across the corpus</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37 / 37</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BCF archives
valid</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Corpus and controls</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Hospitals, offices, industrial plant and mixed-use, IFC2x3 and IFC4, from Revit, ArchiCAD and Autodesk toolchains. Two same-building schema twins act as controls: rows 9/14 differ by 0.00% and rows 8/13 by 0.11%, so the result does not depend on the export schema.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Validation results — tests and integrity</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Every archive parsed, not merely counted</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11 / 11</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Blue Halo harness
checks passed</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8 / 8</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end-to-end IFC
pipeline checks</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00B4D8"/>
                </a:solidFill>
                <a:latin typeface="Calibri"/>
              </a:rPr>
              <a:t>44 / 44</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HTTP route tests
(4 known-gap xfail)</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100%</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geometry resolution
49,736 elements</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What BCF validity means here</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All 37 archives were opened and every XML part parsed: bcf.version and project.bcfp present, one complete topic folder per clash carrying markup.bcf, viewpoint.bcfv and snapshot.png, zero malformed XML. Counting entries would not have established this.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Performance measured across the corpus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Where the time actually goes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743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066543"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Stage</a:t>
            </a:r>
          </a:p>
        </p:txBody>
      </p:sp>
      <p:sp>
        <p:nvSpPr>
          <p:cNvPr id="10" name="TextBox 9"/>
          <p:cNvSpPr txBox="1"/>
          <p:nvPr/>
        </p:nvSpPr>
        <p:spPr>
          <a:xfrm>
            <a:off x="2487168" y="1280160"/>
            <a:ext cx="1609343"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Measured</a:t>
            </a:r>
          </a:p>
        </p:txBody>
      </p:sp>
      <p:sp>
        <p:nvSpPr>
          <p:cNvPr id="11" name="TextBox 10"/>
          <p:cNvSpPr txBox="1"/>
          <p:nvPr/>
        </p:nvSpPr>
        <p:spPr>
          <a:xfrm>
            <a:off x="4224528" y="1280160"/>
            <a:ext cx="106070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Complexity</a:t>
            </a:r>
          </a:p>
        </p:txBody>
      </p:sp>
      <p:sp>
        <p:nvSpPr>
          <p:cNvPr id="12" name="TextBox 11"/>
          <p:cNvSpPr txBox="1"/>
          <p:nvPr/>
        </p:nvSpPr>
        <p:spPr>
          <a:xfrm>
            <a:off x="5413248" y="1280160"/>
            <a:ext cx="343814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Note</a:t>
            </a:r>
          </a:p>
        </p:txBody>
      </p:sp>
      <p:sp>
        <p:nvSpPr>
          <p:cNvPr id="13" name="Rectangle 12"/>
          <p:cNvSpPr/>
          <p:nvPr/>
        </p:nvSpPr>
        <p:spPr>
          <a:xfrm>
            <a:off x="228600" y="150876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 y="1554480"/>
            <a:ext cx="20665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Full sweep, 37 models</a:t>
            </a:r>
          </a:p>
        </p:txBody>
      </p:sp>
      <p:sp>
        <p:nvSpPr>
          <p:cNvPr id="15" name="TextBox 14"/>
          <p:cNvSpPr txBox="1"/>
          <p:nvPr/>
        </p:nvSpPr>
        <p:spPr>
          <a:xfrm>
            <a:off x="2487168" y="155448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3,594 s</a:t>
            </a:r>
          </a:p>
        </p:txBody>
      </p:sp>
      <p:sp>
        <p:nvSpPr>
          <p:cNvPr id="16" name="TextBox 15"/>
          <p:cNvSpPr txBox="1"/>
          <p:nvPr/>
        </p:nvSpPr>
        <p:spPr>
          <a:xfrm>
            <a:off x="4224528" y="1554480"/>
            <a:ext cx="10607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17" name="TextBox 16"/>
          <p:cNvSpPr txBox="1"/>
          <p:nvPr/>
        </p:nvSpPr>
        <p:spPr>
          <a:xfrm>
            <a:off x="5413248" y="1554480"/>
            <a:ext cx="34381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Download, parse, halo, clash, engines, BCF</a:t>
            </a:r>
          </a:p>
        </p:txBody>
      </p:sp>
      <p:sp>
        <p:nvSpPr>
          <p:cNvPr id="18" name="Rectangle 17"/>
          <p:cNvSpPr/>
          <p:nvPr/>
        </p:nvSpPr>
        <p:spPr>
          <a:xfrm>
            <a:off x="228600" y="178308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608" y="1828800"/>
            <a:ext cx="20665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Mean per model</a:t>
            </a:r>
          </a:p>
        </p:txBody>
      </p:sp>
      <p:sp>
        <p:nvSpPr>
          <p:cNvPr id="20" name="TextBox 19"/>
          <p:cNvSpPr txBox="1"/>
          <p:nvPr/>
        </p:nvSpPr>
        <p:spPr>
          <a:xfrm>
            <a:off x="2487168" y="182880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 97 s</a:t>
            </a:r>
          </a:p>
        </p:txBody>
      </p:sp>
      <p:sp>
        <p:nvSpPr>
          <p:cNvPr id="21" name="TextBox 20"/>
          <p:cNvSpPr txBox="1"/>
          <p:nvPr/>
        </p:nvSpPr>
        <p:spPr>
          <a:xfrm>
            <a:off x="4224528" y="1828800"/>
            <a:ext cx="10607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22" name="TextBox 21"/>
          <p:cNvSpPr txBox="1"/>
          <p:nvPr/>
        </p:nvSpPr>
        <p:spPr>
          <a:xfrm>
            <a:off x="5413248" y="1828800"/>
            <a:ext cx="34381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Geometry evaluation dominates</a:t>
            </a:r>
          </a:p>
        </p:txBody>
      </p:sp>
      <p:sp>
        <p:nvSpPr>
          <p:cNvPr id="23" name="Rectangle 22"/>
          <p:cNvSpPr/>
          <p:nvPr/>
        </p:nvSpPr>
        <p:spPr>
          <a:xfrm>
            <a:off x="228600" y="205740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2103120"/>
            <a:ext cx="20665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Largest model</a:t>
            </a:r>
          </a:p>
        </p:txBody>
      </p:sp>
      <p:sp>
        <p:nvSpPr>
          <p:cNvPr id="25" name="TextBox 24"/>
          <p:cNvSpPr txBox="1"/>
          <p:nvPr/>
        </p:nvSpPr>
        <p:spPr>
          <a:xfrm>
            <a:off x="2487168" y="210312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632 s</a:t>
            </a:r>
          </a:p>
        </p:txBody>
      </p:sp>
      <p:sp>
        <p:nvSpPr>
          <p:cNvPr id="26" name="TextBox 25"/>
          <p:cNvSpPr txBox="1"/>
          <p:nvPr/>
        </p:nvSpPr>
        <p:spPr>
          <a:xfrm>
            <a:off x="4224528" y="2103120"/>
            <a:ext cx="10607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27" name="TextBox 26"/>
          <p:cNvSpPr txBox="1"/>
          <p:nvPr/>
        </p:nvSpPr>
        <p:spPr>
          <a:xfrm>
            <a:off x="5413248" y="2103120"/>
            <a:ext cx="34381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NBU_MedicalClinic, 207 MB, 5,952 MEP</a:t>
            </a:r>
          </a:p>
        </p:txBody>
      </p:sp>
      <p:sp>
        <p:nvSpPr>
          <p:cNvPr id="28" name="Rectangle 27"/>
          <p:cNvSpPr/>
          <p:nvPr/>
        </p:nvSpPr>
        <p:spPr>
          <a:xfrm>
            <a:off x="228600" y="233172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377439"/>
            <a:ext cx="20665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Geometry evaluation</a:t>
            </a:r>
          </a:p>
        </p:txBody>
      </p:sp>
      <p:sp>
        <p:nvSpPr>
          <p:cNvPr id="30" name="TextBox 29"/>
          <p:cNvSpPr txBox="1"/>
          <p:nvPr/>
        </p:nvSpPr>
        <p:spPr>
          <a:xfrm>
            <a:off x="2487168" y="2377439"/>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8–95 s per model</a:t>
            </a:r>
          </a:p>
        </p:txBody>
      </p:sp>
      <p:sp>
        <p:nvSpPr>
          <p:cNvPr id="31" name="TextBox 30"/>
          <p:cNvSpPr txBox="1"/>
          <p:nvPr/>
        </p:nvSpPr>
        <p:spPr>
          <a:xfrm>
            <a:off x="4224528" y="2377439"/>
            <a:ext cx="10607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O(n)</a:t>
            </a:r>
          </a:p>
        </p:txBody>
      </p:sp>
      <p:sp>
        <p:nvSpPr>
          <p:cNvPr id="32" name="TextBox 31"/>
          <p:cNvSpPr txBox="1"/>
          <p:nvPr/>
        </p:nvSpPr>
        <p:spPr>
          <a:xfrm>
            <a:off x="5413248" y="2377439"/>
            <a:ext cx="34381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ifcopenshell.geom multithreaded iterator</a:t>
            </a:r>
          </a:p>
        </p:txBody>
      </p:sp>
      <p:sp>
        <p:nvSpPr>
          <p:cNvPr id="33" name="Rectangle 32"/>
          <p:cNvSpPr/>
          <p:nvPr/>
        </p:nvSpPr>
        <p:spPr>
          <a:xfrm>
            <a:off x="228600" y="260604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 y="2651760"/>
            <a:ext cx="20665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Clash detection</a:t>
            </a:r>
          </a:p>
        </p:txBody>
      </p:sp>
      <p:sp>
        <p:nvSpPr>
          <p:cNvPr id="35" name="TextBox 34"/>
          <p:cNvSpPr txBox="1"/>
          <p:nvPr/>
        </p:nvSpPr>
        <p:spPr>
          <a:xfrm>
            <a:off x="2487168" y="265176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sub-second to seconds</a:t>
            </a:r>
          </a:p>
        </p:txBody>
      </p:sp>
      <p:sp>
        <p:nvSpPr>
          <p:cNvPr id="36" name="TextBox 35"/>
          <p:cNvSpPr txBox="1"/>
          <p:nvPr/>
        </p:nvSpPr>
        <p:spPr>
          <a:xfrm>
            <a:off x="4224528" y="2651760"/>
            <a:ext cx="10607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 O(n)</a:t>
            </a:r>
          </a:p>
        </p:txBody>
      </p:sp>
      <p:sp>
        <p:nvSpPr>
          <p:cNvPr id="37" name="TextBox 36"/>
          <p:cNvSpPr txBox="1"/>
          <p:nvPr/>
        </p:nvSpPr>
        <p:spPr>
          <a:xfrm>
            <a:off x="5413248" y="2651760"/>
            <a:ext cx="34381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Uniform grid; O(n²) without it</a:t>
            </a:r>
          </a:p>
        </p:txBody>
      </p:sp>
      <p:sp>
        <p:nvSpPr>
          <p:cNvPr id="38" name="Rectangle 37"/>
          <p:cNvSpPr/>
          <p:nvPr/>
        </p:nvSpPr>
        <p:spPr>
          <a:xfrm>
            <a:off x="228600" y="288036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2608" y="2926080"/>
            <a:ext cx="20665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Smallest MEP model</a:t>
            </a:r>
          </a:p>
        </p:txBody>
      </p:sp>
      <p:sp>
        <p:nvSpPr>
          <p:cNvPr id="40" name="TextBox 39"/>
          <p:cNvSpPr txBox="1"/>
          <p:nvPr/>
        </p:nvSpPr>
        <p:spPr>
          <a:xfrm>
            <a:off x="2487168" y="292608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4.8 s</a:t>
            </a:r>
          </a:p>
        </p:txBody>
      </p:sp>
      <p:sp>
        <p:nvSpPr>
          <p:cNvPr id="41" name="TextBox 40"/>
          <p:cNvSpPr txBox="1"/>
          <p:nvPr/>
        </p:nvSpPr>
        <p:spPr>
          <a:xfrm>
            <a:off x="4224528" y="2926080"/>
            <a:ext cx="10607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42" name="TextBox 41"/>
          <p:cNvSpPr txBox="1"/>
          <p:nvPr/>
        </p:nvSpPr>
        <p:spPr>
          <a:xfrm>
            <a:off x="5413248" y="2926080"/>
            <a:ext cx="34381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wbdg office, 31 piping elements</a:t>
            </a:r>
          </a:p>
        </p:txBody>
      </p:sp>
      <p:sp>
        <p:nvSpPr>
          <p:cNvPr id="43" name="TextBox 42"/>
          <p:cNvSpPr txBox="1"/>
          <p:nvPr/>
        </p:nvSpPr>
        <p:spPr>
          <a:xfrm>
            <a:off x="228600" y="333756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Per-model timings are recorded in validation_sweep_summary.json and reproduce on re-run from cache.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Academic contribution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Blue Halo adds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48256"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Proactive rather than reactive</a:t>
            </a:r>
          </a:p>
        </p:txBody>
      </p:sp>
      <p:sp>
        <p:nvSpPr>
          <p:cNvPr id="11" name="TextBox 10"/>
          <p:cNvSpPr txBox="1"/>
          <p:nvPr/>
        </p:nvSpPr>
        <p:spPr>
          <a:xfrm>
            <a:off x="338328"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Reserving support space at LOD 300 inverts the usual order, in which the support system discovers that its space is already gone.</a:t>
            </a:r>
          </a:p>
        </p:txBody>
      </p:sp>
      <p:sp>
        <p:nvSpPr>
          <p:cNvPr id="12" name="Rectangle 11"/>
          <p:cNvSpPr/>
          <p:nvPr/>
        </p:nvSpPr>
        <p:spPr>
          <a:xfrm>
            <a:off x="2441448"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41448" y="1234440"/>
            <a:ext cx="2048256" cy="6400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1176"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Jurisdiction as data</a:t>
            </a:r>
          </a:p>
        </p:txBody>
      </p:sp>
      <p:sp>
        <p:nvSpPr>
          <p:cNvPr id="15" name="TextBox 14"/>
          <p:cNvSpPr txBox="1"/>
          <p:nvPr/>
        </p:nvSpPr>
        <p:spPr>
          <a:xfrm>
            <a:off x="2551176"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Clearance, spacing and angle limits are loaded from versioned JSON configs, so a new standard is a data addition rather than a code change.</a:t>
            </a:r>
          </a:p>
        </p:txBody>
      </p:sp>
      <p:sp>
        <p:nvSpPr>
          <p:cNvPr id="16" name="Rectangle 15"/>
          <p:cNvSpPr/>
          <p:nvPr/>
        </p:nvSpPr>
        <p:spPr>
          <a:xfrm>
            <a:off x="4654296"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4296" y="1234440"/>
            <a:ext cx="2048256" cy="6400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64024"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Measured at corpus scale</a:t>
            </a:r>
          </a:p>
        </p:txBody>
      </p:sp>
      <p:sp>
        <p:nvSpPr>
          <p:cNvPr id="19" name="TextBox 18"/>
          <p:cNvSpPr txBox="1"/>
          <p:nvPr/>
        </p:nvSpPr>
        <p:spPr>
          <a:xfrm>
            <a:off x="4764024"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100% geometry resolution over 49,736 elements across two IFC schemas and three toolchains, with schema twins as controls.</a:t>
            </a:r>
          </a:p>
        </p:txBody>
      </p:sp>
      <p:sp>
        <p:nvSpPr>
          <p:cNvPr id="20" name="Rectangle 19"/>
          <p:cNvSpPr/>
          <p:nvPr/>
        </p:nvSpPr>
        <p:spPr>
          <a:xfrm>
            <a:off x="6867144"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67144" y="1234440"/>
            <a:ext cx="2048256" cy="6400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6872"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A quantified sensitivity result</a:t>
            </a:r>
          </a:p>
        </p:txBody>
      </p:sp>
      <p:sp>
        <p:nvSpPr>
          <p:cNvPr id="23" name="TextBox 22"/>
          <p:cNvSpPr txBox="1"/>
          <p:nvPr/>
        </p:nvSpPr>
        <p:spPr>
          <a:xfrm>
            <a:off x="6976872"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The clearance-severity inversion is a reproducible finding about the metric itself, not about any one building.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Limitations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Stated plainly</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Axis-aligned boxes overstate intersection</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 clash is an AABB overlap. Diagonal and non-convex members are over-approximated, so counts are an upper bound, not a defect list.</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Uniform buffer, not a brace-shaped envelope</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Real sway braces are diagonal members with a base plate. The wedge envelope is deferred until brace geometry exists to validate against.</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Severity is a spatial heuristic</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Overlap fraction of halo volume, not a standards-derived threshold. Table B.6 shows its sensitivity to the clearance input.</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One clearance regime per run</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EN + DIN config assigns every brace variant the same clearance, so variant comparison is degenerate under that jurisdiction.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Post-FMP roadmap</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R1 – R5, with the dependency each carries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8346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60350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Ref</a:t>
            </a:r>
          </a:p>
        </p:txBody>
      </p:sp>
      <p:sp>
        <p:nvSpPr>
          <p:cNvPr id="10" name="TextBox 9"/>
          <p:cNvSpPr txBox="1"/>
          <p:nvPr/>
        </p:nvSpPr>
        <p:spPr>
          <a:xfrm>
            <a:off x="1024128" y="1280160"/>
            <a:ext cx="389534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Enhancement</a:t>
            </a:r>
          </a:p>
        </p:txBody>
      </p:sp>
      <p:sp>
        <p:nvSpPr>
          <p:cNvPr id="11" name="TextBox 10"/>
          <p:cNvSpPr txBox="1"/>
          <p:nvPr/>
        </p:nvSpPr>
        <p:spPr>
          <a:xfrm>
            <a:off x="5047488" y="1280160"/>
            <a:ext cx="279806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Dependency</a:t>
            </a:r>
          </a:p>
        </p:txBody>
      </p:sp>
      <p:sp>
        <p:nvSpPr>
          <p:cNvPr id="12" name="TextBox 11"/>
          <p:cNvSpPr txBox="1"/>
          <p:nvPr/>
        </p:nvSpPr>
        <p:spPr>
          <a:xfrm>
            <a:off x="7973568" y="1280160"/>
            <a:ext cx="87782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Target</a:t>
            </a:r>
          </a:p>
        </p:txBody>
      </p:sp>
      <p:sp>
        <p:nvSpPr>
          <p:cNvPr id="13" name="Rectangle 12"/>
          <p:cNvSpPr/>
          <p:nvPr/>
        </p:nvSpPr>
        <p:spPr>
          <a:xfrm>
            <a:off x="228600" y="1517904"/>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 y="1563624"/>
            <a:ext cx="6035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R1</a:t>
            </a:r>
          </a:p>
        </p:txBody>
      </p:sp>
      <p:sp>
        <p:nvSpPr>
          <p:cNvPr id="15" name="TextBox 14"/>
          <p:cNvSpPr txBox="1"/>
          <p:nvPr/>
        </p:nvSpPr>
        <p:spPr>
          <a:xfrm>
            <a:off x="1024128" y="1563624"/>
            <a:ext cx="389534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Angle-aware wedge envelope for diagonal bracing</a:t>
            </a:r>
          </a:p>
        </p:txBody>
      </p:sp>
      <p:sp>
        <p:nvSpPr>
          <p:cNvPr id="16" name="TextBox 15"/>
          <p:cNvSpPr txBox="1"/>
          <p:nvPr/>
        </p:nvSpPr>
        <p:spPr>
          <a:xfrm>
            <a:off x="5047488" y="1563624"/>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Brace geometry in the corpus to validate against</a:t>
            </a:r>
          </a:p>
        </p:txBody>
      </p:sp>
      <p:sp>
        <p:nvSpPr>
          <p:cNvPr id="17" name="TextBox 16"/>
          <p:cNvSpPr txBox="1"/>
          <p:nvPr/>
        </p:nvSpPr>
        <p:spPr>
          <a:xfrm>
            <a:off x="7973568" y="1563624"/>
            <a:ext cx="877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Q1 2027</a:t>
            </a:r>
          </a:p>
        </p:txBody>
      </p:sp>
      <p:sp>
        <p:nvSpPr>
          <p:cNvPr id="18" name="Rectangle 17"/>
          <p:cNvSpPr/>
          <p:nvPr/>
        </p:nvSpPr>
        <p:spPr>
          <a:xfrm>
            <a:off x="228600" y="1801368"/>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608" y="1847088"/>
            <a:ext cx="6035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R2</a:t>
            </a:r>
          </a:p>
        </p:txBody>
      </p:sp>
      <p:sp>
        <p:nvSpPr>
          <p:cNvPr id="20" name="TextBox 19"/>
          <p:cNvSpPr txBox="1"/>
          <p:nvPr/>
        </p:nvSpPr>
        <p:spPr>
          <a:xfrm>
            <a:off x="1024128" y="1847088"/>
            <a:ext cx="389534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Non-circular and rectangular halo profiles</a:t>
            </a:r>
          </a:p>
        </p:txBody>
      </p:sp>
      <p:sp>
        <p:nvSpPr>
          <p:cNvPr id="21" name="TextBox 20"/>
          <p:cNvSpPr txBox="1"/>
          <p:nvPr/>
        </p:nvSpPr>
        <p:spPr>
          <a:xfrm>
            <a:off x="5047488" y="1847088"/>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Profile data per brace family</a:t>
            </a:r>
          </a:p>
        </p:txBody>
      </p:sp>
      <p:sp>
        <p:nvSpPr>
          <p:cNvPr id="22" name="TextBox 21"/>
          <p:cNvSpPr txBox="1"/>
          <p:nvPr/>
        </p:nvSpPr>
        <p:spPr>
          <a:xfrm>
            <a:off x="7973568" y="1847088"/>
            <a:ext cx="877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Q1 2027</a:t>
            </a:r>
          </a:p>
        </p:txBody>
      </p:sp>
      <p:sp>
        <p:nvSpPr>
          <p:cNvPr id="23" name="Rectangle 22"/>
          <p:cNvSpPr/>
          <p:nvPr/>
        </p:nvSpPr>
        <p:spPr>
          <a:xfrm>
            <a:off x="228600" y="2084832"/>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2130552"/>
            <a:ext cx="6035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R3</a:t>
            </a:r>
          </a:p>
        </p:txBody>
      </p:sp>
      <p:sp>
        <p:nvSpPr>
          <p:cNvPr id="25" name="TextBox 24"/>
          <p:cNvSpPr txBox="1"/>
          <p:nvPr/>
        </p:nvSpPr>
        <p:spPr>
          <a:xfrm>
            <a:off x="1024128" y="2130552"/>
            <a:ext cx="389534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Cable sag modelling (catenary)</a:t>
            </a:r>
          </a:p>
        </p:txBody>
      </p:sp>
      <p:sp>
        <p:nvSpPr>
          <p:cNvPr id="26" name="TextBox 25"/>
          <p:cNvSpPr txBox="1"/>
          <p:nvPr/>
        </p:nvSpPr>
        <p:spPr>
          <a:xfrm>
            <a:off x="5047488" y="2130552"/>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Span and pretension inputs</a:t>
            </a:r>
          </a:p>
        </p:txBody>
      </p:sp>
      <p:sp>
        <p:nvSpPr>
          <p:cNvPr id="27" name="TextBox 26"/>
          <p:cNvSpPr txBox="1"/>
          <p:nvPr/>
        </p:nvSpPr>
        <p:spPr>
          <a:xfrm>
            <a:off x="7973568" y="2130552"/>
            <a:ext cx="877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Q2 2027</a:t>
            </a:r>
          </a:p>
        </p:txBody>
      </p:sp>
      <p:sp>
        <p:nvSpPr>
          <p:cNvPr id="28" name="Rectangle 27"/>
          <p:cNvSpPr/>
          <p:nvPr/>
        </p:nvSpPr>
        <p:spPr>
          <a:xfrm>
            <a:off x="228600" y="2368296"/>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414015"/>
            <a:ext cx="6035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R4</a:t>
            </a:r>
          </a:p>
        </p:txBody>
      </p:sp>
      <p:sp>
        <p:nvSpPr>
          <p:cNvPr id="30" name="TextBox 29"/>
          <p:cNvSpPr txBox="1"/>
          <p:nvPr/>
        </p:nvSpPr>
        <p:spPr>
          <a:xfrm>
            <a:off x="1024128" y="2414015"/>
            <a:ext cx="389534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Severity model grounded in standards</a:t>
            </a:r>
          </a:p>
        </p:txBody>
      </p:sp>
      <p:sp>
        <p:nvSpPr>
          <p:cNvPr id="31" name="TextBox 30"/>
          <p:cNvSpPr txBox="1"/>
          <p:nvPr/>
        </p:nvSpPr>
        <p:spPr>
          <a:xfrm>
            <a:off x="5047488" y="2414015"/>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Clause basis for a non-ratio metric</a:t>
            </a:r>
          </a:p>
        </p:txBody>
      </p:sp>
      <p:sp>
        <p:nvSpPr>
          <p:cNvPr id="32" name="TextBox 31"/>
          <p:cNvSpPr txBox="1"/>
          <p:nvPr/>
        </p:nvSpPr>
        <p:spPr>
          <a:xfrm>
            <a:off x="7973568" y="2414015"/>
            <a:ext cx="877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Q2 2027</a:t>
            </a:r>
          </a:p>
        </p:txBody>
      </p:sp>
      <p:sp>
        <p:nvSpPr>
          <p:cNvPr id="33" name="Rectangle 32"/>
          <p:cNvSpPr/>
          <p:nvPr/>
        </p:nvSpPr>
        <p:spPr>
          <a:xfrm>
            <a:off x="228600" y="2651760"/>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 y="2697480"/>
            <a:ext cx="6035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R5</a:t>
            </a:r>
          </a:p>
        </p:txBody>
      </p:sp>
      <p:sp>
        <p:nvSpPr>
          <p:cNvPr id="35" name="TextBox 34"/>
          <p:cNvSpPr txBox="1"/>
          <p:nvPr/>
        </p:nvSpPr>
        <p:spPr>
          <a:xfrm>
            <a:off x="1024128" y="2697480"/>
            <a:ext cx="389534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Seismic zone auto-population from site data</a:t>
            </a:r>
          </a:p>
        </p:txBody>
      </p:sp>
      <p:sp>
        <p:nvSpPr>
          <p:cNvPr id="36" name="TextBox 35"/>
          <p:cNvSpPr txBox="1"/>
          <p:nvPr/>
        </p:nvSpPr>
        <p:spPr>
          <a:xfrm>
            <a:off x="5047488" y="2697480"/>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Hazard map lookup and IFC round-trip</a:t>
            </a:r>
          </a:p>
        </p:txBody>
      </p:sp>
      <p:sp>
        <p:nvSpPr>
          <p:cNvPr id="37" name="TextBox 36"/>
          <p:cNvSpPr txBox="1"/>
          <p:nvPr/>
        </p:nvSpPr>
        <p:spPr>
          <a:xfrm>
            <a:off x="7973568" y="2697480"/>
            <a:ext cx="877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Q3 2027</a:t>
            </a:r>
          </a:p>
        </p:txBody>
      </p:sp>
      <p:sp>
        <p:nvSpPr>
          <p:cNvPr id="38" name="TextBox 37"/>
          <p:cNvSpPr txBox="1"/>
          <p:nvPr/>
        </p:nvSpPr>
        <p:spPr>
          <a:xfrm>
            <a:off x="228600" y="306324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R4 is the item the sensitivity result argues for most directly.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Standards compliance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each source supplies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743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52374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Standard</a:t>
            </a:r>
          </a:p>
        </p:txBody>
      </p:sp>
      <p:sp>
        <p:nvSpPr>
          <p:cNvPr id="10" name="TextBox 9"/>
          <p:cNvSpPr txBox="1"/>
          <p:nvPr/>
        </p:nvSpPr>
        <p:spPr>
          <a:xfrm>
            <a:off x="2944368" y="1280160"/>
            <a:ext cx="307238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Supplies</a:t>
            </a:r>
          </a:p>
        </p:txBody>
      </p:sp>
      <p:sp>
        <p:nvSpPr>
          <p:cNvPr id="11" name="TextBox 10"/>
          <p:cNvSpPr txBox="1"/>
          <p:nvPr/>
        </p:nvSpPr>
        <p:spPr>
          <a:xfrm>
            <a:off x="6144768" y="1280160"/>
            <a:ext cx="270662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Applied in</a:t>
            </a:r>
          </a:p>
        </p:txBody>
      </p:sp>
      <p:sp>
        <p:nvSpPr>
          <p:cNvPr id="12" name="Rectangle 11"/>
          <p:cNvSpPr/>
          <p:nvPr/>
        </p:nvSpPr>
        <p:spPr>
          <a:xfrm>
            <a:off x="228600" y="150876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5448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EN 1998-1:2004+A2:2011</a:t>
            </a:r>
          </a:p>
        </p:txBody>
      </p:sp>
      <p:sp>
        <p:nvSpPr>
          <p:cNvPr id="14" name="TextBox 13"/>
          <p:cNvSpPr txBox="1"/>
          <p:nvPr/>
        </p:nvSpPr>
        <p:spPr>
          <a:xfrm>
            <a:off x="2944368" y="1554480"/>
            <a:ext cx="3072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Seismic restraint of non-structural elements</a:t>
            </a:r>
          </a:p>
        </p:txBody>
      </p:sp>
      <p:sp>
        <p:nvSpPr>
          <p:cNvPr id="15" name="TextBox 14"/>
          <p:cNvSpPr txBox="1"/>
          <p:nvPr/>
        </p:nvSpPr>
        <p:spPr>
          <a:xfrm>
            <a:off x="6144768" y="1554480"/>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Clearance and spacing, EU config</a:t>
            </a:r>
          </a:p>
        </p:txBody>
      </p:sp>
      <p:sp>
        <p:nvSpPr>
          <p:cNvPr id="16" name="Rectangle 15"/>
          <p:cNvSpPr/>
          <p:nvPr/>
        </p:nvSpPr>
        <p:spPr>
          <a:xfrm>
            <a:off x="228600" y="178308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2880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DIN 4149:2005-04</a:t>
            </a:r>
          </a:p>
        </p:txBody>
      </p:sp>
      <p:sp>
        <p:nvSpPr>
          <p:cNvPr id="18" name="TextBox 17"/>
          <p:cNvSpPr txBox="1"/>
          <p:nvPr/>
        </p:nvSpPr>
        <p:spPr>
          <a:xfrm>
            <a:off x="2944368" y="1828800"/>
            <a:ext cx="3072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German regional seismic provisions</a:t>
            </a:r>
          </a:p>
        </p:txBody>
      </p:sp>
      <p:sp>
        <p:nvSpPr>
          <p:cNvPr id="19" name="TextBox 18"/>
          <p:cNvSpPr txBox="1"/>
          <p:nvPr/>
        </p:nvSpPr>
        <p:spPr>
          <a:xfrm>
            <a:off x="6144768" y="1828800"/>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Merged into the EU jurisdiction config</a:t>
            </a:r>
          </a:p>
        </p:txBody>
      </p:sp>
      <p:sp>
        <p:nvSpPr>
          <p:cNvPr id="20" name="Rectangle 19"/>
          <p:cNvSpPr/>
          <p:nvPr/>
        </p:nvSpPr>
        <p:spPr>
          <a:xfrm>
            <a:off x="228600" y="205740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0312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ASCE 7-22</a:t>
            </a:r>
          </a:p>
        </p:txBody>
      </p:sp>
      <p:sp>
        <p:nvSpPr>
          <p:cNvPr id="22" name="TextBox 21"/>
          <p:cNvSpPr txBox="1"/>
          <p:nvPr/>
        </p:nvSpPr>
        <p:spPr>
          <a:xfrm>
            <a:off x="2944368" y="2103120"/>
            <a:ext cx="3072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US seismic design provisions</a:t>
            </a:r>
          </a:p>
        </p:txBody>
      </p:sp>
      <p:sp>
        <p:nvSpPr>
          <p:cNvPr id="23" name="TextBox 22"/>
          <p:cNvSpPr txBox="1"/>
          <p:nvPr/>
        </p:nvSpPr>
        <p:spPr>
          <a:xfrm>
            <a:off x="6144768" y="2103120"/>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US fallback config, 457.2 mm</a:t>
            </a:r>
          </a:p>
        </p:txBody>
      </p:sp>
      <p:sp>
        <p:nvSpPr>
          <p:cNvPr id="24" name="Rectangle 23"/>
          <p:cNvSpPr/>
          <p:nvPr/>
        </p:nvSpPr>
        <p:spPr>
          <a:xfrm>
            <a:off x="228600" y="233172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377439"/>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NFPA 13</a:t>
            </a:r>
          </a:p>
        </p:txBody>
      </p:sp>
      <p:sp>
        <p:nvSpPr>
          <p:cNvPr id="26" name="TextBox 25"/>
          <p:cNvSpPr txBox="1"/>
          <p:nvPr/>
        </p:nvSpPr>
        <p:spPr>
          <a:xfrm>
            <a:off x="2944368" y="2377439"/>
            <a:ext cx="3072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Sprinkler bracing and spacing</a:t>
            </a:r>
          </a:p>
        </p:txBody>
      </p:sp>
      <p:sp>
        <p:nvSpPr>
          <p:cNvPr id="27" name="TextBox 26"/>
          <p:cNvSpPr txBox="1"/>
          <p:nvPr/>
        </p:nvSpPr>
        <p:spPr>
          <a:xfrm>
            <a:off x="6144768" y="2377439"/>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US fallback config, fire systems</a:t>
            </a:r>
          </a:p>
        </p:txBody>
      </p:sp>
      <p:sp>
        <p:nvSpPr>
          <p:cNvPr id="28" name="Rectangle 27"/>
          <p:cNvSpPr/>
          <p:nvPr/>
        </p:nvSpPr>
        <p:spPr>
          <a:xfrm>
            <a:off x="228600" y="260604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65176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SMACNA / MSS SP-58</a:t>
            </a:r>
          </a:p>
        </p:txBody>
      </p:sp>
      <p:sp>
        <p:nvSpPr>
          <p:cNvPr id="30" name="TextBox 29"/>
          <p:cNvSpPr txBox="1"/>
          <p:nvPr/>
        </p:nvSpPr>
        <p:spPr>
          <a:xfrm>
            <a:off x="2944368" y="2651760"/>
            <a:ext cx="3072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Sway bracing and hanger support practice</a:t>
            </a:r>
          </a:p>
        </p:txBody>
      </p:sp>
      <p:sp>
        <p:nvSpPr>
          <p:cNvPr id="31" name="TextBox 30"/>
          <p:cNvSpPr txBox="1"/>
          <p:nvPr/>
        </p:nvSpPr>
        <p:spPr>
          <a:xfrm>
            <a:off x="6144768" y="2651760"/>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Brace family footprints</a:t>
            </a:r>
          </a:p>
        </p:txBody>
      </p:sp>
      <p:sp>
        <p:nvSpPr>
          <p:cNvPr id="32" name="Rectangle 31"/>
          <p:cNvSpPr/>
          <p:nvPr/>
        </p:nvSpPr>
        <p:spPr>
          <a:xfrm>
            <a:off x="228600" y="288036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92608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ISO 16739-1 / BCF 2.1</a:t>
            </a:r>
          </a:p>
        </p:txBody>
      </p:sp>
      <p:sp>
        <p:nvSpPr>
          <p:cNvPr id="34" name="TextBox 33"/>
          <p:cNvSpPr txBox="1"/>
          <p:nvPr/>
        </p:nvSpPr>
        <p:spPr>
          <a:xfrm>
            <a:off x="2944368" y="2926080"/>
            <a:ext cx="3072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IFC schema and issue exchange</a:t>
            </a:r>
          </a:p>
        </p:txBody>
      </p:sp>
      <p:sp>
        <p:nvSpPr>
          <p:cNvPr id="35" name="TextBox 34"/>
          <p:cNvSpPr txBox="1"/>
          <p:nvPr/>
        </p:nvSpPr>
        <p:spPr>
          <a:xfrm>
            <a:off x="6144768" y="2926080"/>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Input parsing and topic output</a:t>
            </a:r>
          </a:p>
        </p:txBody>
      </p:sp>
      <p:sp>
        <p:nvSpPr>
          <p:cNvPr id="36" name="TextBox 35"/>
          <p:cNvSpPr txBox="1"/>
          <p:nvPr/>
        </p:nvSpPr>
        <p:spPr>
          <a:xfrm>
            <a:off x="228600" y="333756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Configs are generated from the research summary by script and carry their own data-gap list, so every value is either sourced or flagged as absent.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Jurisdiction as data, not as code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How a new standard enters the system</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8346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24942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Config field</a:t>
            </a:r>
          </a:p>
        </p:txBody>
      </p:sp>
      <p:sp>
        <p:nvSpPr>
          <p:cNvPr id="10" name="TextBox 9"/>
          <p:cNvSpPr txBox="1"/>
          <p:nvPr/>
        </p:nvSpPr>
        <p:spPr>
          <a:xfrm>
            <a:off x="2670048" y="1280160"/>
            <a:ext cx="2066543"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EN 1998-1 + DIN 4149</a:t>
            </a:r>
          </a:p>
        </p:txBody>
      </p:sp>
      <p:sp>
        <p:nvSpPr>
          <p:cNvPr id="11" name="TextBox 10"/>
          <p:cNvSpPr txBox="1"/>
          <p:nvPr/>
        </p:nvSpPr>
        <p:spPr>
          <a:xfrm>
            <a:off x="4864608" y="1280160"/>
            <a:ext cx="1975103"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ASCE 7-22 + NFPA 13</a:t>
            </a:r>
          </a:p>
        </p:txBody>
      </p:sp>
      <p:sp>
        <p:nvSpPr>
          <p:cNvPr id="12" name="TextBox 11"/>
          <p:cNvSpPr txBox="1"/>
          <p:nvPr/>
        </p:nvSpPr>
        <p:spPr>
          <a:xfrm>
            <a:off x="6967728" y="1280160"/>
            <a:ext cx="188366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Resolution rule</a:t>
            </a:r>
          </a:p>
        </p:txBody>
      </p:sp>
      <p:sp>
        <p:nvSpPr>
          <p:cNvPr id="13" name="Rectangle 12"/>
          <p:cNvSpPr/>
          <p:nvPr/>
        </p:nvSpPr>
        <p:spPr>
          <a:xfrm>
            <a:off x="228600" y="1517904"/>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 y="1563624"/>
            <a:ext cx="22494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base_from_structure_mm</a:t>
            </a:r>
          </a:p>
        </p:txBody>
      </p:sp>
      <p:sp>
        <p:nvSpPr>
          <p:cNvPr id="15" name="TextBox 14"/>
          <p:cNvSpPr txBox="1"/>
          <p:nvPr/>
        </p:nvSpPr>
        <p:spPr>
          <a:xfrm>
            <a:off x="2670048" y="1563624"/>
            <a:ext cx="2066543"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200.0</a:t>
            </a:r>
          </a:p>
        </p:txBody>
      </p:sp>
      <p:sp>
        <p:nvSpPr>
          <p:cNvPr id="16" name="TextBox 15"/>
          <p:cNvSpPr txBox="1"/>
          <p:nvPr/>
        </p:nvSpPr>
        <p:spPr>
          <a:xfrm>
            <a:off x="4864608" y="1563624"/>
            <a:ext cx="1975103"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457.2</a:t>
            </a:r>
          </a:p>
        </p:txBody>
      </p:sp>
      <p:sp>
        <p:nvSpPr>
          <p:cNvPr id="17" name="TextBox 16"/>
          <p:cNvSpPr txBox="1"/>
          <p:nvPr/>
        </p:nvSpPr>
        <p:spPr>
          <a:xfrm>
            <a:off x="6967728" y="1563624"/>
            <a:ext cx="18836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Larger clearance governs</a:t>
            </a:r>
          </a:p>
        </p:txBody>
      </p:sp>
      <p:sp>
        <p:nvSpPr>
          <p:cNvPr id="18" name="Rectangle 17"/>
          <p:cNvSpPr/>
          <p:nvPr/>
        </p:nvSpPr>
        <p:spPr>
          <a:xfrm>
            <a:off x="228600" y="1801368"/>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608" y="1847088"/>
            <a:ext cx="22494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spacing_transverse_m</a:t>
            </a:r>
          </a:p>
        </p:txBody>
      </p:sp>
      <p:sp>
        <p:nvSpPr>
          <p:cNvPr id="20" name="TextBox 19"/>
          <p:cNvSpPr txBox="1"/>
          <p:nvPr/>
        </p:nvSpPr>
        <p:spPr>
          <a:xfrm>
            <a:off x="2670048" y="1847088"/>
            <a:ext cx="2066543"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1.0</a:t>
            </a:r>
          </a:p>
        </p:txBody>
      </p:sp>
      <p:sp>
        <p:nvSpPr>
          <p:cNvPr id="21" name="TextBox 20"/>
          <p:cNvSpPr txBox="1"/>
          <p:nvPr/>
        </p:nvSpPr>
        <p:spPr>
          <a:xfrm>
            <a:off x="4864608" y="1847088"/>
            <a:ext cx="1975103"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1.016</a:t>
            </a:r>
          </a:p>
        </p:txBody>
      </p:sp>
      <p:sp>
        <p:nvSpPr>
          <p:cNvPr id="22" name="TextBox 21"/>
          <p:cNvSpPr txBox="1"/>
          <p:nvPr/>
        </p:nvSpPr>
        <p:spPr>
          <a:xfrm>
            <a:off x="6967728" y="1847088"/>
            <a:ext cx="18836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Tighter spacing governs</a:t>
            </a:r>
          </a:p>
        </p:txBody>
      </p:sp>
      <p:sp>
        <p:nvSpPr>
          <p:cNvPr id="23" name="Rectangle 22"/>
          <p:cNvSpPr/>
          <p:nvPr/>
        </p:nvSpPr>
        <p:spPr>
          <a:xfrm>
            <a:off x="228600" y="2084832"/>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2130552"/>
            <a:ext cx="22494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pipe_diameter_mm</a:t>
            </a:r>
          </a:p>
        </p:txBody>
      </p:sp>
      <p:sp>
        <p:nvSpPr>
          <p:cNvPr id="25" name="TextBox 24"/>
          <p:cNvSpPr txBox="1"/>
          <p:nvPr/>
        </p:nvSpPr>
        <p:spPr>
          <a:xfrm>
            <a:off x="2670048" y="2130552"/>
            <a:ext cx="2066543"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63.0</a:t>
            </a:r>
          </a:p>
        </p:txBody>
      </p:sp>
      <p:sp>
        <p:nvSpPr>
          <p:cNvPr id="26" name="TextBox 25"/>
          <p:cNvSpPr txBox="1"/>
          <p:nvPr/>
        </p:nvSpPr>
        <p:spPr>
          <a:xfrm>
            <a:off x="4864608" y="2130552"/>
            <a:ext cx="1975103"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63.5</a:t>
            </a:r>
          </a:p>
        </p:txBody>
      </p:sp>
      <p:sp>
        <p:nvSpPr>
          <p:cNvPr id="27" name="TextBox 26"/>
          <p:cNvSpPr txBox="1"/>
          <p:nvPr/>
        </p:nvSpPr>
        <p:spPr>
          <a:xfrm>
            <a:off x="6967728" y="2130552"/>
            <a:ext cx="18836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Lower threshold governs</a:t>
            </a:r>
          </a:p>
        </p:txBody>
      </p:sp>
      <p:sp>
        <p:nvSpPr>
          <p:cNvPr id="28" name="Rectangle 27"/>
          <p:cNvSpPr/>
          <p:nvPr/>
        </p:nvSpPr>
        <p:spPr>
          <a:xfrm>
            <a:off x="228600" y="2368296"/>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414015"/>
            <a:ext cx="22494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angle range (deg)</a:t>
            </a:r>
          </a:p>
        </p:txBody>
      </p:sp>
      <p:sp>
        <p:nvSpPr>
          <p:cNvPr id="30" name="TextBox 29"/>
          <p:cNvSpPr txBox="1"/>
          <p:nvPr/>
        </p:nvSpPr>
        <p:spPr>
          <a:xfrm>
            <a:off x="2670048" y="2414015"/>
            <a:ext cx="2066543"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40 – 65</a:t>
            </a:r>
          </a:p>
        </p:txBody>
      </p:sp>
      <p:sp>
        <p:nvSpPr>
          <p:cNvPr id="31" name="TextBox 30"/>
          <p:cNvSpPr txBox="1"/>
          <p:nvPr/>
        </p:nvSpPr>
        <p:spPr>
          <a:xfrm>
            <a:off x="4864608" y="2414015"/>
            <a:ext cx="1975103"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30 – 60</a:t>
            </a:r>
          </a:p>
        </p:txBody>
      </p:sp>
      <p:sp>
        <p:nvSpPr>
          <p:cNvPr id="32" name="TextBox 31"/>
          <p:cNvSpPr txBox="1"/>
          <p:nvPr/>
        </p:nvSpPr>
        <p:spPr>
          <a:xfrm>
            <a:off x="6967728" y="2414015"/>
            <a:ext cx="18836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Intersection of both ranges</a:t>
            </a:r>
          </a:p>
        </p:txBody>
      </p:sp>
      <p:sp>
        <p:nvSpPr>
          <p:cNvPr id="33" name="Rectangle 32"/>
          <p:cNvSpPr/>
          <p:nvPr/>
        </p:nvSpPr>
        <p:spPr>
          <a:xfrm>
            <a:off x="228600" y="2651760"/>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 y="2697480"/>
            <a:ext cx="22494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hospital_addition_mm</a:t>
            </a:r>
          </a:p>
        </p:txBody>
      </p:sp>
      <p:sp>
        <p:nvSpPr>
          <p:cNvPr id="35" name="TextBox 34"/>
          <p:cNvSpPr txBox="1"/>
          <p:nvPr/>
        </p:nvSpPr>
        <p:spPr>
          <a:xfrm>
            <a:off x="2670048" y="2697480"/>
            <a:ext cx="2066543" cy="210311"/>
          </a:xfrm>
          <a:prstGeom prst="rect">
            <a:avLst/>
          </a:prstGeom>
          <a:noFill/>
        </p:spPr>
        <p:txBody>
          <a:bodyPr wrap="square" anchor="t" lIns="0" rIns="0" tIns="0" bIns="0">
            <a:spAutoFit/>
          </a:bodyPr>
          <a:lstStyle/>
          <a:p>
            <a:pPr algn="l">
              <a:lnSpc>
                <a:spcPct val="100000"/>
              </a:lnSpc>
            </a:pPr>
            <a:r>
              <a:rPr sz="1100" b="0">
                <a:solidFill>
                  <a:srgbClr val="A32D2D"/>
                </a:solidFill>
                <a:latin typeface="Calibri"/>
              </a:rPr>
              <a:t>0 — data gap</a:t>
            </a:r>
          </a:p>
        </p:txBody>
      </p:sp>
      <p:sp>
        <p:nvSpPr>
          <p:cNvPr id="36" name="TextBox 35"/>
          <p:cNvSpPr txBox="1"/>
          <p:nvPr/>
        </p:nvSpPr>
        <p:spPr>
          <a:xfrm>
            <a:off x="4864608" y="2697480"/>
            <a:ext cx="1975103" cy="210311"/>
          </a:xfrm>
          <a:prstGeom prst="rect">
            <a:avLst/>
          </a:prstGeom>
          <a:noFill/>
        </p:spPr>
        <p:txBody>
          <a:bodyPr wrap="square" anchor="t" lIns="0" rIns="0" tIns="0" bIns="0">
            <a:spAutoFit/>
          </a:bodyPr>
          <a:lstStyle/>
          <a:p>
            <a:pPr algn="l">
              <a:lnSpc>
                <a:spcPct val="100000"/>
              </a:lnSpc>
            </a:pPr>
            <a:r>
              <a:rPr sz="1100" b="0">
                <a:solidFill>
                  <a:srgbClr val="A32D2D"/>
                </a:solidFill>
                <a:latin typeface="Calibri"/>
              </a:rPr>
              <a:t>0 — data gap</a:t>
            </a:r>
          </a:p>
        </p:txBody>
      </p:sp>
      <p:sp>
        <p:nvSpPr>
          <p:cNvPr id="37" name="TextBox 36"/>
          <p:cNvSpPr txBox="1"/>
          <p:nvPr/>
        </p:nvSpPr>
        <p:spPr>
          <a:xfrm>
            <a:off x="6967728" y="2697480"/>
            <a:ext cx="18836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Absent from source research</a:t>
            </a:r>
          </a:p>
        </p:txBody>
      </p:sp>
      <p:sp>
        <p:nvSpPr>
          <p:cNvPr id="38" name="TextBox 37"/>
          <p:cNvSpPr txBox="1"/>
          <p:nvPr/>
        </p:nvSpPr>
        <p:spPr>
          <a:xfrm>
            <a:off x="228600" y="301752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Configs are generated from the standards research by script, never hand-edited. Each carries its own data-gap list, so a value that the source did not supply is flagged rather than invented — the hospital clearance addition above is recorded as absent rather than guessed.</a:t>
            </a:r>
          </a:p>
        </p:txBody>
      </p:sp>
      <p:sp>
        <p:nvSpPr>
          <p:cNvPr id="39" name="TextBox 38"/>
          <p:cNvSpPr txBox="1"/>
          <p:nvPr/>
        </p:nvSpPr>
        <p:spPr>
          <a:xfrm>
            <a:off x="228600" y="3977639"/>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Adding a jurisdiction is a data change with a provenance record, not a code change.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Integration into the compliance pipeline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Where Blue Halo sits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Input</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Normalised IFC geometry and property sets, plus the jurisdiction clearance config selected for the project.</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Output</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One BCF 2.1 topic per breach, carrying both GlobalIds, overlap volume, severity band and the clearance rule that produced the envelope.</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Model write-back</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Pset_HaloReservation on the braced element: brace type, rule variant, clearance applied, element and halo bounding boxes.</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Status</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Breaches present hold the container at S2. Resolution is either a service move or an accepted LOD 350 reservation recorded against the element.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BCF output — what a reviewer receives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Enough to act without opening the tool</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743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1609343"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Field</a:t>
            </a:r>
          </a:p>
        </p:txBody>
      </p:sp>
      <p:sp>
        <p:nvSpPr>
          <p:cNvPr id="10" name="TextBox 9"/>
          <p:cNvSpPr txBox="1"/>
          <p:nvPr/>
        </p:nvSpPr>
        <p:spPr>
          <a:xfrm>
            <a:off x="2029967" y="1280160"/>
            <a:ext cx="371246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Content</a:t>
            </a:r>
          </a:p>
        </p:txBody>
      </p:sp>
      <p:sp>
        <p:nvSpPr>
          <p:cNvPr id="11" name="TextBox 10"/>
          <p:cNvSpPr txBox="1"/>
          <p:nvPr/>
        </p:nvSpPr>
        <p:spPr>
          <a:xfrm>
            <a:off x="5870448" y="1280160"/>
            <a:ext cx="298094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Source</a:t>
            </a:r>
          </a:p>
        </p:txBody>
      </p:sp>
      <p:sp>
        <p:nvSpPr>
          <p:cNvPr id="12" name="Rectangle 11"/>
          <p:cNvSpPr/>
          <p:nvPr/>
        </p:nvSpPr>
        <p:spPr>
          <a:xfrm>
            <a:off x="228600" y="150876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5448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Topic title</a:t>
            </a:r>
          </a:p>
        </p:txBody>
      </p:sp>
      <p:sp>
        <p:nvSpPr>
          <p:cNvPr id="14" name="TextBox 13"/>
          <p:cNvSpPr txBox="1"/>
          <p:nvPr/>
        </p:nvSpPr>
        <p:spPr>
          <a:xfrm>
            <a:off x="2029967" y="1554480"/>
            <a:ext cx="3712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Brace type and source element class</a:t>
            </a:r>
          </a:p>
        </p:txBody>
      </p:sp>
      <p:sp>
        <p:nvSpPr>
          <p:cNvPr id="15" name="TextBox 14"/>
          <p:cNvSpPr txBox="1"/>
          <p:nvPr/>
        </p:nvSpPr>
        <p:spPr>
          <a:xfrm>
            <a:off x="5870448" y="1554480"/>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HaloVolume.brace_type</a:t>
            </a:r>
          </a:p>
        </p:txBody>
      </p:sp>
      <p:sp>
        <p:nvSpPr>
          <p:cNvPr id="16" name="Rectangle 15"/>
          <p:cNvSpPr/>
          <p:nvPr/>
        </p:nvSpPr>
        <p:spPr>
          <a:xfrm>
            <a:off x="228600" y="178308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2880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Description</a:t>
            </a:r>
          </a:p>
        </p:txBody>
      </p:sp>
      <p:sp>
        <p:nvSpPr>
          <p:cNvPr id="18" name="TextBox 17"/>
          <p:cNvSpPr txBox="1"/>
          <p:nvPr/>
        </p:nvSpPr>
        <p:spPr>
          <a:xfrm>
            <a:off x="2029967" y="1828800"/>
            <a:ext cx="3712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Both GlobalIds, overlap volume in mm³, ratio</a:t>
            </a:r>
          </a:p>
        </p:txBody>
      </p:sp>
      <p:sp>
        <p:nvSpPr>
          <p:cNvPr id="19" name="TextBox 18"/>
          <p:cNvSpPr txBox="1"/>
          <p:nvPr/>
        </p:nvSpPr>
        <p:spPr>
          <a:xfrm>
            <a:off x="5870448" y="1828800"/>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ClashReport.description</a:t>
            </a:r>
          </a:p>
        </p:txBody>
      </p:sp>
      <p:sp>
        <p:nvSpPr>
          <p:cNvPr id="20" name="Rectangle 19"/>
          <p:cNvSpPr/>
          <p:nvPr/>
        </p:nvSpPr>
        <p:spPr>
          <a:xfrm>
            <a:off x="228600" y="205740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0312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Priority</a:t>
            </a:r>
          </a:p>
        </p:txBody>
      </p:sp>
      <p:sp>
        <p:nvSpPr>
          <p:cNvPr id="22" name="TextBox 21"/>
          <p:cNvSpPr txBox="1"/>
          <p:nvPr/>
        </p:nvSpPr>
        <p:spPr>
          <a:xfrm>
            <a:off x="2029967" y="2103120"/>
            <a:ext cx="3712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Critical / Major / Minor</a:t>
            </a:r>
          </a:p>
        </p:txBody>
      </p:sp>
      <p:sp>
        <p:nvSpPr>
          <p:cNvPr id="23" name="TextBox 22"/>
          <p:cNvSpPr txBox="1"/>
          <p:nvPr/>
        </p:nvSpPr>
        <p:spPr>
          <a:xfrm>
            <a:off x="5870448" y="2103120"/>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Severity band</a:t>
            </a:r>
          </a:p>
        </p:txBody>
      </p:sp>
      <p:sp>
        <p:nvSpPr>
          <p:cNvPr id="24" name="Rectangle 23"/>
          <p:cNvSpPr/>
          <p:nvPr/>
        </p:nvSpPr>
        <p:spPr>
          <a:xfrm>
            <a:off x="228600" y="233172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377439"/>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Due date</a:t>
            </a:r>
          </a:p>
        </p:txBody>
      </p:sp>
      <p:sp>
        <p:nvSpPr>
          <p:cNvPr id="26" name="TextBox 25"/>
          <p:cNvSpPr txBox="1"/>
          <p:nvPr/>
        </p:nvSpPr>
        <p:spPr>
          <a:xfrm>
            <a:off x="2029967" y="2377439"/>
            <a:ext cx="3712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 7 or 21 days by severity</a:t>
            </a:r>
          </a:p>
        </p:txBody>
      </p:sp>
      <p:sp>
        <p:nvSpPr>
          <p:cNvPr id="27" name="TextBox 26"/>
          <p:cNvSpPr txBox="1"/>
          <p:nvPr/>
        </p:nvSpPr>
        <p:spPr>
          <a:xfrm>
            <a:off x="5870448" y="2377439"/>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Banding table</a:t>
            </a:r>
          </a:p>
        </p:txBody>
      </p:sp>
      <p:sp>
        <p:nvSpPr>
          <p:cNvPr id="28" name="Rectangle 27"/>
          <p:cNvSpPr/>
          <p:nvPr/>
        </p:nvSpPr>
        <p:spPr>
          <a:xfrm>
            <a:off x="228600" y="260604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65176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Viewpoint</a:t>
            </a:r>
          </a:p>
        </p:txBody>
      </p:sp>
      <p:sp>
        <p:nvSpPr>
          <p:cNvPr id="30" name="TextBox 29"/>
          <p:cNvSpPr txBox="1"/>
          <p:nvPr/>
        </p:nvSpPr>
        <p:spPr>
          <a:xfrm>
            <a:off x="2029967" y="2651760"/>
            <a:ext cx="3712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Camera and component selection on the clash</a:t>
            </a:r>
          </a:p>
        </p:txBody>
      </p:sp>
      <p:sp>
        <p:nvSpPr>
          <p:cNvPr id="31" name="TextBox 30"/>
          <p:cNvSpPr txBox="1"/>
          <p:nvPr/>
        </p:nvSpPr>
        <p:spPr>
          <a:xfrm>
            <a:off x="5870448" y="2651760"/>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viewpoint.bcfv</a:t>
            </a:r>
          </a:p>
        </p:txBody>
      </p:sp>
      <p:sp>
        <p:nvSpPr>
          <p:cNvPr id="32" name="Rectangle 31"/>
          <p:cNvSpPr/>
          <p:nvPr/>
        </p:nvSpPr>
        <p:spPr>
          <a:xfrm>
            <a:off x="228600" y="288036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92608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Labels</a:t>
            </a:r>
          </a:p>
        </p:txBody>
      </p:sp>
      <p:sp>
        <p:nvSpPr>
          <p:cNvPr id="34" name="TextBox 33"/>
          <p:cNvSpPr txBox="1"/>
          <p:nvPr/>
        </p:nvSpPr>
        <p:spPr>
          <a:xfrm>
            <a:off x="2029967" y="2926080"/>
            <a:ext cx="3712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blue_halo, seismic_bracing, brace type</a:t>
            </a:r>
          </a:p>
        </p:txBody>
      </p:sp>
      <p:sp>
        <p:nvSpPr>
          <p:cNvPr id="35" name="TextBox 34"/>
          <p:cNvSpPr txBox="1"/>
          <p:nvPr/>
        </p:nvSpPr>
        <p:spPr>
          <a:xfrm>
            <a:off x="5870448" y="2926080"/>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Topic labels</a:t>
            </a:r>
          </a:p>
        </p:txBody>
      </p:sp>
      <p:sp>
        <p:nvSpPr>
          <p:cNvPr id="36" name="TextBox 35"/>
          <p:cNvSpPr txBox="1"/>
          <p:nvPr/>
        </p:nvSpPr>
        <p:spPr>
          <a:xfrm>
            <a:off x="228600" y="333756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37 of 37 archives validated: every part well-formed, every topic folder complete.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Comparison to current practice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The same conflict, found at two different prices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785872" cy="6400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Reactive — today</a:t>
            </a:r>
          </a:p>
        </p:txBody>
      </p:sp>
      <p:sp>
        <p:nvSpPr>
          <p:cNvPr id="11" name="TextBox 10"/>
          <p:cNvSpPr txBox="1"/>
          <p:nvPr/>
        </p:nvSpPr>
        <p:spPr>
          <a:xfrm>
            <a:off x="338328"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Model services at LOD 300. Design supports at LOD 350. Run clash detection. Discover the support has no room. Reroute services that are already coordinated, re-issue, re-review.</a:t>
            </a:r>
          </a:p>
        </p:txBody>
      </p:sp>
      <p:sp>
        <p:nvSpPr>
          <p:cNvPr id="12" name="Rectangle 11"/>
          <p:cNvSpPr/>
          <p:nvPr/>
        </p:nvSpPr>
        <p:spPr>
          <a:xfrm>
            <a:off x="3179064"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179064" y="1234440"/>
            <a:ext cx="2785872" cy="6400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88792"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Proactive — Blue Halo</a:t>
            </a:r>
          </a:p>
        </p:txBody>
      </p:sp>
      <p:sp>
        <p:nvSpPr>
          <p:cNvPr id="15" name="TextBox 14"/>
          <p:cNvSpPr txBox="1"/>
          <p:nvPr/>
        </p:nvSpPr>
        <p:spPr>
          <a:xfrm>
            <a:off x="3288792"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Model services at LOD 300. Compute the support envelope from the jurisdiction rule. Publish it as a reserved volume. Conflicts surface while services are still cheap to move.</a:t>
            </a:r>
          </a:p>
        </p:txBody>
      </p:sp>
      <p:sp>
        <p:nvSpPr>
          <p:cNvPr id="16" name="Rectangle 15"/>
          <p:cNvSpPr/>
          <p:nvPr/>
        </p:nvSpPr>
        <p:spPr>
          <a:xfrm>
            <a:off x="6129528"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9528" y="1234440"/>
            <a:ext cx="2785872" cy="640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9256"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What changes</a:t>
            </a:r>
          </a:p>
        </p:txBody>
      </p:sp>
      <p:sp>
        <p:nvSpPr>
          <p:cNvPr id="19" name="TextBox 18"/>
          <p:cNvSpPr txBox="1"/>
          <p:nvPr/>
        </p:nvSpPr>
        <p:spPr>
          <a:xfrm>
            <a:off x="6239256"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Not the conflict — the timing. The same geometric fact is surfaced one design stage earlier, before the coordination effort that makes it expensive to undo.</a:t>
            </a:r>
          </a:p>
        </p:txBody>
      </p:sp>
      <p:sp>
        <p:nvSpPr>
          <p:cNvPr id="20" name="TextBox 19"/>
          <p:cNvSpPr txBox="1"/>
          <p:nvPr/>
        </p:nvSpPr>
        <p:spPr>
          <a:xfrm>
            <a:off x="228600" y="416052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The corpus cannot price this: cost avoidance depends on project commercials the models do not carry. What it does establish is that the detection works at scale.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RQ2 — the spatial component answered</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Can proactive reservation work on real federated models?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YES</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demonstrated across
37 models</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00B4D8"/>
                </a:solidFill>
                <a:latin typeface="Calibri"/>
              </a:rPr>
              <a:t>100%</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geometry resolution
no fallback needed</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0.00% / 0.11%</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schema twin
deltas</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1F3864"/>
                </a:solidFill>
                <a:latin typeface="Calibri"/>
              </a:rPr>
              <a:t>223,516</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clashes detected
and exported</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What the evidence supports</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Halo generation and clash detection are deterministic, schema-independent and scale to the largest models in the corpus. What the corpus cannot yet support is brace-family differentiation, because the jurisdiction data does not distinguish clearance by hardware. The method is validated; that particular comparison is not.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Key findings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the corpus established</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Geometry is not the obstacle</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100% resolution across both IFC schemas and three authoring toolchains, using the full geometry iterator rather than a vertex shortcut.</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The result is schema-independent</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Same-building twins in IFC2x3 and IFC4 produced identical and near-identical clash counts — 0.00% and 0.11% apart.</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Clearance choice dominates the outcome</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 2× clearance change moves total clashes by 2× and Critical count in the opposite direction. Jurisdiction selection is the most consequential input.</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Severity needs a standards basis</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Overlap ratio is defensible as triage and indefensible as a verdict. R4 addresses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737360"/>
            <a:ext cx="8412480" cy="822960"/>
          </a:xfrm>
          <a:prstGeom prst="rect">
            <a:avLst/>
          </a:prstGeom>
          <a:noFill/>
        </p:spPr>
        <p:txBody>
          <a:bodyPr wrap="square" anchor="t" lIns="0" rIns="0" tIns="0" bIns="0">
            <a:spAutoFit/>
          </a:bodyPr>
          <a:lstStyle/>
          <a:p>
            <a:pPr algn="l">
              <a:lnSpc>
                <a:spcPct val="100000"/>
              </a:lnSpc>
            </a:pPr>
            <a:r>
              <a:rPr sz="4400" b="1">
                <a:solidFill>
                  <a:srgbClr val="FFFFFF"/>
                </a:solidFill>
                <a:latin typeface="Calibri"/>
              </a:rPr>
              <a:t>Blue Halo Clearance Algorithm</a:t>
            </a:r>
          </a:p>
        </p:txBody>
      </p:sp>
      <p:sp>
        <p:nvSpPr>
          <p:cNvPr id="5" name="Rectangle 4"/>
          <p:cNvSpPr/>
          <p:nvPr/>
        </p:nvSpPr>
        <p:spPr>
          <a:xfrm>
            <a:off x="365760" y="2651760"/>
            <a:ext cx="4114800" cy="1828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834640"/>
            <a:ext cx="8412480" cy="457200"/>
          </a:xfrm>
          <a:prstGeom prst="rect">
            <a:avLst/>
          </a:prstGeom>
          <a:noFill/>
        </p:spPr>
        <p:txBody>
          <a:bodyPr wrap="square" anchor="t" lIns="0" rIns="0" tIns="0" bIns="0">
            <a:spAutoFit/>
          </a:bodyPr>
          <a:lstStyle/>
          <a:p>
            <a:pPr algn="l">
              <a:lnSpc>
                <a:spcPct val="100000"/>
              </a:lnSpc>
            </a:pPr>
            <a:r>
              <a:rPr sz="2200" b="0">
                <a:solidFill>
                  <a:srgbClr val="00B4D8"/>
                </a:solidFill>
                <a:latin typeface="Calibri"/>
              </a:rPr>
              <a:t>Questions?</a:t>
            </a:r>
          </a:p>
        </p:txBody>
      </p:sp>
      <p:sp>
        <p:nvSpPr>
          <p:cNvPr id="7" name="TextBox 6"/>
          <p:cNvSpPr txBox="1"/>
          <p:nvPr/>
        </p:nvSpPr>
        <p:spPr>
          <a:xfrm>
            <a:off x="228600" y="4416552"/>
            <a:ext cx="8686800" cy="228600"/>
          </a:xfrm>
          <a:prstGeom prst="rect">
            <a:avLst/>
          </a:prstGeom>
          <a:noFill/>
        </p:spPr>
        <p:txBody>
          <a:bodyPr wrap="square" anchor="t" lIns="0" rIns="0" tIns="0" bIns="0">
            <a:spAutoFit/>
          </a:bodyPr>
          <a:lstStyle/>
          <a:p>
            <a:pPr algn="l">
              <a:lnSpc>
                <a:spcPct val="100000"/>
              </a:lnSpc>
            </a:pPr>
            <a:r>
              <a:rPr sz="900" b="0">
                <a:solidFill>
                  <a:srgbClr val="8896A6"/>
                </a:solidFill>
                <a:latin typeface="Calibri"/>
              </a:rPr>
              <a:t>BIMGUARD AI  |  Final Master Project  |  Zigurat Global Institute of Technology  |  Group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BIMGUARD AI — Final Master Project</dc:title>
  <dc:subject>Automated BIM Corrosion Compliance Checker</dc:subject>
  <dc:creator>Group 5 — Zigurat Global Institute of Technology</dc:creator>
  <cp:lastModifiedBy>Group 5 — Zigurat Global Institute of Technology</cp:lastModifiedBy>
  <cp:revision>1</cp:revision>
  <dcterms:created xsi:type="dcterms:W3CDTF">2026-04-08T17:11:49Z</dcterms:created>
  <dcterms:modified xsi:type="dcterms:W3CDTF">2026-04-08T17:11:49Z</dcterms:modified>
</cp:coreProperties>
</file>