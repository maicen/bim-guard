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Blue Halo Clearance Algorithm</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Seismic Bracing Proactive Space Reservation</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FEMA E-74  ·  ASCE/SEI 7-10 §13.6  ·  EN 1998-1 + DIN EN 1998-1/NA  ·  NFPA 13  ·  SMACNA</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BH-001  ·  LOD 300 → 350 space reservation  ·  Pluggable jurisdiction configs  ·  BCF 2.1 output</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problem in the design cycle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Space for supports is designed after the space is gone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LOD 300 — services routed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Pipes, ducts and conduit are modelled to their own envelope. The support system does not exist yet, so nothing reserves room for it.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LOD 350 — supports designed</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Hangers and sway braces are added. They need a diagonal leg and a base footprint that the surrounding services have already occupied.</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Result — rework, not clash</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clash is real but late. Rerouting a duct run at LOD 350 costs an order of magnitude more than shifting a pipe at LOD 300, and it lands on the programme.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Blue Halo — reserve first</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Compute the support envelope at LOD 300 and publish it as a reserved volume. The conflict surfaces while services are still cheap to move.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How the clearance envelope is derived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Jurisdiction-driven, not hard-coded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halo_bbox  =  element_bbox  ⊕  effective_clearance</a:t>
            </a:r>
          </a:p>
        </p:txBody>
      </p:sp>
      <p:sp>
        <p:nvSpPr>
          <p:cNvPr id="10" name="TextBox 9"/>
          <p:cNvSpPr txBox="1"/>
          <p:nvPr/>
        </p:nvSpPr>
        <p:spPr>
          <a:xfrm>
            <a:off x="228600" y="214884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 is a uniform expansion on every face. effective_clearance is read from the jurisdiction config, never from code.</a:t>
            </a:r>
          </a:p>
        </p:txBody>
      </p:sp>
      <p:sp>
        <p:nvSpPr>
          <p:cNvPr id="11" name="Rectangle 10"/>
          <p:cNvSpPr/>
          <p:nvPr/>
        </p:nvSpPr>
        <p:spPr>
          <a:xfrm>
            <a:off x="228600" y="256032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72491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effective_clearance  =  base_clearance  +  seismic_zone_addition  +  hospital_addition</a:t>
            </a:r>
          </a:p>
        </p:txBody>
      </p:sp>
      <p:sp>
        <p:nvSpPr>
          <p:cNvPr id="13" name="TextBox 12"/>
          <p:cNvSpPr txBox="1"/>
          <p:nvPr/>
        </p:nvSpPr>
        <p:spPr>
          <a:xfrm>
            <a:off x="228600" y="3383279"/>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The shipped SB-001 config sets a 200 mm base: authored screening calibration, not a code value. No code or guide held gives a braced-service clearance.</a:t>
            </a:r>
          </a:p>
        </p:txBody>
      </p:sp>
      <p:sp>
        <p:nvSpPr>
          <p:cNvPr id="14" name="TextBox 13"/>
          <p:cNvSpPr txBox="1"/>
          <p:nvPr/>
        </p:nvSpPr>
        <p:spPr>
          <a:xfrm>
            <a:off x="228600" y="37947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implementation applies a uniform buffer because that is what the corpus can support. Angle-aware wedge envelopes for diagonal cable and rod bracing are deferred: the corpus carries no brace geometry to validate them against, and an unvalidated wedge would be a guess wearing a formula.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Four-phase architecture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Each phase fails independently and reports why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1089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Phase</a:t>
            </a:r>
          </a:p>
        </p:txBody>
      </p:sp>
      <p:sp>
        <p:nvSpPr>
          <p:cNvPr id="10" name="TextBox 9"/>
          <p:cNvSpPr txBox="1"/>
          <p:nvPr/>
        </p:nvSpPr>
        <p:spPr>
          <a:xfrm>
            <a:off x="1024128" y="1280160"/>
            <a:ext cx="224942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Function</a:t>
            </a:r>
          </a:p>
        </p:txBody>
      </p:sp>
      <p:sp>
        <p:nvSpPr>
          <p:cNvPr id="11" name="TextBox 10"/>
          <p:cNvSpPr txBox="1"/>
          <p:nvPr/>
        </p:nvSpPr>
        <p:spPr>
          <a:xfrm>
            <a:off x="3401568" y="1280160"/>
            <a:ext cx="261518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Input</a:t>
            </a:r>
          </a:p>
        </p:txBody>
      </p:sp>
      <p:sp>
        <p:nvSpPr>
          <p:cNvPr id="12" name="TextBox 11"/>
          <p:cNvSpPr txBox="1"/>
          <p:nvPr/>
        </p:nvSpPr>
        <p:spPr>
          <a:xfrm>
            <a:off x="6144768" y="1280160"/>
            <a:ext cx="2706624" cy="237744"/>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Output</a:t>
            </a:r>
          </a:p>
        </p:txBody>
      </p:sp>
      <p:sp>
        <p:nvSpPr>
          <p:cNvPr id="13" name="Rectangle 12"/>
          <p:cNvSpPr/>
          <p:nvPr/>
        </p:nvSpPr>
        <p:spPr>
          <a:xfrm>
            <a:off x="228600" y="1545336"/>
            <a:ext cx="8686800" cy="31089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91056"/>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5" name="TextBox 14"/>
          <p:cNvSpPr txBox="1"/>
          <p:nvPr/>
        </p:nvSpPr>
        <p:spPr>
          <a:xfrm>
            <a:off x="1024128" y="1591056"/>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normalisation</a:t>
            </a:r>
          </a:p>
        </p:txBody>
      </p:sp>
      <p:sp>
        <p:nvSpPr>
          <p:cNvPr id="16" name="TextBox 15"/>
          <p:cNvSpPr txBox="1"/>
          <p:nvPr/>
        </p:nvSpPr>
        <p:spPr>
          <a:xfrm>
            <a:off x="3401568" y="1591056"/>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Any IFC representation type</a:t>
            </a:r>
          </a:p>
        </p:txBody>
      </p:sp>
      <p:sp>
        <p:nvSpPr>
          <p:cNvPr id="17" name="TextBox 16"/>
          <p:cNvSpPr txBox="1"/>
          <p:nvPr/>
        </p:nvSpPr>
        <p:spPr>
          <a:xfrm>
            <a:off x="6144768" y="1591056"/>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World-coordinate bounding boxes, mm</a:t>
            </a:r>
          </a:p>
        </p:txBody>
      </p:sp>
      <p:sp>
        <p:nvSpPr>
          <p:cNvPr id="18" name="Rectangle 17"/>
          <p:cNvSpPr/>
          <p:nvPr/>
        </p:nvSpPr>
        <p:spPr>
          <a:xfrm>
            <a:off x="228600" y="1856232"/>
            <a:ext cx="8686800" cy="31089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901952"/>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20" name="TextBox 19"/>
          <p:cNvSpPr txBox="1"/>
          <p:nvPr/>
        </p:nvSpPr>
        <p:spPr>
          <a:xfrm>
            <a:off x="1024128" y="1901952"/>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 generation</a:t>
            </a:r>
          </a:p>
        </p:txBody>
      </p:sp>
      <p:sp>
        <p:nvSpPr>
          <p:cNvPr id="21" name="TextBox 20"/>
          <p:cNvSpPr txBox="1"/>
          <p:nvPr/>
        </p:nvSpPr>
        <p:spPr>
          <a:xfrm>
            <a:off x="3401568" y="1901952"/>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Element bbox + jurisdiction rule</a:t>
            </a:r>
          </a:p>
        </p:txBody>
      </p:sp>
      <p:sp>
        <p:nvSpPr>
          <p:cNvPr id="22" name="TextBox 21"/>
          <p:cNvSpPr txBox="1"/>
          <p:nvPr/>
        </p:nvSpPr>
        <p:spPr>
          <a:xfrm>
            <a:off x="6144768" y="1901952"/>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Expanded clearance envelope per element</a:t>
            </a:r>
          </a:p>
        </p:txBody>
      </p:sp>
      <p:sp>
        <p:nvSpPr>
          <p:cNvPr id="23" name="Rectangle 22"/>
          <p:cNvSpPr/>
          <p:nvPr/>
        </p:nvSpPr>
        <p:spPr>
          <a:xfrm>
            <a:off x="228600" y="2167128"/>
            <a:ext cx="8686800" cy="31089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212848"/>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a:t>
            </a:r>
          </a:p>
        </p:txBody>
      </p:sp>
      <p:sp>
        <p:nvSpPr>
          <p:cNvPr id="25" name="TextBox 24"/>
          <p:cNvSpPr txBox="1"/>
          <p:nvPr/>
        </p:nvSpPr>
        <p:spPr>
          <a:xfrm>
            <a:off x="1024128" y="2212848"/>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Spatial indexing</a:t>
            </a:r>
          </a:p>
        </p:txBody>
      </p:sp>
      <p:sp>
        <p:nvSpPr>
          <p:cNvPr id="26" name="TextBox 25"/>
          <p:cNvSpPr txBox="1"/>
          <p:nvPr/>
        </p:nvSpPr>
        <p:spPr>
          <a:xfrm>
            <a:off x="3401568" y="2212848"/>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All candidate geometries</a:t>
            </a:r>
          </a:p>
        </p:txBody>
      </p:sp>
      <p:sp>
        <p:nvSpPr>
          <p:cNvPr id="27" name="TextBox 26"/>
          <p:cNvSpPr txBox="1"/>
          <p:nvPr/>
        </p:nvSpPr>
        <p:spPr>
          <a:xfrm>
            <a:off x="6144768" y="2212848"/>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Uniform grid, cell-bucketed</a:t>
            </a:r>
          </a:p>
        </p:txBody>
      </p:sp>
      <p:sp>
        <p:nvSpPr>
          <p:cNvPr id="28" name="Rectangle 27"/>
          <p:cNvSpPr/>
          <p:nvPr/>
        </p:nvSpPr>
        <p:spPr>
          <a:xfrm>
            <a:off x="228600" y="2478024"/>
            <a:ext cx="8686800" cy="31089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523744"/>
            <a:ext cx="60350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30" name="TextBox 29"/>
          <p:cNvSpPr txBox="1"/>
          <p:nvPr/>
        </p:nvSpPr>
        <p:spPr>
          <a:xfrm>
            <a:off x="1024128" y="2523744"/>
            <a:ext cx="22494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Collision detection</a:t>
            </a:r>
          </a:p>
        </p:txBody>
      </p:sp>
      <p:sp>
        <p:nvSpPr>
          <p:cNvPr id="31" name="TextBox 30"/>
          <p:cNvSpPr txBox="1"/>
          <p:nvPr/>
        </p:nvSpPr>
        <p:spPr>
          <a:xfrm>
            <a:off x="3401568" y="2523744"/>
            <a:ext cx="261518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 + indexed candidates</a:t>
            </a:r>
          </a:p>
        </p:txBody>
      </p:sp>
      <p:sp>
        <p:nvSpPr>
          <p:cNvPr id="32" name="TextBox 31"/>
          <p:cNvSpPr txBox="1"/>
          <p:nvPr/>
        </p:nvSpPr>
        <p:spPr>
          <a:xfrm>
            <a:off x="6144768" y="2523744"/>
            <a:ext cx="2706624" cy="237744"/>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ClashReport per intersection, severity banded</a:t>
            </a:r>
          </a:p>
        </p:txBody>
      </p:sp>
      <p:sp>
        <p:nvSpPr>
          <p:cNvPr id="33" name="TextBox 32"/>
          <p:cNvSpPr txBox="1"/>
          <p:nvPr/>
        </p:nvSpPr>
        <p:spPr>
          <a:xfrm>
            <a:off x="228600" y="28803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Separation matters for diagnosis: a model that yields no halos has failed Phase 1, and the run says so rather than reporting zero conflicts as a clean result.</a:t>
            </a:r>
          </a:p>
        </p:txBody>
      </p:sp>
      <p:sp>
        <p:nvSpPr>
          <p:cNvPr id="34" name="TextBox 33"/>
          <p:cNvSpPr txBox="1"/>
          <p:nvPr/>
        </p:nvSpPr>
        <p:spPr>
          <a:xfrm>
            <a:off x="228600" y="36576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Measured on the corpus: Phase 1 resolved geometry for 49,736 of 49,736 MEP elements — 100%.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1 — geometry normalisation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phase that decides whether anything else can run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Why it is not trivial</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Real exports overwhelmingly use IfcMappedItem and IfcFacetedBrep. A fast vertex reader handling only tessellated sets, polylines and swept solids resolves none of them — measured at 0 of 87 elements on the AISC steel models.</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the harness does</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Evaluates real geometry through ifcopenshell.geom's multithreaded iterator, which handles every representation type, then converts to axis-aligned boxes in millimetres.</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Two settings that decide correctness</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use-world-coords must be set, or every element returns in local coordinates near the origin and everything appears to clash. The iterator emits SI metres regardless of declared file units, so results scale by 1000.</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Verified against a fixture whose true extents are known exactly, so the unit handling is checked rather than assumed.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2 — halo generation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Deterministic, and traceable to its config rule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Read the rule, not a constant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brace variant selects a ClearanceRule from the loaded jurisdiction config. Base clearance, spacing and angle limits all come from the pack.</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Expand uniformly</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element bounding box grows by the effective clearance on every face, producing an axis-aligned envelope in millimetres.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Record what produced it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Each HaloVolume carries the rule variant, the clearance applied and the flags that modified it, so a volume can be traced back to the config rule and its provenance status.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Immutable with respect to source</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original element geometry is never mutated; the halo is a separate object keyed by GlobalId.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3 — spatial indexing</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brute-force pairing does not finish</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brute force  O(n²)   →   uniform grid  ≈ O(n)  for spatially sparse models</a:t>
            </a:r>
          </a:p>
        </p:txBody>
      </p:sp>
      <p:sp>
        <p:nvSpPr>
          <p:cNvPr id="10" name="TextBox 9"/>
          <p:cNvSpPr txBox="1"/>
          <p:nvPr/>
        </p:nvSpPr>
        <p:spPr>
          <a:xfrm>
            <a:off x="228600" y="214884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West Riverside mechanical alone carries 8,732 duct and pipe segments: 76 million pair tests without pre-filtering.</a:t>
            </a:r>
          </a:p>
        </p:txBody>
      </p:sp>
      <p:sp>
        <p:nvSpPr>
          <p:cNvPr id="11" name="Rectangle 10"/>
          <p:cNvSpPr/>
          <p:nvPr/>
        </p:nvSpPr>
        <p:spPr>
          <a:xfrm>
            <a:off x="228600"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8600" y="233172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Cell sizing</a:t>
            </a:r>
          </a:p>
        </p:txBody>
      </p:sp>
      <p:sp>
        <p:nvSpPr>
          <p:cNvPr id="14" name="TextBox 13"/>
          <p:cNvSpPr txBox="1"/>
          <p:nvPr/>
        </p:nvSpPr>
        <p:spPr>
          <a:xfrm>
            <a:off x="338328"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Cell edge is the median element extent, floored at four times the clearance, so a halo touches few cells.</a:t>
            </a:r>
          </a:p>
        </p:txBody>
      </p:sp>
      <p:sp>
        <p:nvSpPr>
          <p:cNvPr id="15" name="Rectangle 14"/>
          <p:cNvSpPr/>
          <p:nvPr/>
        </p:nvSpPr>
        <p:spPr>
          <a:xfrm>
            <a:off x="3179064"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179064" y="2331720"/>
            <a:ext cx="2785872"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88792"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Bucketing</a:t>
            </a:r>
          </a:p>
        </p:txBody>
      </p:sp>
      <p:sp>
        <p:nvSpPr>
          <p:cNvPr id="18" name="TextBox 17"/>
          <p:cNvSpPr txBox="1"/>
          <p:nvPr/>
        </p:nvSpPr>
        <p:spPr>
          <a:xfrm>
            <a:off x="3288792"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Every candidate bbox is inserted into each cell it overlaps; a halo queries only its own cells.</a:t>
            </a:r>
          </a:p>
        </p:txBody>
      </p:sp>
      <p:sp>
        <p:nvSpPr>
          <p:cNvPr id="19" name="Rectangle 18"/>
          <p:cNvSpPr/>
          <p:nvPr/>
        </p:nvSpPr>
        <p:spPr>
          <a:xfrm>
            <a:off x="6129528" y="2331720"/>
            <a:ext cx="2785872" cy="12344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9528" y="233172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9256" y="251460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Exactness preserved</a:t>
            </a:r>
          </a:p>
        </p:txBody>
      </p:sp>
      <p:sp>
        <p:nvSpPr>
          <p:cNvPr id="22" name="TextBox 21"/>
          <p:cNvSpPr txBox="1"/>
          <p:nvPr/>
        </p:nvSpPr>
        <p:spPr>
          <a:xfrm>
            <a:off x="6239256" y="2953512"/>
            <a:ext cx="2566416" cy="5029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Results are identical to brute-force pairing. Only the comparisons that could not intersect are removed.</a:t>
            </a:r>
          </a:p>
        </p:txBody>
      </p:sp>
      <p:sp>
        <p:nvSpPr>
          <p:cNvPr id="23" name="TextBox 22"/>
          <p:cNvSpPr txBox="1"/>
          <p:nvPr/>
        </p:nvSpPr>
        <p:spPr>
          <a:xfrm>
            <a:off x="228600" y="37490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This is the difference between a sweep that completes in an hour and one that does not complete.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Phase 4 — collision detection and severity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AABB intersection, banded by overlap fraction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4008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65759"/>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overlap_ratio  =  overlap_volume  ÷  halo_volume</a:t>
            </a:r>
          </a:p>
        </p:txBody>
      </p:sp>
      <p:sp>
        <p:nvSpPr>
          <p:cNvPr id="10" name="Rectangle 9"/>
          <p:cNvSpPr/>
          <p:nvPr/>
        </p:nvSpPr>
        <p:spPr>
          <a:xfrm>
            <a:off x="228600" y="210312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 y="2148839"/>
            <a:ext cx="1461032"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Band</a:t>
            </a:r>
          </a:p>
        </p:txBody>
      </p:sp>
      <p:sp>
        <p:nvSpPr>
          <p:cNvPr id="12" name="TextBox 11"/>
          <p:cNvSpPr txBox="1"/>
          <p:nvPr/>
        </p:nvSpPr>
        <p:spPr>
          <a:xfrm>
            <a:off x="1881656" y="2148839"/>
            <a:ext cx="199071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Threshold</a:t>
            </a:r>
          </a:p>
        </p:txBody>
      </p:sp>
      <p:sp>
        <p:nvSpPr>
          <p:cNvPr id="13" name="TextBox 12"/>
          <p:cNvSpPr txBox="1"/>
          <p:nvPr/>
        </p:nvSpPr>
        <p:spPr>
          <a:xfrm>
            <a:off x="4000388" y="2148839"/>
            <a:ext cx="326195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Measured across corpus</a:t>
            </a:r>
          </a:p>
        </p:txBody>
      </p:sp>
      <p:sp>
        <p:nvSpPr>
          <p:cNvPr id="14" name="TextBox 13"/>
          <p:cNvSpPr txBox="1"/>
          <p:nvPr/>
        </p:nvSpPr>
        <p:spPr>
          <a:xfrm>
            <a:off x="7390359" y="2148839"/>
            <a:ext cx="1461032"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Share</a:t>
            </a:r>
          </a:p>
        </p:txBody>
      </p:sp>
      <p:sp>
        <p:nvSpPr>
          <p:cNvPr id="15" name="Rectangle 14"/>
          <p:cNvSpPr/>
          <p:nvPr/>
        </p:nvSpPr>
        <p:spPr>
          <a:xfrm>
            <a:off x="228600" y="2395727"/>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2608" y="2441447"/>
            <a:ext cx="1461032" cy="219456"/>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Critical</a:t>
            </a:r>
          </a:p>
        </p:txBody>
      </p:sp>
      <p:sp>
        <p:nvSpPr>
          <p:cNvPr id="17" name="TextBox 16"/>
          <p:cNvSpPr txBox="1"/>
          <p:nvPr/>
        </p:nvSpPr>
        <p:spPr>
          <a:xfrm>
            <a:off x="1881656" y="2441447"/>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 0.25</a:t>
            </a:r>
          </a:p>
        </p:txBody>
      </p:sp>
      <p:sp>
        <p:nvSpPr>
          <p:cNvPr id="18" name="TextBox 17"/>
          <p:cNvSpPr txBox="1"/>
          <p:nvPr/>
        </p:nvSpPr>
        <p:spPr>
          <a:xfrm>
            <a:off x="4000388" y="2441447"/>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5,236</a:t>
            </a:r>
          </a:p>
        </p:txBody>
      </p:sp>
      <p:sp>
        <p:nvSpPr>
          <p:cNvPr id="19" name="TextBox 18"/>
          <p:cNvSpPr txBox="1"/>
          <p:nvPr/>
        </p:nvSpPr>
        <p:spPr>
          <a:xfrm>
            <a:off x="7390359" y="2441447"/>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2.34%</a:t>
            </a:r>
          </a:p>
        </p:txBody>
      </p:sp>
      <p:sp>
        <p:nvSpPr>
          <p:cNvPr id="20" name="Rectangle 19"/>
          <p:cNvSpPr/>
          <p:nvPr/>
        </p:nvSpPr>
        <p:spPr>
          <a:xfrm>
            <a:off x="228600" y="2688335"/>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734055"/>
            <a:ext cx="1461032" cy="219456"/>
          </a:xfrm>
          <a:prstGeom prst="rect">
            <a:avLst/>
          </a:prstGeom>
          <a:noFill/>
        </p:spPr>
        <p:txBody>
          <a:bodyPr wrap="square" anchor="t" lIns="0" rIns="0" tIns="0" bIns="0">
            <a:spAutoFit/>
          </a:bodyPr>
          <a:lstStyle/>
          <a:p>
            <a:pPr algn="l">
              <a:lnSpc>
                <a:spcPct val="100000"/>
              </a:lnSpc>
            </a:pPr>
            <a:r>
              <a:rPr sz="1100" b="1">
                <a:solidFill>
                  <a:srgbClr val="854F0B"/>
                </a:solidFill>
                <a:latin typeface="Calibri"/>
              </a:rPr>
              <a:t>Major</a:t>
            </a:r>
          </a:p>
        </p:txBody>
      </p:sp>
      <p:sp>
        <p:nvSpPr>
          <p:cNvPr id="22" name="TextBox 21"/>
          <p:cNvSpPr txBox="1"/>
          <p:nvPr/>
        </p:nvSpPr>
        <p:spPr>
          <a:xfrm>
            <a:off x="1881656" y="2734055"/>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 0.05</a:t>
            </a:r>
          </a:p>
        </p:txBody>
      </p:sp>
      <p:sp>
        <p:nvSpPr>
          <p:cNvPr id="23" name="TextBox 22"/>
          <p:cNvSpPr txBox="1"/>
          <p:nvPr/>
        </p:nvSpPr>
        <p:spPr>
          <a:xfrm>
            <a:off x="4000388" y="2734055"/>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6,699</a:t>
            </a:r>
          </a:p>
        </p:txBody>
      </p:sp>
      <p:sp>
        <p:nvSpPr>
          <p:cNvPr id="24" name="TextBox 23"/>
          <p:cNvSpPr txBox="1"/>
          <p:nvPr/>
        </p:nvSpPr>
        <p:spPr>
          <a:xfrm>
            <a:off x="7390359" y="2734055"/>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3.00%</a:t>
            </a:r>
          </a:p>
        </p:txBody>
      </p:sp>
      <p:sp>
        <p:nvSpPr>
          <p:cNvPr id="25" name="Rectangle 24"/>
          <p:cNvSpPr/>
          <p:nvPr/>
        </p:nvSpPr>
        <p:spPr>
          <a:xfrm>
            <a:off x="228600" y="298094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2608" y="3026663"/>
            <a:ext cx="1461032"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Minor</a:t>
            </a:r>
          </a:p>
        </p:txBody>
      </p:sp>
      <p:sp>
        <p:nvSpPr>
          <p:cNvPr id="27" name="TextBox 26"/>
          <p:cNvSpPr txBox="1"/>
          <p:nvPr/>
        </p:nvSpPr>
        <p:spPr>
          <a:xfrm>
            <a:off x="1881656" y="3026663"/>
            <a:ext cx="199071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ratio &lt; 0.05</a:t>
            </a:r>
          </a:p>
        </p:txBody>
      </p:sp>
      <p:sp>
        <p:nvSpPr>
          <p:cNvPr id="28" name="TextBox 27"/>
          <p:cNvSpPr txBox="1"/>
          <p:nvPr/>
        </p:nvSpPr>
        <p:spPr>
          <a:xfrm>
            <a:off x="4000388" y="3026663"/>
            <a:ext cx="326195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211,581</a:t>
            </a:r>
          </a:p>
        </p:txBody>
      </p:sp>
      <p:sp>
        <p:nvSpPr>
          <p:cNvPr id="29" name="TextBox 28"/>
          <p:cNvSpPr txBox="1"/>
          <p:nvPr/>
        </p:nvSpPr>
        <p:spPr>
          <a:xfrm>
            <a:off x="7390359" y="3026663"/>
            <a:ext cx="1461032"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94.66%</a:t>
            </a:r>
          </a:p>
        </p:txBody>
      </p:sp>
      <p:sp>
        <p:nvSpPr>
          <p:cNvPr id="30" name="TextBox 29"/>
          <p:cNvSpPr txBox="1"/>
          <p:nvPr/>
        </p:nvSpPr>
        <p:spPr>
          <a:xfrm>
            <a:off x="228600" y="342900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banding is a spatial heuristic, not a standards-derived threshold — stated as such in Appendix B under threats to validity. Table B.6 shows how sensitive the totals are to the clearance input, which is the stronger reason to treat severity as triage rather than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Hospital MEP corridor — brace family comparison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One element, three candidate supports, one clearance regime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17664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Brace family</a:t>
            </a:r>
          </a:p>
        </p:txBody>
      </p:sp>
      <p:sp>
        <p:nvSpPr>
          <p:cNvPr id="10" name="TextBox 9"/>
          <p:cNvSpPr txBox="1"/>
          <p:nvPr/>
        </p:nvSpPr>
        <p:spPr>
          <a:xfrm>
            <a:off x="2597269" y="1280160"/>
            <a:ext cx="1112955"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1" name="TextBox 10"/>
          <p:cNvSpPr txBox="1"/>
          <p:nvPr/>
        </p:nvSpPr>
        <p:spPr>
          <a:xfrm>
            <a:off x="3838240" y="1280160"/>
            <a:ext cx="199936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Halo volume (mm³)</a:t>
            </a:r>
          </a:p>
        </p:txBody>
      </p:sp>
      <p:sp>
        <p:nvSpPr>
          <p:cNvPr id="12" name="TextBox 11"/>
          <p:cNvSpPr txBox="1"/>
          <p:nvPr/>
        </p:nvSpPr>
        <p:spPr>
          <a:xfrm>
            <a:off x="5965620" y="1280160"/>
            <a:ext cx="93567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Conflicts</a:t>
            </a:r>
          </a:p>
        </p:txBody>
      </p:sp>
      <p:sp>
        <p:nvSpPr>
          <p:cNvPr id="13" name="TextBox 12"/>
          <p:cNvSpPr txBox="1"/>
          <p:nvPr/>
        </p:nvSpPr>
        <p:spPr>
          <a:xfrm>
            <a:off x="7029310" y="1280160"/>
            <a:ext cx="1822081"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Recommendation</a:t>
            </a:r>
          </a:p>
        </p:txBody>
      </p:sp>
      <p:sp>
        <p:nvSpPr>
          <p:cNvPr id="14" name="Rectangle 13"/>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72768"/>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 iron — fire</a:t>
            </a:r>
          </a:p>
        </p:txBody>
      </p:sp>
      <p:sp>
        <p:nvSpPr>
          <p:cNvPr id="16" name="TextBox 15"/>
          <p:cNvSpPr txBox="1"/>
          <p:nvPr/>
        </p:nvSpPr>
        <p:spPr>
          <a:xfrm>
            <a:off x="2597269" y="1572768"/>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17" name="TextBox 16"/>
          <p:cNvSpPr txBox="1"/>
          <p:nvPr/>
        </p:nvSpPr>
        <p:spPr>
          <a:xfrm>
            <a:off x="3838240" y="1572768"/>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18" name="TextBox 17"/>
          <p:cNvSpPr txBox="1"/>
          <p:nvPr/>
        </p:nvSpPr>
        <p:spPr>
          <a:xfrm>
            <a:off x="5965620" y="1572768"/>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9" name="TextBox 18"/>
          <p:cNvSpPr txBox="1"/>
          <p:nvPr/>
        </p:nvSpPr>
        <p:spPr>
          <a:xfrm>
            <a:off x="7029310" y="1572768"/>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20" name="Rectangle 19"/>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65376"/>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 iron — mechanical</a:t>
            </a:r>
          </a:p>
        </p:txBody>
      </p:sp>
      <p:sp>
        <p:nvSpPr>
          <p:cNvPr id="22" name="TextBox 21"/>
          <p:cNvSpPr txBox="1"/>
          <p:nvPr/>
        </p:nvSpPr>
        <p:spPr>
          <a:xfrm>
            <a:off x="2597269" y="1865376"/>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23" name="TextBox 22"/>
          <p:cNvSpPr txBox="1"/>
          <p:nvPr/>
        </p:nvSpPr>
        <p:spPr>
          <a:xfrm>
            <a:off x="3838240" y="1865376"/>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24" name="TextBox 23"/>
          <p:cNvSpPr txBox="1"/>
          <p:nvPr/>
        </p:nvSpPr>
        <p:spPr>
          <a:xfrm>
            <a:off x="5965620" y="1865376"/>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25" name="TextBox 24"/>
          <p:cNvSpPr txBox="1"/>
          <p:nvPr/>
        </p:nvSpPr>
        <p:spPr>
          <a:xfrm>
            <a:off x="7029310" y="1865376"/>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26" name="Rectangle 25"/>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57984"/>
            <a:ext cx="217664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Rod</a:t>
            </a:r>
          </a:p>
        </p:txBody>
      </p:sp>
      <p:sp>
        <p:nvSpPr>
          <p:cNvPr id="28" name="TextBox 27"/>
          <p:cNvSpPr txBox="1"/>
          <p:nvPr/>
        </p:nvSpPr>
        <p:spPr>
          <a:xfrm>
            <a:off x="2597269" y="2157984"/>
            <a:ext cx="1112955"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200 mm</a:t>
            </a:r>
          </a:p>
        </p:txBody>
      </p:sp>
      <p:sp>
        <p:nvSpPr>
          <p:cNvPr id="29" name="TextBox 28"/>
          <p:cNvSpPr txBox="1"/>
          <p:nvPr/>
        </p:nvSpPr>
        <p:spPr>
          <a:xfrm>
            <a:off x="3838240" y="2157984"/>
            <a:ext cx="199936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688,500,000</a:t>
            </a:r>
          </a:p>
        </p:txBody>
      </p:sp>
      <p:sp>
        <p:nvSpPr>
          <p:cNvPr id="30" name="TextBox 29"/>
          <p:cNvSpPr txBox="1"/>
          <p:nvPr/>
        </p:nvSpPr>
        <p:spPr>
          <a:xfrm>
            <a:off x="5965620" y="2157984"/>
            <a:ext cx="93567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31" name="TextBox 30"/>
          <p:cNvSpPr txBox="1"/>
          <p:nvPr/>
        </p:nvSpPr>
        <p:spPr>
          <a:xfrm>
            <a:off x="7029310" y="2157984"/>
            <a:ext cx="1822081"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Marginal</a:t>
            </a:r>
          </a:p>
        </p:txBody>
      </p:sp>
      <p:sp>
        <p:nvSpPr>
          <p:cNvPr id="32" name="Rectangle 31"/>
          <p:cNvSpPr/>
          <p:nvPr/>
        </p:nvSpPr>
        <p:spPr>
          <a:xfrm>
            <a:off x="228600" y="2404872"/>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50591"/>
            <a:ext cx="2176645"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Cable</a:t>
            </a:r>
          </a:p>
        </p:txBody>
      </p:sp>
      <p:sp>
        <p:nvSpPr>
          <p:cNvPr id="34" name="TextBox 33"/>
          <p:cNvSpPr txBox="1"/>
          <p:nvPr/>
        </p:nvSpPr>
        <p:spPr>
          <a:xfrm>
            <a:off x="2597269" y="2450591"/>
            <a:ext cx="1112955"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200 mm</a:t>
            </a:r>
          </a:p>
        </p:txBody>
      </p:sp>
      <p:sp>
        <p:nvSpPr>
          <p:cNvPr id="35" name="TextBox 34"/>
          <p:cNvSpPr txBox="1"/>
          <p:nvPr/>
        </p:nvSpPr>
        <p:spPr>
          <a:xfrm>
            <a:off x="3838240" y="2450591"/>
            <a:ext cx="1999363"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688,500,000</a:t>
            </a:r>
          </a:p>
        </p:txBody>
      </p:sp>
      <p:sp>
        <p:nvSpPr>
          <p:cNvPr id="36" name="TextBox 35"/>
          <p:cNvSpPr txBox="1"/>
          <p:nvPr/>
        </p:nvSpPr>
        <p:spPr>
          <a:xfrm>
            <a:off x="5965620" y="2450591"/>
            <a:ext cx="935673"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1</a:t>
            </a:r>
          </a:p>
        </p:txBody>
      </p:sp>
      <p:sp>
        <p:nvSpPr>
          <p:cNvPr id="37" name="TextBox 36"/>
          <p:cNvSpPr txBox="1"/>
          <p:nvPr/>
        </p:nvSpPr>
        <p:spPr>
          <a:xfrm>
            <a:off x="7029310" y="2450591"/>
            <a:ext cx="1822081"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Preferred on footprint</a:t>
            </a:r>
          </a:p>
        </p:txBody>
      </p:sp>
      <p:sp>
        <p:nvSpPr>
          <p:cNvPr id="38" name="TextBox 37"/>
          <p:cNvSpPr txBox="1"/>
          <p:nvPr/>
        </p:nvSpPr>
        <p:spPr>
          <a:xfrm>
            <a:off x="228600" y="29260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All four brace-type variants in the SB-001 config share one authored clearance; no source held distinguishes them. That is a gap in the config, not a property of the building. Where a config does differentiate, the comparison separates and the smallest-footprint family wins.</a:t>
            </a:r>
          </a:p>
        </p:txBody>
      </p:sp>
      <p:sp>
        <p:nvSpPr>
          <p:cNvPr id="39" name="TextBox 38"/>
          <p:cNvSpPr txBox="1"/>
          <p:nvPr/>
        </p:nvSpPr>
        <p:spPr>
          <a:xfrm>
            <a:off x="228600" y="39776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This is the honest form of the comparison: the method distinguishes families; the SB-001 config does not yet let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sensitivity — the counter-intuitive result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Raising the clearance requirement raises findings and lowers severity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0" name="TextBox 9"/>
          <p:cNvSpPr txBox="1"/>
          <p:nvPr/>
        </p:nvSpPr>
        <p:spPr>
          <a:xfrm>
            <a:off x="1614512" y="1280160"/>
            <a:ext cx="2893479"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Jurisdiction</a:t>
            </a:r>
          </a:p>
        </p:txBody>
      </p:sp>
      <p:sp>
        <p:nvSpPr>
          <p:cNvPr id="11" name="TextBox 10"/>
          <p:cNvSpPr txBox="1"/>
          <p:nvPr/>
        </p:nvSpPr>
        <p:spPr>
          <a:xfrm>
            <a:off x="4636008" y="1280160"/>
            <a:ext cx="1571575"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Clashes</a:t>
            </a:r>
          </a:p>
        </p:txBody>
      </p:sp>
      <p:sp>
        <p:nvSpPr>
          <p:cNvPr id="12" name="TextBox 11"/>
          <p:cNvSpPr txBox="1"/>
          <p:nvPr/>
        </p:nvSpPr>
        <p:spPr>
          <a:xfrm>
            <a:off x="6335599"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Critical</a:t>
            </a:r>
          </a:p>
        </p:txBody>
      </p:sp>
      <p:sp>
        <p:nvSpPr>
          <p:cNvPr id="13" name="TextBox 12"/>
          <p:cNvSpPr txBox="1"/>
          <p:nvPr/>
        </p:nvSpPr>
        <p:spPr>
          <a:xfrm>
            <a:off x="7657503"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vs 200 mm</a:t>
            </a:r>
          </a:p>
        </p:txBody>
      </p:sp>
      <p:sp>
        <p:nvSpPr>
          <p:cNvPr id="14" name="Rectangle 13"/>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25 mm</a:t>
            </a:r>
          </a:p>
        </p:txBody>
      </p:sp>
      <p:sp>
        <p:nvSpPr>
          <p:cNvPr id="16" name="TextBox 15"/>
          <p:cNvSpPr txBox="1"/>
          <p:nvPr/>
        </p:nvSpPr>
        <p:spPr>
          <a:xfrm>
            <a:off x="1614512" y="1563624"/>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4636008" y="1563624"/>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30,332</a:t>
            </a:r>
          </a:p>
        </p:txBody>
      </p:sp>
      <p:sp>
        <p:nvSpPr>
          <p:cNvPr id="18" name="TextBox 17"/>
          <p:cNvSpPr txBox="1"/>
          <p:nvPr/>
        </p:nvSpPr>
        <p:spPr>
          <a:xfrm>
            <a:off x="6335599"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148</a:t>
            </a:r>
          </a:p>
        </p:txBody>
      </p:sp>
      <p:sp>
        <p:nvSpPr>
          <p:cNvPr id="19" name="TextBox 18"/>
          <p:cNvSpPr txBox="1"/>
          <p:nvPr/>
        </p:nvSpPr>
        <p:spPr>
          <a:xfrm>
            <a:off x="7657503"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0.29×</a:t>
            </a:r>
          </a:p>
        </p:txBody>
      </p:sp>
      <p:sp>
        <p:nvSpPr>
          <p:cNvPr id="20" name="Rectangle 19"/>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mm</a:t>
            </a:r>
          </a:p>
        </p:txBody>
      </p:sp>
      <p:sp>
        <p:nvSpPr>
          <p:cNvPr id="22" name="TextBox 21"/>
          <p:cNvSpPr txBox="1"/>
          <p:nvPr/>
        </p:nvSpPr>
        <p:spPr>
          <a:xfrm>
            <a:off x="1614512" y="1847088"/>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3" name="TextBox 22"/>
          <p:cNvSpPr txBox="1"/>
          <p:nvPr/>
        </p:nvSpPr>
        <p:spPr>
          <a:xfrm>
            <a:off x="4636008" y="1847088"/>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69,307</a:t>
            </a:r>
          </a:p>
        </p:txBody>
      </p:sp>
      <p:sp>
        <p:nvSpPr>
          <p:cNvPr id="24" name="TextBox 23"/>
          <p:cNvSpPr txBox="1"/>
          <p:nvPr/>
        </p:nvSpPr>
        <p:spPr>
          <a:xfrm>
            <a:off x="6335599"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a:t>
            </a:r>
          </a:p>
        </p:txBody>
      </p:sp>
      <p:sp>
        <p:nvSpPr>
          <p:cNvPr id="25" name="TextBox 24"/>
          <p:cNvSpPr txBox="1"/>
          <p:nvPr/>
        </p:nvSpPr>
        <p:spPr>
          <a:xfrm>
            <a:off x="7657503"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0.67×</a:t>
            </a:r>
          </a:p>
        </p:txBody>
      </p:sp>
      <p:sp>
        <p:nvSpPr>
          <p:cNvPr id="26" name="Rectangle 25"/>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200 mm</a:t>
            </a:r>
          </a:p>
        </p:txBody>
      </p:sp>
      <p:sp>
        <p:nvSpPr>
          <p:cNvPr id="28" name="TextBox 27"/>
          <p:cNvSpPr txBox="1"/>
          <p:nvPr/>
        </p:nvSpPr>
        <p:spPr>
          <a:xfrm>
            <a:off x="1614512" y="2130552"/>
            <a:ext cx="2893479"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SB-001 authored calibration¹</a:t>
            </a:r>
          </a:p>
        </p:txBody>
      </p:sp>
      <p:sp>
        <p:nvSpPr>
          <p:cNvPr id="29" name="TextBox 28"/>
          <p:cNvSpPr txBox="1"/>
          <p:nvPr/>
        </p:nvSpPr>
        <p:spPr>
          <a:xfrm>
            <a:off x="4636008" y="2130552"/>
            <a:ext cx="1571575"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104,144</a:t>
            </a:r>
          </a:p>
        </p:txBody>
      </p:sp>
      <p:sp>
        <p:nvSpPr>
          <p:cNvPr id="30" name="TextBox 29"/>
          <p:cNvSpPr txBox="1"/>
          <p:nvPr/>
        </p:nvSpPr>
        <p:spPr>
          <a:xfrm>
            <a:off x="6335599"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31</a:t>
            </a:r>
          </a:p>
        </p:txBody>
      </p:sp>
      <p:sp>
        <p:nvSpPr>
          <p:cNvPr id="31" name="TextBox 30"/>
          <p:cNvSpPr txBox="1"/>
          <p:nvPr/>
        </p:nvSpPr>
        <p:spPr>
          <a:xfrm>
            <a:off x="7657503"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1.00×</a:t>
            </a:r>
          </a:p>
        </p:txBody>
      </p:sp>
      <p:sp>
        <p:nvSpPr>
          <p:cNvPr id="32" name="Rectangle 31"/>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457.2 mm</a:t>
            </a:r>
          </a:p>
        </p:txBody>
      </p:sp>
      <p:sp>
        <p:nvSpPr>
          <p:cNvPr id="34" name="TextBox 33"/>
          <p:cNvSpPr txBox="1"/>
          <p:nvPr/>
        </p:nvSpPr>
        <p:spPr>
          <a:xfrm>
            <a:off x="1614512" y="2414015"/>
            <a:ext cx="2893479"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a:t>
            </a:r>
          </a:p>
        </p:txBody>
      </p:sp>
      <p:sp>
        <p:nvSpPr>
          <p:cNvPr id="35" name="TextBox 34"/>
          <p:cNvSpPr txBox="1"/>
          <p:nvPr/>
        </p:nvSpPr>
        <p:spPr>
          <a:xfrm>
            <a:off x="4636008" y="2414015"/>
            <a:ext cx="1571575"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172,812</a:t>
            </a:r>
          </a:p>
        </p:txBody>
      </p:sp>
      <p:sp>
        <p:nvSpPr>
          <p:cNvPr id="36" name="TextBox 35"/>
          <p:cNvSpPr txBox="1"/>
          <p:nvPr/>
        </p:nvSpPr>
        <p:spPr>
          <a:xfrm>
            <a:off x="6335599"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a:t>
            </a:r>
          </a:p>
        </p:txBody>
      </p:sp>
      <p:sp>
        <p:nvSpPr>
          <p:cNvPr id="37" name="TextBox 36"/>
          <p:cNvSpPr txBox="1"/>
          <p:nvPr/>
        </p:nvSpPr>
        <p:spPr>
          <a:xfrm>
            <a:off x="7657503"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1.66×</a:t>
            </a:r>
          </a:p>
        </p:txBody>
      </p:sp>
      <p:sp>
        <p:nvSpPr>
          <p:cNvPr id="38" name="Rectangle 3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600 mm</a:t>
            </a:r>
          </a:p>
        </p:txBody>
      </p:sp>
      <p:sp>
        <p:nvSpPr>
          <p:cNvPr id="40" name="TextBox 39"/>
          <p:cNvSpPr txBox="1"/>
          <p:nvPr/>
        </p:nvSpPr>
        <p:spPr>
          <a:xfrm>
            <a:off x="1614512" y="2697480"/>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1" name="TextBox 40"/>
          <p:cNvSpPr txBox="1"/>
          <p:nvPr/>
        </p:nvSpPr>
        <p:spPr>
          <a:xfrm>
            <a:off x="4636008" y="2697480"/>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212,870</a:t>
            </a:r>
          </a:p>
        </p:txBody>
      </p:sp>
      <p:sp>
        <p:nvSpPr>
          <p:cNvPr id="42" name="TextBox 41"/>
          <p:cNvSpPr txBox="1"/>
          <p:nvPr/>
        </p:nvSpPr>
        <p:spPr>
          <a:xfrm>
            <a:off x="6335599"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a:t>
            </a:r>
          </a:p>
        </p:txBody>
      </p:sp>
      <p:sp>
        <p:nvSpPr>
          <p:cNvPr id="43" name="TextBox 42"/>
          <p:cNvSpPr txBox="1"/>
          <p:nvPr/>
        </p:nvSpPr>
        <p:spPr>
          <a:xfrm>
            <a:off x="7657503"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2.04×</a:t>
            </a:r>
          </a:p>
        </p:txBody>
      </p:sp>
      <p:sp>
        <p:nvSpPr>
          <p:cNvPr id="44" name="TextBox 43"/>
          <p:cNvSpPr txBox="1"/>
          <p:nvPr/>
        </p:nvSpPr>
        <p:spPr>
          <a:xfrm>
            <a:off x="228600" y="2953512"/>
            <a:ext cx="8686800" cy="18288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¹ BIMGUARD SB-001 screening calibration (authored thresholds, not code values)</a:t>
            </a:r>
          </a:p>
        </p:txBody>
      </p:sp>
      <p:sp>
        <p:nvSpPr>
          <p:cNvPr id="45" name="TextBox 44"/>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Raising the clearance from the 200 mm row to the 457.2 mm row yields 66% more clashes but 48% fewer Critical ones. Severity is an overlap ratio against halo volume, so a larger clearance inflates the denominator faster than the numerator.</a:t>
            </a:r>
          </a:p>
        </p:txBody>
      </p:sp>
      <p:sp>
        <p:nvSpPr>
          <p:cNvPr id="46" name="TextBox 45"/>
          <p:cNvSpPr txBox="1"/>
          <p:nvPr/>
        </p:nvSpPr>
        <p:spPr>
          <a:xfrm>
            <a:off x="228600" y="40233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finding is an argument that the severity heuristic needs rethinking, not retuning. It held on two independent model subsets, at 1.62× and 1.66×.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dataset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algorithm was run against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37 / 38</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models processed
8 repositories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49,736</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MEP elements
100% geometry</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223,516</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across the corpus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valid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Corpus and controls</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Hospitals, offices, industrial plant and mixed-use, IFC2x3 and IFC4, from Revit, ArchiCAD and Autodesk toolchains. Two same-building schema twins act as controls: rows 9/14 differ by 0.00% and rows 8/13 by 0.11%, so the result does not depend on the export schema.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results — tests and integrity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Every archive parsed, not merely counted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11 / 11</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Blue Halo harness
checks passed</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8 / 8</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end-to-end IFC
pipeline checks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44 / 44</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HTTP route tests
(4 known-gap xfail)</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100%</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49,736 elements</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BCF validity means here</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All 37 archives were opened and every XML part parsed: bcf.version and project.bcfp present, one complete topic folder per clash carrying markup.bcf, viewpoint.bcfv and snapshot.png, zero malformed XML. Counting entries would not have established this.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Performance measured across the corpus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the time actually goes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0665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Stage</a:t>
            </a:r>
          </a:p>
        </p:txBody>
      </p:sp>
      <p:sp>
        <p:nvSpPr>
          <p:cNvPr id="10" name="TextBox 9"/>
          <p:cNvSpPr txBox="1"/>
          <p:nvPr/>
        </p:nvSpPr>
        <p:spPr>
          <a:xfrm>
            <a:off x="2487168" y="1280160"/>
            <a:ext cx="16093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Measured</a:t>
            </a:r>
          </a:p>
        </p:txBody>
      </p:sp>
      <p:sp>
        <p:nvSpPr>
          <p:cNvPr id="11" name="TextBox 10"/>
          <p:cNvSpPr txBox="1"/>
          <p:nvPr/>
        </p:nvSpPr>
        <p:spPr>
          <a:xfrm>
            <a:off x="4224528" y="1280160"/>
            <a:ext cx="106070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Complexity</a:t>
            </a:r>
          </a:p>
        </p:txBody>
      </p:sp>
      <p:sp>
        <p:nvSpPr>
          <p:cNvPr id="12" name="TextBox 11"/>
          <p:cNvSpPr txBox="1"/>
          <p:nvPr/>
        </p:nvSpPr>
        <p:spPr>
          <a:xfrm>
            <a:off x="5413248" y="1280160"/>
            <a:ext cx="34381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Note</a:t>
            </a:r>
          </a:p>
        </p:txBody>
      </p:sp>
      <p:sp>
        <p:nvSpPr>
          <p:cNvPr id="13" name="Rectangle 12"/>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5448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Full sweep, 37 models</a:t>
            </a:r>
          </a:p>
        </p:txBody>
      </p:sp>
      <p:sp>
        <p:nvSpPr>
          <p:cNvPr id="15" name="TextBox 14"/>
          <p:cNvSpPr txBox="1"/>
          <p:nvPr/>
        </p:nvSpPr>
        <p:spPr>
          <a:xfrm>
            <a:off x="2487168" y="15544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3,594 s</a:t>
            </a:r>
          </a:p>
        </p:txBody>
      </p:sp>
      <p:sp>
        <p:nvSpPr>
          <p:cNvPr id="16" name="TextBox 15"/>
          <p:cNvSpPr txBox="1"/>
          <p:nvPr/>
        </p:nvSpPr>
        <p:spPr>
          <a:xfrm>
            <a:off x="4224528" y="155448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5413248" y="155448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Download, parse, halo, clash, engines, BCF</a:t>
            </a:r>
          </a:p>
        </p:txBody>
      </p:sp>
      <p:sp>
        <p:nvSpPr>
          <p:cNvPr id="18" name="Rectangle 17"/>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2880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Mean per model</a:t>
            </a:r>
          </a:p>
        </p:txBody>
      </p:sp>
      <p:sp>
        <p:nvSpPr>
          <p:cNvPr id="20" name="TextBox 19"/>
          <p:cNvSpPr txBox="1"/>
          <p:nvPr/>
        </p:nvSpPr>
        <p:spPr>
          <a:xfrm>
            <a:off x="2487168" y="182880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97 s</a:t>
            </a:r>
          </a:p>
        </p:txBody>
      </p:sp>
      <p:sp>
        <p:nvSpPr>
          <p:cNvPr id="21" name="TextBox 20"/>
          <p:cNvSpPr txBox="1"/>
          <p:nvPr/>
        </p:nvSpPr>
        <p:spPr>
          <a:xfrm>
            <a:off x="4224528" y="182880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2" name="TextBox 21"/>
          <p:cNvSpPr txBox="1"/>
          <p:nvPr/>
        </p:nvSpPr>
        <p:spPr>
          <a:xfrm>
            <a:off x="5413248" y="182880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evaluation dominates</a:t>
            </a:r>
          </a:p>
        </p:txBody>
      </p:sp>
      <p:sp>
        <p:nvSpPr>
          <p:cNvPr id="23" name="Rectangle 22"/>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0312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Largest model</a:t>
            </a:r>
          </a:p>
        </p:txBody>
      </p:sp>
      <p:sp>
        <p:nvSpPr>
          <p:cNvPr id="25" name="TextBox 24"/>
          <p:cNvSpPr txBox="1"/>
          <p:nvPr/>
        </p:nvSpPr>
        <p:spPr>
          <a:xfrm>
            <a:off x="2487168" y="210312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632 s</a:t>
            </a:r>
          </a:p>
        </p:txBody>
      </p:sp>
      <p:sp>
        <p:nvSpPr>
          <p:cNvPr id="26" name="TextBox 25"/>
          <p:cNvSpPr txBox="1"/>
          <p:nvPr/>
        </p:nvSpPr>
        <p:spPr>
          <a:xfrm>
            <a:off x="4224528" y="210312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7" name="TextBox 26"/>
          <p:cNvSpPr txBox="1"/>
          <p:nvPr/>
        </p:nvSpPr>
        <p:spPr>
          <a:xfrm>
            <a:off x="5413248" y="210312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NBU_MedicalClinic, 207 MB, 5,952 MEP</a:t>
            </a:r>
          </a:p>
        </p:txBody>
      </p:sp>
      <p:sp>
        <p:nvSpPr>
          <p:cNvPr id="28" name="Rectangle 27"/>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77439"/>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evaluation</a:t>
            </a:r>
          </a:p>
        </p:txBody>
      </p:sp>
      <p:sp>
        <p:nvSpPr>
          <p:cNvPr id="30" name="TextBox 29"/>
          <p:cNvSpPr txBox="1"/>
          <p:nvPr/>
        </p:nvSpPr>
        <p:spPr>
          <a:xfrm>
            <a:off x="2487168" y="2377439"/>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8–95 s per model</a:t>
            </a:r>
          </a:p>
        </p:txBody>
      </p:sp>
      <p:sp>
        <p:nvSpPr>
          <p:cNvPr id="31" name="TextBox 30"/>
          <p:cNvSpPr txBox="1"/>
          <p:nvPr/>
        </p:nvSpPr>
        <p:spPr>
          <a:xfrm>
            <a:off x="4224528" y="2377439"/>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O(n)</a:t>
            </a:r>
          </a:p>
        </p:txBody>
      </p:sp>
      <p:sp>
        <p:nvSpPr>
          <p:cNvPr id="32" name="TextBox 31"/>
          <p:cNvSpPr txBox="1"/>
          <p:nvPr/>
        </p:nvSpPr>
        <p:spPr>
          <a:xfrm>
            <a:off x="5413248" y="2377439"/>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ifcopenshell.geom multithreaded iterator</a:t>
            </a:r>
          </a:p>
        </p:txBody>
      </p:sp>
      <p:sp>
        <p:nvSpPr>
          <p:cNvPr id="33" name="Rectangle 32"/>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5176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 detection</a:t>
            </a:r>
          </a:p>
        </p:txBody>
      </p:sp>
      <p:sp>
        <p:nvSpPr>
          <p:cNvPr id="35" name="TextBox 34"/>
          <p:cNvSpPr txBox="1"/>
          <p:nvPr/>
        </p:nvSpPr>
        <p:spPr>
          <a:xfrm>
            <a:off x="2487168" y="265176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sub-second to seconds</a:t>
            </a:r>
          </a:p>
        </p:txBody>
      </p:sp>
      <p:sp>
        <p:nvSpPr>
          <p:cNvPr id="36" name="TextBox 35"/>
          <p:cNvSpPr txBox="1"/>
          <p:nvPr/>
        </p:nvSpPr>
        <p:spPr>
          <a:xfrm>
            <a:off x="4224528" y="265176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O(n)</a:t>
            </a:r>
          </a:p>
        </p:txBody>
      </p:sp>
      <p:sp>
        <p:nvSpPr>
          <p:cNvPr id="37" name="TextBox 36"/>
          <p:cNvSpPr txBox="1"/>
          <p:nvPr/>
        </p:nvSpPr>
        <p:spPr>
          <a:xfrm>
            <a:off x="5413248" y="265176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Uniform grid; O(n²) without it</a:t>
            </a:r>
          </a:p>
        </p:txBody>
      </p:sp>
      <p:sp>
        <p:nvSpPr>
          <p:cNvPr id="38" name="Rectangle 37"/>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926080"/>
            <a:ext cx="20665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Smallest MEP model</a:t>
            </a:r>
          </a:p>
        </p:txBody>
      </p:sp>
      <p:sp>
        <p:nvSpPr>
          <p:cNvPr id="40" name="TextBox 39"/>
          <p:cNvSpPr txBox="1"/>
          <p:nvPr/>
        </p:nvSpPr>
        <p:spPr>
          <a:xfrm>
            <a:off x="2487168" y="29260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4.8 s</a:t>
            </a:r>
          </a:p>
        </p:txBody>
      </p:sp>
      <p:sp>
        <p:nvSpPr>
          <p:cNvPr id="41" name="TextBox 40"/>
          <p:cNvSpPr txBox="1"/>
          <p:nvPr/>
        </p:nvSpPr>
        <p:spPr>
          <a:xfrm>
            <a:off x="4224528" y="292608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2" name="TextBox 41"/>
          <p:cNvSpPr txBox="1"/>
          <p:nvPr/>
        </p:nvSpPr>
        <p:spPr>
          <a:xfrm>
            <a:off x="5413248" y="2926080"/>
            <a:ext cx="34381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wbdg office, 31 piping elements</a:t>
            </a:r>
          </a:p>
        </p:txBody>
      </p:sp>
      <p:sp>
        <p:nvSpPr>
          <p:cNvPr id="43" name="TextBox 42"/>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Per-model timings are recorded in validation_sweep_summary.json and reproduce on re-run from cache.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Blue Halo adds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Proactive rather than reactive</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Reserving support space at LOD 300 inverts the usual order, in which the support system discovers that its space is already gone.</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Jurisdiction as data</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Clearance, spacing and angle limits are loaded from versioned JSON configs, so a new standard is a data addition rather than a code change.</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 at corpus scale</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100% geometry resolution over 49,736 elements across two IFC schemas and three toolchains, with schema twins as controls.</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 quantified sensitivity result</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clearance-severity inversion is a reproducible finding about the metric itself, not about any one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Stated plainly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Axis-aligned boxes overstate intersection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clash is an AABB overlap. Diagonal and non-convex members are over-approximated, so counts are an upper bound, not a defect list.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Uniform buffer, not a brace-shaped envelope</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Real sway braces are diagonal members with a base plate. The wedge envelope is deferred until brace geometry exists to validate against.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is a spatial heuristic</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Overlap fraction of halo volume, not a standards-derived threshold. Table B.6 shows its sensitivity to the clearance input.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One clearance regime per run</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SB-001 config assigns every brace variant the same authored clearance, so variant comparison is degenerate under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R1 – R5, with the dependency each carries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1024128" y="1280160"/>
            <a:ext cx="389534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5047488" y="1280160"/>
            <a:ext cx="27980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Dependency</a:t>
            </a:r>
          </a:p>
        </p:txBody>
      </p:sp>
      <p:sp>
        <p:nvSpPr>
          <p:cNvPr id="12" name="TextBox 11"/>
          <p:cNvSpPr txBox="1"/>
          <p:nvPr/>
        </p:nvSpPr>
        <p:spPr>
          <a:xfrm>
            <a:off x="7973568" y="1280160"/>
            <a:ext cx="8778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63624"/>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1024128" y="1563624"/>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Angle-aware wedge envelope for diagonal bracing</a:t>
            </a:r>
          </a:p>
        </p:txBody>
      </p:sp>
      <p:sp>
        <p:nvSpPr>
          <p:cNvPr id="16" name="TextBox 15"/>
          <p:cNvSpPr txBox="1"/>
          <p:nvPr/>
        </p:nvSpPr>
        <p:spPr>
          <a:xfrm>
            <a:off x="5047488" y="1563624"/>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geometry in the corpus to validate against</a:t>
            </a:r>
          </a:p>
        </p:txBody>
      </p:sp>
      <p:sp>
        <p:nvSpPr>
          <p:cNvPr id="17" name="TextBox 16"/>
          <p:cNvSpPr txBox="1"/>
          <p:nvPr/>
        </p:nvSpPr>
        <p:spPr>
          <a:xfrm>
            <a:off x="7973568" y="1563624"/>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18" name="Rectangle 17"/>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47088"/>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1024128" y="1847088"/>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Non-circular and rectangular halo profiles</a:t>
            </a:r>
          </a:p>
        </p:txBody>
      </p:sp>
      <p:sp>
        <p:nvSpPr>
          <p:cNvPr id="21" name="TextBox 20"/>
          <p:cNvSpPr txBox="1"/>
          <p:nvPr/>
        </p:nvSpPr>
        <p:spPr>
          <a:xfrm>
            <a:off x="5047488" y="1847088"/>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Profile data per brace family</a:t>
            </a:r>
          </a:p>
        </p:txBody>
      </p:sp>
      <p:sp>
        <p:nvSpPr>
          <p:cNvPr id="22" name="TextBox 21"/>
          <p:cNvSpPr txBox="1"/>
          <p:nvPr/>
        </p:nvSpPr>
        <p:spPr>
          <a:xfrm>
            <a:off x="7973568" y="1847088"/>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23" name="Rectangle 22"/>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30552"/>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1024128" y="2130552"/>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Cable sag modelling (catenary)</a:t>
            </a:r>
          </a:p>
        </p:txBody>
      </p:sp>
      <p:sp>
        <p:nvSpPr>
          <p:cNvPr id="26" name="TextBox 25"/>
          <p:cNvSpPr txBox="1"/>
          <p:nvPr/>
        </p:nvSpPr>
        <p:spPr>
          <a:xfrm>
            <a:off x="5047488" y="2130552"/>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Span and pretension inputs</a:t>
            </a:r>
          </a:p>
        </p:txBody>
      </p:sp>
      <p:sp>
        <p:nvSpPr>
          <p:cNvPr id="27" name="TextBox 26"/>
          <p:cNvSpPr txBox="1"/>
          <p:nvPr/>
        </p:nvSpPr>
        <p:spPr>
          <a:xfrm>
            <a:off x="7973568" y="2130552"/>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8" name="Rectangle 27"/>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414015"/>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1024128" y="2414015"/>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Severity model grounded in standards</a:t>
            </a:r>
          </a:p>
        </p:txBody>
      </p:sp>
      <p:sp>
        <p:nvSpPr>
          <p:cNvPr id="31" name="TextBox 30"/>
          <p:cNvSpPr txBox="1"/>
          <p:nvPr/>
        </p:nvSpPr>
        <p:spPr>
          <a:xfrm>
            <a:off x="5047488" y="2414015"/>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Clause basis for a non-ratio metric</a:t>
            </a:r>
          </a:p>
        </p:txBody>
      </p:sp>
      <p:sp>
        <p:nvSpPr>
          <p:cNvPr id="32" name="TextBox 31"/>
          <p:cNvSpPr txBox="1"/>
          <p:nvPr/>
        </p:nvSpPr>
        <p:spPr>
          <a:xfrm>
            <a:off x="7973568" y="2414015"/>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3" name="Rectangle 32"/>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97480"/>
            <a:ext cx="6035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R5</a:t>
            </a:r>
          </a:p>
        </p:txBody>
      </p:sp>
      <p:sp>
        <p:nvSpPr>
          <p:cNvPr id="35" name="TextBox 34"/>
          <p:cNvSpPr txBox="1"/>
          <p:nvPr/>
        </p:nvSpPr>
        <p:spPr>
          <a:xfrm>
            <a:off x="1024128" y="2697480"/>
            <a:ext cx="389534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Seismic zone auto-population from site data</a:t>
            </a:r>
          </a:p>
        </p:txBody>
      </p:sp>
      <p:sp>
        <p:nvSpPr>
          <p:cNvPr id="36" name="TextBox 35"/>
          <p:cNvSpPr txBox="1"/>
          <p:nvPr/>
        </p:nvSpPr>
        <p:spPr>
          <a:xfrm>
            <a:off x="5047488" y="2697480"/>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Hazard map lookup and IFC round-trip</a:t>
            </a:r>
          </a:p>
        </p:txBody>
      </p:sp>
      <p:sp>
        <p:nvSpPr>
          <p:cNvPr id="37" name="TextBox 36"/>
          <p:cNvSpPr txBox="1"/>
          <p:nvPr/>
        </p:nvSpPr>
        <p:spPr>
          <a:xfrm>
            <a:off x="7973568" y="2697480"/>
            <a:ext cx="877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38" name="TextBox 37"/>
          <p:cNvSpPr txBox="1"/>
          <p:nvPr/>
        </p:nvSpPr>
        <p:spPr>
          <a:xfrm>
            <a:off x="228600" y="306324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R4 is the item the sensitivity result argues for most directly.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compliance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each source supplies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5237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0" name="TextBox 9"/>
          <p:cNvSpPr txBox="1"/>
          <p:nvPr/>
        </p:nvSpPr>
        <p:spPr>
          <a:xfrm>
            <a:off x="2944368" y="1280160"/>
            <a:ext cx="30723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Supplies</a:t>
            </a:r>
          </a:p>
        </p:txBody>
      </p:sp>
      <p:sp>
        <p:nvSpPr>
          <p:cNvPr id="11" name="TextBox 10"/>
          <p:cNvSpPr txBox="1"/>
          <p:nvPr/>
        </p:nvSpPr>
        <p:spPr>
          <a:xfrm>
            <a:off x="6144768" y="1280160"/>
            <a:ext cx="27066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Applied in</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EN 1998-1:2004+A1:2013</a:t>
            </a:r>
          </a:p>
        </p:txBody>
      </p:sp>
      <p:sp>
        <p:nvSpPr>
          <p:cNvPr id="14" name="TextBox 13"/>
          <p:cNvSpPr txBox="1"/>
          <p:nvPr/>
        </p:nvSpPr>
        <p:spPr>
          <a:xfrm>
            <a:off x="2944368" y="155448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§4.3.5 (non-structural elements)</a:t>
            </a:r>
          </a:p>
        </p:txBody>
      </p:sp>
      <p:sp>
        <p:nvSpPr>
          <p:cNvPr id="15" name="TextBox 14"/>
          <p:cNvSpPr txBox="1"/>
          <p:nvPr/>
        </p:nvSpPr>
        <p:spPr>
          <a:xfrm>
            <a:off x="6144768" y="15544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Gives no MEP brace spacing or clearance</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DIN EN 1998-1/NA:2018-10</a:t>
            </a:r>
          </a:p>
        </p:txBody>
      </p:sp>
      <p:sp>
        <p:nvSpPr>
          <p:cNvPr id="18" name="TextBox 17"/>
          <p:cNvSpPr txBox="1"/>
          <p:nvPr/>
        </p:nvSpPr>
        <p:spPr>
          <a:xfrm>
            <a:off x="2944368" y="182880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German NA; DIN 4149 withdrawn</a:t>
            </a:r>
          </a:p>
        </p:txBody>
      </p:sp>
      <p:sp>
        <p:nvSpPr>
          <p:cNvPr id="19" name="TextBox 18"/>
          <p:cNvSpPr txBox="1"/>
          <p:nvPr/>
        </p:nvSpPr>
        <p:spPr>
          <a:xfrm>
            <a:off x="6144768" y="182880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Gives no MEP brace spacing or clearance</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FEMA E-74 (4th ed., December 2012)</a:t>
            </a:r>
          </a:p>
        </p:txBody>
      </p:sp>
      <p:sp>
        <p:nvSpPr>
          <p:cNvPr id="22" name="TextBox 21"/>
          <p:cNvSpPr txBox="1"/>
          <p:nvPr/>
        </p:nvSpPr>
        <p:spPr>
          <a:xfrm>
            <a:off x="2944368" y="210312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 guide, not a code</a:t>
            </a:r>
          </a:p>
        </p:txBody>
      </p:sp>
      <p:sp>
        <p:nvSpPr>
          <p:cNvPr id="23" name="TextBox 22"/>
          <p:cNvSpPr txBox="1"/>
          <p:nvPr/>
        </p:nvSpPr>
        <p:spPr>
          <a:xfrm>
            <a:off x="6144768" y="210312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Duct area threshold, importance factors</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ASCE/SEI 7-10 §13.6</a:t>
            </a:r>
          </a:p>
        </p:txBody>
      </p:sp>
      <p:sp>
        <p:nvSpPr>
          <p:cNvPr id="26" name="TextBox 25"/>
          <p:cNvSpPr txBox="1"/>
          <p:nvPr/>
        </p:nvSpPr>
        <p:spPr>
          <a:xfrm>
            <a:off x="2944368" y="2377439"/>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What FEMA E-74 defers to</a:t>
            </a:r>
          </a:p>
        </p:txBody>
      </p:sp>
      <p:sp>
        <p:nvSpPr>
          <p:cNvPr id="27" name="TextBox 26"/>
          <p:cNvSpPr txBox="1"/>
          <p:nvPr/>
        </p:nvSpPr>
        <p:spPr>
          <a:xfrm>
            <a:off x="6144768" y="2377439"/>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Upstream reference; not held</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SMACNA / MSS SP-58</a:t>
            </a:r>
          </a:p>
        </p:txBody>
      </p:sp>
      <p:sp>
        <p:nvSpPr>
          <p:cNvPr id="30" name="TextBox 29"/>
          <p:cNvSpPr txBox="1"/>
          <p:nvPr/>
        </p:nvSpPr>
        <p:spPr>
          <a:xfrm>
            <a:off x="2944368" y="265176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Sway bracing and hanger support practice</a:t>
            </a:r>
          </a:p>
        </p:txBody>
      </p:sp>
      <p:sp>
        <p:nvSpPr>
          <p:cNvPr id="31" name="TextBox 30"/>
          <p:cNvSpPr txBox="1"/>
          <p:nvPr/>
        </p:nvSpPr>
        <p:spPr>
          <a:xfrm>
            <a:off x="6144768" y="265176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family footprints</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16739-1 / BCF 2.1</a:t>
            </a:r>
          </a:p>
        </p:txBody>
      </p:sp>
      <p:sp>
        <p:nvSpPr>
          <p:cNvPr id="34" name="TextBox 33"/>
          <p:cNvSpPr txBox="1"/>
          <p:nvPr/>
        </p:nvSpPr>
        <p:spPr>
          <a:xfrm>
            <a:off x="2944368" y="2926080"/>
            <a:ext cx="30723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schema and issue exchange</a:t>
            </a:r>
          </a:p>
        </p:txBody>
      </p:sp>
      <p:sp>
        <p:nvSpPr>
          <p:cNvPr id="35" name="TextBox 34"/>
          <p:cNvSpPr txBox="1"/>
          <p:nvPr/>
        </p:nvSpPr>
        <p:spPr>
          <a:xfrm>
            <a:off x="6144768" y="29260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Input parsing and topic output</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There is one SB-001 config, not a jurisdictional pair. Neither EN 1998-1 nor the German National Annex dimensions MEP bracing; DIN 4149:2005-04 was withdrawn and replaced by DIN EN 1998-1:2010-12 with its National Annex; it is historical only.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Jurisdiction as data, not as code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How a new standard enters the system</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TextBox 7"/>
          <p:cNvSpPr txBox="1"/>
          <p:nvPr/>
        </p:nvSpPr>
        <p:spPr>
          <a:xfrm>
            <a:off x="228600" y="12801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BIMGUARD SB-001 is a screening tool whose dimensional thresholds are authored calibration except where marked sourced, and it is not a substitute for design to ASCE/SEI 7-10 §13.6 or EN 1998-1.</a:t>
            </a:r>
          </a:p>
        </p:txBody>
      </p:sp>
      <p:sp>
        <p:nvSpPr>
          <p:cNvPr id="9" name="TextBox 8"/>
          <p:cNvSpPr txBox="1"/>
          <p:nvPr/>
        </p:nvSpPr>
        <p:spPr>
          <a:xfrm>
            <a:off x="228600" y="21031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Every threshold carries a provenance block with a status: 3 sourced, 2 derived, 9 authored. FEMA E-74 (4th ed., December 2012) evidences the duct area threshold and the importance factors, and gives upstream brace spacing maxima that the authored calibration is deliberately tighter than. The remaining thresholds are authored, with no source held.</a:t>
            </a:r>
          </a:p>
        </p:txBody>
      </p:sp>
      <p:sp>
        <p:nvSpPr>
          <p:cNvPr id="10" name="TextBox 9"/>
          <p:cNvSpPr txBox="1"/>
          <p:nvPr/>
        </p:nvSpPr>
        <p:spPr>
          <a:xfrm>
            <a:off x="228600" y="39776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Adding a jurisdiction is a data change with a provenance record, not a code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Integration into the compliance pipeline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Where Blue Halo sits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Input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Normalised IFC geometry and property sets, plus the jurisdiction clearance config selected for the project.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Output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One BCF 2.1 topic per breach, carrying both GlobalIds, overlap volume, severity band and the clearance rule that produced the envelope.</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Model write-back</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Pset_HaloReservation on the braced element: brace type, rule variant, clearance applied, element and halo bounding boxes.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Status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Breaches present hold the container at S2. Resolution is either a service move or an accepted LOD 350 reservation recorded against the element.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BCF output — what a reviewer receives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Enough to act without opening the tool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60934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Field</a:t>
            </a:r>
          </a:p>
        </p:txBody>
      </p:sp>
      <p:sp>
        <p:nvSpPr>
          <p:cNvPr id="10" name="TextBox 9"/>
          <p:cNvSpPr txBox="1"/>
          <p:nvPr/>
        </p:nvSpPr>
        <p:spPr>
          <a:xfrm>
            <a:off x="2029967" y="1280160"/>
            <a:ext cx="37124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Content</a:t>
            </a:r>
          </a:p>
        </p:txBody>
      </p:sp>
      <p:sp>
        <p:nvSpPr>
          <p:cNvPr id="11" name="TextBox 10"/>
          <p:cNvSpPr txBox="1"/>
          <p:nvPr/>
        </p:nvSpPr>
        <p:spPr>
          <a:xfrm>
            <a:off x="5870448" y="1280160"/>
            <a:ext cx="29809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Source</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Topic title</a:t>
            </a:r>
          </a:p>
        </p:txBody>
      </p:sp>
      <p:sp>
        <p:nvSpPr>
          <p:cNvPr id="14" name="TextBox 13"/>
          <p:cNvSpPr txBox="1"/>
          <p:nvPr/>
        </p:nvSpPr>
        <p:spPr>
          <a:xfrm>
            <a:off x="2029967" y="155448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Brace type and source element class</a:t>
            </a:r>
          </a:p>
        </p:txBody>
      </p:sp>
      <p:sp>
        <p:nvSpPr>
          <p:cNvPr id="15" name="TextBox 14"/>
          <p:cNvSpPr txBox="1"/>
          <p:nvPr/>
        </p:nvSpPr>
        <p:spPr>
          <a:xfrm>
            <a:off x="5870448" y="15544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HaloVolume.brace_type</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Description</a:t>
            </a:r>
          </a:p>
        </p:txBody>
      </p:sp>
      <p:sp>
        <p:nvSpPr>
          <p:cNvPr id="18" name="TextBox 17"/>
          <p:cNvSpPr txBox="1"/>
          <p:nvPr/>
        </p:nvSpPr>
        <p:spPr>
          <a:xfrm>
            <a:off x="2029967" y="182880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Both GlobalIds, overlap volume in mm³, ratio</a:t>
            </a:r>
          </a:p>
        </p:txBody>
      </p:sp>
      <p:sp>
        <p:nvSpPr>
          <p:cNvPr id="19" name="TextBox 18"/>
          <p:cNvSpPr txBox="1"/>
          <p:nvPr/>
        </p:nvSpPr>
        <p:spPr>
          <a:xfrm>
            <a:off x="5870448" y="182880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ClashReport.description</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Priority</a:t>
            </a:r>
          </a:p>
        </p:txBody>
      </p:sp>
      <p:sp>
        <p:nvSpPr>
          <p:cNvPr id="22" name="TextBox 21"/>
          <p:cNvSpPr txBox="1"/>
          <p:nvPr/>
        </p:nvSpPr>
        <p:spPr>
          <a:xfrm>
            <a:off x="2029967" y="210312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Critical / Major / Minor</a:t>
            </a:r>
          </a:p>
        </p:txBody>
      </p:sp>
      <p:sp>
        <p:nvSpPr>
          <p:cNvPr id="23" name="TextBox 22"/>
          <p:cNvSpPr txBox="1"/>
          <p:nvPr/>
        </p:nvSpPr>
        <p:spPr>
          <a:xfrm>
            <a:off x="5870448" y="210312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Severity band</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Due date</a:t>
            </a:r>
          </a:p>
        </p:txBody>
      </p:sp>
      <p:sp>
        <p:nvSpPr>
          <p:cNvPr id="26" name="TextBox 25"/>
          <p:cNvSpPr txBox="1"/>
          <p:nvPr/>
        </p:nvSpPr>
        <p:spPr>
          <a:xfrm>
            <a:off x="2029967" y="2377439"/>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 7 or 21 days by severity</a:t>
            </a:r>
          </a:p>
        </p:txBody>
      </p:sp>
      <p:sp>
        <p:nvSpPr>
          <p:cNvPr id="27" name="TextBox 26"/>
          <p:cNvSpPr txBox="1"/>
          <p:nvPr/>
        </p:nvSpPr>
        <p:spPr>
          <a:xfrm>
            <a:off x="5870448" y="2377439"/>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Banding table</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Viewpoint</a:t>
            </a:r>
          </a:p>
        </p:txBody>
      </p:sp>
      <p:sp>
        <p:nvSpPr>
          <p:cNvPr id="30" name="TextBox 29"/>
          <p:cNvSpPr txBox="1"/>
          <p:nvPr/>
        </p:nvSpPr>
        <p:spPr>
          <a:xfrm>
            <a:off x="2029967" y="265176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Camera and component selection on the clash</a:t>
            </a:r>
          </a:p>
        </p:txBody>
      </p:sp>
      <p:sp>
        <p:nvSpPr>
          <p:cNvPr id="31" name="TextBox 30"/>
          <p:cNvSpPr txBox="1"/>
          <p:nvPr/>
        </p:nvSpPr>
        <p:spPr>
          <a:xfrm>
            <a:off x="5870448" y="265176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viewpoint.bcfv</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160934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Labels</a:t>
            </a:r>
          </a:p>
        </p:txBody>
      </p:sp>
      <p:sp>
        <p:nvSpPr>
          <p:cNvPr id="34" name="TextBox 33"/>
          <p:cNvSpPr txBox="1"/>
          <p:nvPr/>
        </p:nvSpPr>
        <p:spPr>
          <a:xfrm>
            <a:off x="2029967" y="2926080"/>
            <a:ext cx="3712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blue_halo, seismic_bracing, brace type</a:t>
            </a:r>
          </a:p>
        </p:txBody>
      </p:sp>
      <p:sp>
        <p:nvSpPr>
          <p:cNvPr id="35" name="TextBox 34"/>
          <p:cNvSpPr txBox="1"/>
          <p:nvPr/>
        </p:nvSpPr>
        <p:spPr>
          <a:xfrm>
            <a:off x="5870448" y="2926080"/>
            <a:ext cx="29809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Topic labels</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37 of 37 archives validated: every part well-formed, every topic folder complete.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Comparison to current practice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same conflict, found at two different prices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Reactive — today</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Model services at LOD 300. Design supports at LOD 350. Run clash detection. Discover the support has no room. Reroute services that are already coordinated, re-issue, re-review.</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Proactive — Blue Halo</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Model services at LOD 300. Compute the support envelope from the jurisdiction rule. Publish it as a reserved volume. Conflicts surface while services are still cheap to move.</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changes</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Not the conflict — the timing. The same geometric fact is surfaced one design stage earlier, before the coordination effort that makes it expensive to undo.</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corpus cannot price this: cost avoidance depends on project commercials the models do not carry. What it does establish is that the detection works at scale.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RQ2 — the spatial component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Can proactive reservation work on real federated models?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demonstrated across
37 models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100%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no fallback needed</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0.00% / 0.11%</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schema twin
deltas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223,516</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and exported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the evidence supports</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Halo generation and clash detection are deterministic, schema-independent and scale to the largest models in the corpus. What the corpus cannot yet support is brace-family differentiation, because the SB-001 config does not distinguish clearance by hardware. The method is validated; that particular comparison is not.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Key findings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corpus established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Geometry is not the obstacle</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100% resolution across both IFC schemas and three authoring toolchains, using the full geometry iterator rather than a vertex shortcut.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result is schema-independent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Same-building twins in IFC2x3 and IFC4 produced identical and near-identical clash counts — 0.00% and 0.11% apart.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Clearance choice dominates the outcome</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2× clearance change moves total clashes by 2× and Critical count in the opposite direction. The clearance value is the most consequential input.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needs a standards basis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Overlap ratio is defensible as triage and indefensible as a verdict. R4 addresses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Blue Halo Clearance Algorithm</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