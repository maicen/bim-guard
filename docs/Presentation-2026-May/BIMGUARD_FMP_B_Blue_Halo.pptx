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6"/>
    <p:sldId id="275" r:id="rId5"/>
    <p:sldId id="276" r:id="rId4"/>
    <p:sldId id="277" r:id="rId3"/>
    <p:sldId id="278" r:id="rId2"/>
    <p:sldId id="279" r:id="rId30"/>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3.xml"/><Relationship Id="rId3" Type="http://schemas.openxmlformats.org/officeDocument/2006/relationships/slide" Target="slides/slide22.xml"/><Relationship Id="rId4" Type="http://schemas.openxmlformats.org/officeDocument/2006/relationships/slide" Target="slides/slide21.xml"/><Relationship Id="rId5" Type="http://schemas.openxmlformats.org/officeDocument/2006/relationships/slide" Target="slides/slide20.xml"/><Relationship Id="rId6" Type="http://schemas.openxmlformats.org/officeDocument/2006/relationships/slide" Target="slides/slide19.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5138928"/>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822960"/>
            <a:ext cx="8412480" cy="1097280"/>
          </a:xfrm>
          <a:prstGeom prst="rect">
            <a:avLst/>
          </a:prstGeom>
          <a:noFill/>
        </p:spPr>
        <p:txBody>
          <a:bodyPr wrap="square" anchor="t" lIns="0" rIns="0" tIns="0" bIns="0">
            <a:spAutoFit/>
          </a:bodyPr>
          <a:lstStyle/>
          <a:p>
            <a:pPr algn="l">
              <a:lnSpc>
                <a:spcPct val="100000"/>
              </a:lnSpc>
            </a:pPr>
            <a:r>
              <a:rPr sz="5400" b="1">
                <a:solidFill>
                  <a:srgbClr val="FFFFFF"/>
                </a:solidFill>
                <a:latin typeface="Calibri"/>
              </a:rPr>
              <a:t>Blue Halo Clearance Algorithm</a:t>
            </a:r>
          </a:p>
        </p:txBody>
      </p:sp>
      <p:sp>
        <p:nvSpPr>
          <p:cNvPr id="5" name="TextBox 4"/>
          <p:cNvSpPr txBox="1"/>
          <p:nvPr/>
        </p:nvSpPr>
        <p:spPr>
          <a:xfrm>
            <a:off x="365760" y="1920240"/>
            <a:ext cx="8412480" cy="502920"/>
          </a:xfrm>
          <a:prstGeom prst="rect">
            <a:avLst/>
          </a:prstGeom>
          <a:noFill/>
        </p:spPr>
        <p:txBody>
          <a:bodyPr wrap="square" anchor="t" lIns="0" rIns="0" tIns="0" bIns="0">
            <a:spAutoFit/>
          </a:bodyPr>
          <a:lstStyle/>
          <a:p>
            <a:pPr algn="l">
              <a:lnSpc>
                <a:spcPct val="100000"/>
              </a:lnSpc>
            </a:pPr>
            <a:r>
              <a:rPr sz="2200" b="0">
                <a:solidFill>
                  <a:srgbClr val="00B4D8"/>
                </a:solidFill>
                <a:latin typeface="Calibri"/>
              </a:rPr>
              <a:t>Seismic Bracing Proactive Space Reservation</a:t>
            </a:r>
          </a:p>
        </p:txBody>
      </p:sp>
      <p:sp>
        <p:nvSpPr>
          <p:cNvPr id="6" name="TextBox 5"/>
          <p:cNvSpPr txBox="1"/>
          <p:nvPr/>
        </p:nvSpPr>
        <p:spPr>
          <a:xfrm>
            <a:off x="365760" y="2514600"/>
            <a:ext cx="8412480" cy="365760"/>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FEMA E-74  ·  ASCE/SEI 7-10 §13.6  ·  EN 1998-1 + DIN EN 1998-1/NA  ·  NFPA 13  ·  SMACNA</a:t>
            </a:r>
          </a:p>
        </p:txBody>
      </p:sp>
      <p:sp>
        <p:nvSpPr>
          <p:cNvPr id="7" name="Rectangle 6"/>
          <p:cNvSpPr/>
          <p:nvPr/>
        </p:nvSpPr>
        <p:spPr>
          <a:xfrm>
            <a:off x="365760" y="2944368"/>
            <a:ext cx="4114800" cy="18288"/>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3108960"/>
            <a:ext cx="8412480" cy="548640"/>
          </a:xfrm>
          <a:prstGeom prst="rect">
            <a:avLst/>
          </a:prstGeom>
          <a:noFill/>
        </p:spPr>
        <p:txBody>
          <a:bodyPr wrap="square" anchor="t" lIns="0" rIns="0" tIns="0" bIns="0">
            <a:spAutoFit/>
          </a:bodyPr>
          <a:lstStyle/>
          <a:p>
            <a:pPr algn="l">
              <a:lnSpc>
                <a:spcPct val="100000"/>
              </a:lnSpc>
            </a:pPr>
            <a:r>
              <a:rPr sz="1200" b="0">
                <a:solidFill>
                  <a:srgbClr val="FFFFFF"/>
                </a:solidFill>
                <a:latin typeface="Calibri"/>
              </a:rPr>
              <a:t>BH-001  ·  LOD 300 → 350 space reservation  ·  Pluggable jurisdiction configs  ·  BCF 2.1 output</a:t>
            </a:r>
          </a:p>
        </p:txBody>
      </p:sp>
      <p:sp>
        <p:nvSpPr>
          <p:cNvPr id="9" name="TextBox 8"/>
          <p:cNvSpPr txBox="1"/>
          <p:nvPr/>
        </p:nvSpPr>
        <p:spPr>
          <a:xfrm>
            <a:off x="228600" y="4416552"/>
            <a:ext cx="8686800" cy="228600"/>
          </a:xfrm>
          <a:prstGeom prst="rect">
            <a:avLst/>
          </a:prstGeom>
          <a:noFill/>
        </p:spPr>
        <p:txBody>
          <a:bodyPr wrap="square" anchor="t" lIns="0" rIns="0" tIns="0" bIns="0">
            <a:spAutoFit/>
          </a:bodyPr>
          <a:lstStyle/>
          <a:p>
            <a:pPr algn="l">
              <a:lnSpc>
                <a:spcPct val="100000"/>
              </a:lnSpc>
            </a:pPr>
            <a:r>
              <a:rPr sz="900" b="0">
                <a:solidFill>
                  <a:srgbClr val="8896A6"/>
                </a:solidFill>
                <a:latin typeface="Calibri"/>
              </a:rPr>
              <a:t>BIMGUARD AI  |  Final Master Project  |  Zigurat Global Institute of Technology  |  Group 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A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The problem in the design cycle</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Space for supports is designed after the space is gone</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234440"/>
            <a:ext cx="64008" cy="804672"/>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 y="132588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LOD 300 — services routed</a:t>
            </a:r>
          </a:p>
        </p:txBody>
      </p:sp>
      <p:sp>
        <p:nvSpPr>
          <p:cNvPr id="11" name="TextBox 10"/>
          <p:cNvSpPr txBox="1"/>
          <p:nvPr/>
        </p:nvSpPr>
        <p:spPr>
          <a:xfrm>
            <a:off x="356616" y="16002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Pipes, ducts and conduit are modelled to their own envelope. The support system does not exist yet, so nothing reserves room for it.</a:t>
            </a:r>
          </a:p>
        </p:txBody>
      </p:sp>
      <p:sp>
        <p:nvSpPr>
          <p:cNvPr id="12" name="Rectangle 11"/>
          <p:cNvSpPr/>
          <p:nvPr/>
        </p:nvSpPr>
        <p:spPr>
          <a:xfrm>
            <a:off x="228600" y="2148840"/>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28600" y="2148840"/>
            <a:ext cx="64008" cy="804672"/>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6616" y="224028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LOD 350 — supports designed</a:t>
            </a:r>
          </a:p>
        </p:txBody>
      </p:sp>
      <p:sp>
        <p:nvSpPr>
          <p:cNvPr id="15" name="TextBox 14"/>
          <p:cNvSpPr txBox="1"/>
          <p:nvPr/>
        </p:nvSpPr>
        <p:spPr>
          <a:xfrm>
            <a:off x="356616" y="25146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Hangers and sway braces are added. They need a diagonal leg and a base footprint that the surrounding services have already occupied.</a:t>
            </a:r>
          </a:p>
        </p:txBody>
      </p:sp>
      <p:sp>
        <p:nvSpPr>
          <p:cNvPr id="16" name="Rectangle 15"/>
          <p:cNvSpPr/>
          <p:nvPr/>
        </p:nvSpPr>
        <p:spPr>
          <a:xfrm>
            <a:off x="228600" y="3063240"/>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28600" y="3063240"/>
            <a:ext cx="64008" cy="804672"/>
          </a:xfrm>
          <a:prstGeom prst="rect">
            <a:avLst/>
          </a:prstGeom>
          <a:solidFill>
            <a:srgbClr val="A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6616" y="315468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Result — rework, not clash</a:t>
            </a:r>
          </a:p>
        </p:txBody>
      </p:sp>
      <p:sp>
        <p:nvSpPr>
          <p:cNvPr id="19" name="TextBox 18"/>
          <p:cNvSpPr txBox="1"/>
          <p:nvPr/>
        </p:nvSpPr>
        <p:spPr>
          <a:xfrm>
            <a:off x="356616" y="34290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The clash is real but late. Rerouting a duct run at LOD 350 costs an order of magnitude more than shifting a pipe at LOD 300, and it lands on the programme.</a:t>
            </a:r>
          </a:p>
        </p:txBody>
      </p:sp>
      <p:sp>
        <p:nvSpPr>
          <p:cNvPr id="20" name="Rectangle 19"/>
          <p:cNvSpPr/>
          <p:nvPr/>
        </p:nvSpPr>
        <p:spPr>
          <a:xfrm>
            <a:off x="228600" y="3977639"/>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28600" y="3977639"/>
            <a:ext cx="64008" cy="804672"/>
          </a:xfrm>
          <a:prstGeom prst="rect">
            <a:avLst/>
          </a:prstGeom>
          <a:solidFill>
            <a:srgbClr val="1E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6616" y="4069079"/>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Blue Halo — reserve first</a:t>
            </a:r>
          </a:p>
        </p:txBody>
      </p:sp>
      <p:sp>
        <p:nvSpPr>
          <p:cNvPr id="23" name="TextBox 22"/>
          <p:cNvSpPr txBox="1"/>
          <p:nvPr/>
        </p:nvSpPr>
        <p:spPr>
          <a:xfrm>
            <a:off x="356616" y="43434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Compute the support envelope at LOD 300 and publish it as a reserved volume. The conflict surfaces while services are still cheap to move.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How the clearance envelope is derived</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Jurisdiction-driven, not hard-coded</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325880"/>
            <a:ext cx="8686800" cy="731520"/>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1490472"/>
            <a:ext cx="8503920" cy="457200"/>
          </a:xfrm>
          <a:prstGeom prst="rect">
            <a:avLst/>
          </a:prstGeom>
          <a:noFill/>
        </p:spPr>
        <p:txBody>
          <a:bodyPr wrap="square" anchor="t" lIns="0" rIns="0" tIns="0" bIns="0">
            <a:spAutoFit/>
          </a:bodyPr>
          <a:lstStyle/>
          <a:p>
            <a:pPr algn="ctr">
              <a:lnSpc>
                <a:spcPct val="100000"/>
              </a:lnSpc>
            </a:pPr>
            <a:r>
              <a:rPr sz="1800" b="1">
                <a:solidFill>
                  <a:srgbClr val="1F3864"/>
                </a:solidFill>
                <a:latin typeface="Calibri"/>
              </a:rPr>
              <a:t>halo_bbox  =  element_bbox  ⊕  effective_clearance</a:t>
            </a:r>
          </a:p>
        </p:txBody>
      </p:sp>
      <p:sp>
        <p:nvSpPr>
          <p:cNvPr id="10" name="TextBox 9"/>
          <p:cNvSpPr txBox="1"/>
          <p:nvPr/>
        </p:nvSpPr>
        <p:spPr>
          <a:xfrm>
            <a:off x="228600" y="2148840"/>
            <a:ext cx="8686800" cy="274320"/>
          </a:xfrm>
          <a:prstGeom prst="rect">
            <a:avLst/>
          </a:prstGeom>
          <a:noFill/>
        </p:spPr>
        <p:txBody>
          <a:bodyPr wrap="square" anchor="t" lIns="0" rIns="0" tIns="0" bIns="0">
            <a:spAutoFit/>
          </a:bodyPr>
          <a:lstStyle/>
          <a:p>
            <a:pPr algn="ctr">
              <a:lnSpc>
                <a:spcPct val="100000"/>
              </a:lnSpc>
            </a:pPr>
            <a:r>
              <a:rPr sz="1050" b="0">
                <a:solidFill>
                  <a:srgbClr val="8896A6"/>
                </a:solidFill>
                <a:latin typeface="Calibri"/>
              </a:rPr>
              <a:t>⊕ is a uniform expansion on every face. effective_clearance is read from the jurisdiction config, never from code.</a:t>
            </a:r>
          </a:p>
        </p:txBody>
      </p:sp>
      <p:sp>
        <p:nvSpPr>
          <p:cNvPr id="11" name="Rectangle 10"/>
          <p:cNvSpPr/>
          <p:nvPr/>
        </p:nvSpPr>
        <p:spPr>
          <a:xfrm>
            <a:off x="228600" y="2286000"/>
            <a:ext cx="8686800" cy="731520"/>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2450592"/>
            <a:ext cx="8503920" cy="457200"/>
          </a:xfrm>
          <a:prstGeom prst="rect">
            <a:avLst/>
          </a:prstGeom>
          <a:noFill/>
        </p:spPr>
        <p:txBody>
          <a:bodyPr wrap="square" anchor="t" lIns="0" rIns="0" tIns="0" bIns="0">
            <a:spAutoFit/>
          </a:bodyPr>
          <a:lstStyle/>
          <a:p>
            <a:pPr algn="ctr">
              <a:lnSpc>
                <a:spcPct val="100000"/>
              </a:lnSpc>
            </a:pPr>
            <a:r>
              <a:rPr sz="1800" b="1">
                <a:solidFill>
                  <a:srgbClr val="1F3864"/>
                </a:solidFill>
                <a:latin typeface="Calibri"/>
              </a:rPr>
              <a:t>effective_clearance  =  base_clearance  +  seismic_zone_addition  +  hospital_addition</a:t>
            </a:r>
          </a:p>
        </p:txBody>
      </p:sp>
      <p:sp>
        <p:nvSpPr>
          <p:cNvPr id="13" name="TextBox 12"/>
          <p:cNvSpPr txBox="1"/>
          <p:nvPr/>
        </p:nvSpPr>
        <p:spPr>
          <a:xfrm>
            <a:off x="228600" y="3108960"/>
            <a:ext cx="8686800" cy="274320"/>
          </a:xfrm>
          <a:prstGeom prst="rect">
            <a:avLst/>
          </a:prstGeom>
          <a:noFill/>
        </p:spPr>
        <p:txBody>
          <a:bodyPr wrap="square" anchor="t" lIns="0" rIns="0" tIns="0" bIns="0">
            <a:spAutoFit/>
          </a:bodyPr>
          <a:lstStyle/>
          <a:p>
            <a:pPr algn="ctr">
              <a:lnSpc>
                <a:spcPct val="100000"/>
              </a:lnSpc>
            </a:pPr>
            <a:r>
              <a:rPr sz="1050" b="0">
                <a:solidFill>
                  <a:srgbClr val="8896A6"/>
                </a:solidFill>
                <a:latin typeface="Calibri"/>
              </a:rPr>
              <a:t>The shipped SB-001 config sets a 200 mm base: authored screening calibration, not a code value. No code or guide held gives a braced-service clearance.</a:t>
            </a:r>
          </a:p>
        </p:txBody>
      </p:sp>
      <p:sp>
        <p:nvSpPr>
          <p:cNvPr id="14" name="TextBox 13"/>
          <p:cNvSpPr txBox="1"/>
          <p:nvPr/>
        </p:nvSpPr>
        <p:spPr>
          <a:xfrm>
            <a:off x="228600" y="3429000"/>
            <a:ext cx="8686800" cy="640080"/>
          </a:xfrm>
          <a:prstGeom prst="rect">
            <a:avLst/>
          </a:prstGeom>
          <a:noFill/>
        </p:spPr>
        <p:txBody>
          <a:bodyPr wrap="square" anchor="t" lIns="0" rIns="0" tIns="0" bIns="0">
            <a:spAutoFit/>
          </a:bodyPr>
          <a:lstStyle/>
          <a:p>
            <a:pPr algn="l">
              <a:lnSpc>
                <a:spcPct val="95000"/>
              </a:lnSpc>
            </a:pPr>
            <a:r>
              <a:rPr sz="1150" b="0">
                <a:solidFill>
                  <a:srgbClr val="374151"/>
                </a:solidFill>
                <a:latin typeface="Calibri"/>
              </a:rPr>
              <a:t>The implementation applies a uniform buffer because that is what the corpus can support. Angle-aware wedge envelopes for diagonal cable and rod bracing are deferred: the corpus carries no brace geometry to validate them against, and an unvalidated wedge would be a guess wearing a formula.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Four-phase architecture</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Each phase fails independently and reports why</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8686800" cy="310896"/>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2608" y="1280160"/>
            <a:ext cx="603504" cy="237744"/>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Phase</a:t>
            </a:r>
          </a:p>
        </p:txBody>
      </p:sp>
      <p:sp>
        <p:nvSpPr>
          <p:cNvPr id="10" name="TextBox 9"/>
          <p:cNvSpPr txBox="1"/>
          <p:nvPr/>
        </p:nvSpPr>
        <p:spPr>
          <a:xfrm>
            <a:off x="1024128" y="1280160"/>
            <a:ext cx="2249424" cy="237744"/>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Function</a:t>
            </a:r>
          </a:p>
        </p:txBody>
      </p:sp>
      <p:sp>
        <p:nvSpPr>
          <p:cNvPr id="11" name="TextBox 10"/>
          <p:cNvSpPr txBox="1"/>
          <p:nvPr/>
        </p:nvSpPr>
        <p:spPr>
          <a:xfrm>
            <a:off x="3401568" y="1280160"/>
            <a:ext cx="2615184" cy="237744"/>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Input</a:t>
            </a:r>
          </a:p>
        </p:txBody>
      </p:sp>
      <p:sp>
        <p:nvSpPr>
          <p:cNvPr id="12" name="TextBox 11"/>
          <p:cNvSpPr txBox="1"/>
          <p:nvPr/>
        </p:nvSpPr>
        <p:spPr>
          <a:xfrm>
            <a:off x="6144768" y="1280160"/>
            <a:ext cx="2706624" cy="237744"/>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Output</a:t>
            </a:r>
          </a:p>
        </p:txBody>
      </p:sp>
      <p:sp>
        <p:nvSpPr>
          <p:cNvPr id="13" name="Rectangle 12"/>
          <p:cNvSpPr/>
          <p:nvPr/>
        </p:nvSpPr>
        <p:spPr>
          <a:xfrm>
            <a:off x="228600" y="1545336"/>
            <a:ext cx="8686800" cy="310896"/>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2608" y="1591056"/>
            <a:ext cx="603504" cy="237744"/>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1</a:t>
            </a:r>
          </a:p>
        </p:txBody>
      </p:sp>
      <p:sp>
        <p:nvSpPr>
          <p:cNvPr id="15" name="TextBox 14"/>
          <p:cNvSpPr txBox="1"/>
          <p:nvPr/>
        </p:nvSpPr>
        <p:spPr>
          <a:xfrm>
            <a:off x="1024128" y="1591056"/>
            <a:ext cx="2249424" cy="237744"/>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Geometry normalisation</a:t>
            </a:r>
          </a:p>
        </p:txBody>
      </p:sp>
      <p:sp>
        <p:nvSpPr>
          <p:cNvPr id="16" name="TextBox 15"/>
          <p:cNvSpPr txBox="1"/>
          <p:nvPr/>
        </p:nvSpPr>
        <p:spPr>
          <a:xfrm>
            <a:off x="3401568" y="1591056"/>
            <a:ext cx="2615184" cy="237744"/>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Any IFC representation type</a:t>
            </a:r>
          </a:p>
        </p:txBody>
      </p:sp>
      <p:sp>
        <p:nvSpPr>
          <p:cNvPr id="17" name="TextBox 16"/>
          <p:cNvSpPr txBox="1"/>
          <p:nvPr/>
        </p:nvSpPr>
        <p:spPr>
          <a:xfrm>
            <a:off x="6144768" y="1591056"/>
            <a:ext cx="2706624" cy="237744"/>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World-coordinate bounding boxes, mm</a:t>
            </a:r>
          </a:p>
        </p:txBody>
      </p:sp>
      <p:sp>
        <p:nvSpPr>
          <p:cNvPr id="18" name="Rectangle 17"/>
          <p:cNvSpPr/>
          <p:nvPr/>
        </p:nvSpPr>
        <p:spPr>
          <a:xfrm>
            <a:off x="228600" y="1856232"/>
            <a:ext cx="8686800" cy="310896"/>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2608" y="1901952"/>
            <a:ext cx="603504" cy="237744"/>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2</a:t>
            </a:r>
          </a:p>
        </p:txBody>
      </p:sp>
      <p:sp>
        <p:nvSpPr>
          <p:cNvPr id="20" name="TextBox 19"/>
          <p:cNvSpPr txBox="1"/>
          <p:nvPr/>
        </p:nvSpPr>
        <p:spPr>
          <a:xfrm>
            <a:off x="1024128" y="1901952"/>
            <a:ext cx="2249424" cy="237744"/>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Halo generation</a:t>
            </a:r>
          </a:p>
        </p:txBody>
      </p:sp>
      <p:sp>
        <p:nvSpPr>
          <p:cNvPr id="21" name="TextBox 20"/>
          <p:cNvSpPr txBox="1"/>
          <p:nvPr/>
        </p:nvSpPr>
        <p:spPr>
          <a:xfrm>
            <a:off x="3401568" y="1901952"/>
            <a:ext cx="2615184" cy="237744"/>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Element bbox + jurisdiction rule</a:t>
            </a:r>
          </a:p>
        </p:txBody>
      </p:sp>
      <p:sp>
        <p:nvSpPr>
          <p:cNvPr id="22" name="TextBox 21"/>
          <p:cNvSpPr txBox="1"/>
          <p:nvPr/>
        </p:nvSpPr>
        <p:spPr>
          <a:xfrm>
            <a:off x="6144768" y="1901952"/>
            <a:ext cx="2706624" cy="237744"/>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Expanded clearance envelope per element</a:t>
            </a:r>
          </a:p>
        </p:txBody>
      </p:sp>
      <p:sp>
        <p:nvSpPr>
          <p:cNvPr id="23" name="Rectangle 22"/>
          <p:cNvSpPr/>
          <p:nvPr/>
        </p:nvSpPr>
        <p:spPr>
          <a:xfrm>
            <a:off x="228600" y="2167128"/>
            <a:ext cx="8686800" cy="310896"/>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92608" y="2212848"/>
            <a:ext cx="603504" cy="237744"/>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3</a:t>
            </a:r>
          </a:p>
        </p:txBody>
      </p:sp>
      <p:sp>
        <p:nvSpPr>
          <p:cNvPr id="25" name="TextBox 24"/>
          <p:cNvSpPr txBox="1"/>
          <p:nvPr/>
        </p:nvSpPr>
        <p:spPr>
          <a:xfrm>
            <a:off x="1024128" y="2212848"/>
            <a:ext cx="2249424" cy="237744"/>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Spatial indexing</a:t>
            </a:r>
          </a:p>
        </p:txBody>
      </p:sp>
      <p:sp>
        <p:nvSpPr>
          <p:cNvPr id="26" name="TextBox 25"/>
          <p:cNvSpPr txBox="1"/>
          <p:nvPr/>
        </p:nvSpPr>
        <p:spPr>
          <a:xfrm>
            <a:off x="3401568" y="2212848"/>
            <a:ext cx="2615184" cy="237744"/>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All candidate geometries</a:t>
            </a:r>
          </a:p>
        </p:txBody>
      </p:sp>
      <p:sp>
        <p:nvSpPr>
          <p:cNvPr id="27" name="TextBox 26"/>
          <p:cNvSpPr txBox="1"/>
          <p:nvPr/>
        </p:nvSpPr>
        <p:spPr>
          <a:xfrm>
            <a:off x="6144768" y="2212848"/>
            <a:ext cx="2706624" cy="237744"/>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Uniform grid, cell-bucketed</a:t>
            </a:r>
          </a:p>
        </p:txBody>
      </p:sp>
      <p:sp>
        <p:nvSpPr>
          <p:cNvPr id="28" name="Rectangle 27"/>
          <p:cNvSpPr/>
          <p:nvPr/>
        </p:nvSpPr>
        <p:spPr>
          <a:xfrm>
            <a:off x="228600" y="2478024"/>
            <a:ext cx="8686800" cy="310896"/>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92608" y="2523744"/>
            <a:ext cx="603504" cy="237744"/>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4</a:t>
            </a:r>
          </a:p>
        </p:txBody>
      </p:sp>
      <p:sp>
        <p:nvSpPr>
          <p:cNvPr id="30" name="TextBox 29"/>
          <p:cNvSpPr txBox="1"/>
          <p:nvPr/>
        </p:nvSpPr>
        <p:spPr>
          <a:xfrm>
            <a:off x="1024128" y="2523744"/>
            <a:ext cx="2249424" cy="237744"/>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Collision detection</a:t>
            </a:r>
          </a:p>
        </p:txBody>
      </p:sp>
      <p:sp>
        <p:nvSpPr>
          <p:cNvPr id="31" name="TextBox 30"/>
          <p:cNvSpPr txBox="1"/>
          <p:nvPr/>
        </p:nvSpPr>
        <p:spPr>
          <a:xfrm>
            <a:off x="3401568" y="2523744"/>
            <a:ext cx="2615184" cy="237744"/>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Halo + indexed candidates</a:t>
            </a:r>
          </a:p>
        </p:txBody>
      </p:sp>
      <p:sp>
        <p:nvSpPr>
          <p:cNvPr id="32" name="TextBox 31"/>
          <p:cNvSpPr txBox="1"/>
          <p:nvPr/>
        </p:nvSpPr>
        <p:spPr>
          <a:xfrm>
            <a:off x="6144768" y="2523744"/>
            <a:ext cx="2706624" cy="237744"/>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ClashReport per intersection, severity banded</a:t>
            </a:r>
          </a:p>
        </p:txBody>
      </p:sp>
      <p:sp>
        <p:nvSpPr>
          <p:cNvPr id="33" name="TextBox 32"/>
          <p:cNvSpPr txBox="1"/>
          <p:nvPr/>
        </p:nvSpPr>
        <p:spPr>
          <a:xfrm>
            <a:off x="228600" y="2880360"/>
            <a:ext cx="8686800" cy="640080"/>
          </a:xfrm>
          <a:prstGeom prst="rect">
            <a:avLst/>
          </a:prstGeom>
          <a:noFill/>
        </p:spPr>
        <p:txBody>
          <a:bodyPr wrap="square" anchor="t" lIns="0" rIns="0" tIns="0" bIns="0">
            <a:spAutoFit/>
          </a:bodyPr>
          <a:lstStyle/>
          <a:p>
            <a:pPr algn="l">
              <a:lnSpc>
                <a:spcPct val="95000"/>
              </a:lnSpc>
            </a:pPr>
            <a:r>
              <a:rPr sz="1150" b="0">
                <a:solidFill>
                  <a:srgbClr val="374151"/>
                </a:solidFill>
                <a:latin typeface="Calibri"/>
              </a:rPr>
              <a:t>Separation matters for diagnosis: a model that yields no halos has failed Phase 1, and the run says so rather than reporting zero conflicts as a clean result.</a:t>
            </a:r>
          </a:p>
        </p:txBody>
      </p:sp>
      <p:sp>
        <p:nvSpPr>
          <p:cNvPr id="34" name="TextBox 33"/>
          <p:cNvSpPr txBox="1"/>
          <p:nvPr/>
        </p:nvSpPr>
        <p:spPr>
          <a:xfrm>
            <a:off x="228600" y="3657600"/>
            <a:ext cx="8686800" cy="640080"/>
          </a:xfrm>
          <a:prstGeom prst="rect">
            <a:avLst/>
          </a:prstGeom>
          <a:noFill/>
        </p:spPr>
        <p:txBody>
          <a:bodyPr wrap="square" anchor="t" lIns="0" rIns="0" tIns="0" bIns="0">
            <a:spAutoFit/>
          </a:bodyPr>
          <a:lstStyle/>
          <a:p>
            <a:pPr algn="l">
              <a:lnSpc>
                <a:spcPct val="95000"/>
              </a:lnSpc>
            </a:pPr>
            <a:r>
              <a:rPr sz="1200" b="1">
                <a:solidFill>
                  <a:srgbClr val="1F3864"/>
                </a:solidFill>
                <a:latin typeface="Calibri"/>
              </a:rPr>
              <a:t>Measured on the corpus: Phase 1 resolved geometry for 49,736 of 49,736 MEP elements — 100%.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Phase 1 — geometry normalisation</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The phase that decides whether anything else can run</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2785872" cy="301752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234440"/>
            <a:ext cx="2785872" cy="64008"/>
          </a:xfrm>
          <a:prstGeom prst="rect">
            <a:avLst/>
          </a:prstGeom>
          <a:solidFill>
            <a:srgbClr val="A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8328" y="1417320"/>
            <a:ext cx="2566416" cy="420624"/>
          </a:xfrm>
          <a:prstGeom prst="rect">
            <a:avLst/>
          </a:prstGeom>
          <a:noFill/>
        </p:spPr>
        <p:txBody>
          <a:bodyPr wrap="square" anchor="t" lIns="0" rIns="0" tIns="0" bIns="0">
            <a:spAutoFit/>
          </a:bodyPr>
          <a:lstStyle/>
          <a:p>
            <a:pPr algn="l">
              <a:lnSpc>
                <a:spcPct val="100000"/>
              </a:lnSpc>
            </a:pPr>
            <a:r>
              <a:rPr sz="1200" b="1">
                <a:solidFill>
                  <a:srgbClr val="1F3864"/>
                </a:solidFill>
                <a:latin typeface="Calibri"/>
              </a:rPr>
              <a:t>Why it is not trivial</a:t>
            </a:r>
          </a:p>
        </p:txBody>
      </p:sp>
      <p:sp>
        <p:nvSpPr>
          <p:cNvPr id="11" name="TextBox 10"/>
          <p:cNvSpPr txBox="1"/>
          <p:nvPr/>
        </p:nvSpPr>
        <p:spPr>
          <a:xfrm>
            <a:off x="338328" y="1856232"/>
            <a:ext cx="2566416" cy="2286000"/>
          </a:xfrm>
          <a:prstGeom prst="rect">
            <a:avLst/>
          </a:prstGeom>
          <a:noFill/>
        </p:spPr>
        <p:txBody>
          <a:bodyPr wrap="square" anchor="t" lIns="0" rIns="0" tIns="0" bIns="0">
            <a:spAutoFit/>
          </a:bodyPr>
          <a:lstStyle/>
          <a:p>
            <a:pPr algn="l">
              <a:lnSpc>
                <a:spcPct val="95000"/>
              </a:lnSpc>
            </a:pPr>
            <a:r>
              <a:rPr sz="1050" b="0">
                <a:solidFill>
                  <a:srgbClr val="374151"/>
                </a:solidFill>
                <a:latin typeface="Calibri"/>
              </a:rPr>
              <a:t>Real exports overwhelmingly use IfcMappedItem and IfcFacetedBrep. A fast vertex reader handling only tessellated sets, polylines and swept solids resolves none of them — measured at 0 of 87 elements on the AISC steel models.</a:t>
            </a:r>
          </a:p>
        </p:txBody>
      </p:sp>
      <p:sp>
        <p:nvSpPr>
          <p:cNvPr id="12" name="Rectangle 11"/>
          <p:cNvSpPr/>
          <p:nvPr/>
        </p:nvSpPr>
        <p:spPr>
          <a:xfrm>
            <a:off x="3179064" y="1234440"/>
            <a:ext cx="2785872" cy="301752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179064" y="1234440"/>
            <a:ext cx="2785872" cy="64008"/>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88792" y="1417320"/>
            <a:ext cx="2566416" cy="420624"/>
          </a:xfrm>
          <a:prstGeom prst="rect">
            <a:avLst/>
          </a:prstGeom>
          <a:noFill/>
        </p:spPr>
        <p:txBody>
          <a:bodyPr wrap="square" anchor="t" lIns="0" rIns="0" tIns="0" bIns="0">
            <a:spAutoFit/>
          </a:bodyPr>
          <a:lstStyle/>
          <a:p>
            <a:pPr algn="l">
              <a:lnSpc>
                <a:spcPct val="100000"/>
              </a:lnSpc>
            </a:pPr>
            <a:r>
              <a:rPr sz="1200" b="1">
                <a:solidFill>
                  <a:srgbClr val="1F3864"/>
                </a:solidFill>
                <a:latin typeface="Calibri"/>
              </a:rPr>
              <a:t>What the harness does</a:t>
            </a:r>
          </a:p>
        </p:txBody>
      </p:sp>
      <p:sp>
        <p:nvSpPr>
          <p:cNvPr id="15" name="TextBox 14"/>
          <p:cNvSpPr txBox="1"/>
          <p:nvPr/>
        </p:nvSpPr>
        <p:spPr>
          <a:xfrm>
            <a:off x="3288792" y="1856232"/>
            <a:ext cx="2566416" cy="2286000"/>
          </a:xfrm>
          <a:prstGeom prst="rect">
            <a:avLst/>
          </a:prstGeom>
          <a:noFill/>
        </p:spPr>
        <p:txBody>
          <a:bodyPr wrap="square" anchor="t" lIns="0" rIns="0" tIns="0" bIns="0">
            <a:spAutoFit/>
          </a:bodyPr>
          <a:lstStyle/>
          <a:p>
            <a:pPr algn="l">
              <a:lnSpc>
                <a:spcPct val="95000"/>
              </a:lnSpc>
            </a:pPr>
            <a:r>
              <a:rPr sz="1050" b="0">
                <a:solidFill>
                  <a:srgbClr val="374151"/>
                </a:solidFill>
                <a:latin typeface="Calibri"/>
              </a:rPr>
              <a:t>Evaluates real geometry through ifcopenshell.geom's multithreaded iterator, which handles every representation type, then converts to axis-aligned boxes in millimetres.</a:t>
            </a:r>
          </a:p>
        </p:txBody>
      </p:sp>
      <p:sp>
        <p:nvSpPr>
          <p:cNvPr id="16" name="Rectangle 15"/>
          <p:cNvSpPr/>
          <p:nvPr/>
        </p:nvSpPr>
        <p:spPr>
          <a:xfrm>
            <a:off x="6129528" y="1234440"/>
            <a:ext cx="2785872" cy="301752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9528" y="1234440"/>
            <a:ext cx="2785872" cy="6400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39256" y="1417320"/>
            <a:ext cx="2566416" cy="420624"/>
          </a:xfrm>
          <a:prstGeom prst="rect">
            <a:avLst/>
          </a:prstGeom>
          <a:noFill/>
        </p:spPr>
        <p:txBody>
          <a:bodyPr wrap="square" anchor="t" lIns="0" rIns="0" tIns="0" bIns="0">
            <a:spAutoFit/>
          </a:bodyPr>
          <a:lstStyle/>
          <a:p>
            <a:pPr algn="l">
              <a:lnSpc>
                <a:spcPct val="100000"/>
              </a:lnSpc>
            </a:pPr>
            <a:r>
              <a:rPr sz="1200" b="1">
                <a:solidFill>
                  <a:srgbClr val="1F3864"/>
                </a:solidFill>
                <a:latin typeface="Calibri"/>
              </a:rPr>
              <a:t>Two settings that decide correctness</a:t>
            </a:r>
          </a:p>
        </p:txBody>
      </p:sp>
      <p:sp>
        <p:nvSpPr>
          <p:cNvPr id="19" name="TextBox 18"/>
          <p:cNvSpPr txBox="1"/>
          <p:nvPr/>
        </p:nvSpPr>
        <p:spPr>
          <a:xfrm>
            <a:off x="6239256" y="1856232"/>
            <a:ext cx="2566416" cy="2286000"/>
          </a:xfrm>
          <a:prstGeom prst="rect">
            <a:avLst/>
          </a:prstGeom>
          <a:noFill/>
        </p:spPr>
        <p:txBody>
          <a:bodyPr wrap="square" anchor="t" lIns="0" rIns="0" tIns="0" bIns="0">
            <a:spAutoFit/>
          </a:bodyPr>
          <a:lstStyle/>
          <a:p>
            <a:pPr algn="l">
              <a:lnSpc>
                <a:spcPct val="95000"/>
              </a:lnSpc>
            </a:pPr>
            <a:r>
              <a:rPr sz="1050" b="0">
                <a:solidFill>
                  <a:srgbClr val="374151"/>
                </a:solidFill>
                <a:latin typeface="Calibri"/>
              </a:rPr>
              <a:t>use-world-coords must be set, or every element returns in local coordinates near the origin and everything appears to clash. The iterator emits SI metres regardless of declared file units, so results scale by 1000.</a:t>
            </a:r>
          </a:p>
        </p:txBody>
      </p:sp>
      <p:sp>
        <p:nvSpPr>
          <p:cNvPr id="20" name="TextBox 19"/>
          <p:cNvSpPr txBox="1"/>
          <p:nvPr/>
        </p:nvSpPr>
        <p:spPr>
          <a:xfrm>
            <a:off x="228600" y="4160520"/>
            <a:ext cx="8686800" cy="640080"/>
          </a:xfrm>
          <a:prstGeom prst="rect">
            <a:avLst/>
          </a:prstGeom>
          <a:noFill/>
        </p:spPr>
        <p:txBody>
          <a:bodyPr wrap="square" anchor="t" lIns="0" rIns="0" tIns="0" bIns="0">
            <a:spAutoFit/>
          </a:bodyPr>
          <a:lstStyle/>
          <a:p>
            <a:pPr algn="l">
              <a:lnSpc>
                <a:spcPct val="95000"/>
              </a:lnSpc>
            </a:pPr>
            <a:r>
              <a:rPr sz="1200" b="1">
                <a:solidFill>
                  <a:srgbClr val="1F3864"/>
                </a:solidFill>
                <a:latin typeface="Calibri"/>
              </a:rPr>
              <a:t>Verified against a fixture whose true extents are known exactly, so the unit handling is checked rather than assumed.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Phase 2 — halo generation</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Deterministic, and traceable to its config rule</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234440"/>
            <a:ext cx="64008" cy="804672"/>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 y="132588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Read the rule, not a constant</a:t>
            </a:r>
          </a:p>
        </p:txBody>
      </p:sp>
      <p:sp>
        <p:nvSpPr>
          <p:cNvPr id="11" name="TextBox 10"/>
          <p:cNvSpPr txBox="1"/>
          <p:nvPr/>
        </p:nvSpPr>
        <p:spPr>
          <a:xfrm>
            <a:off x="356616" y="16002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The brace variant selects a ClearanceRule from the loaded jurisdiction config. Base clearance, spacing and angle limits all come from the pack.</a:t>
            </a:r>
          </a:p>
        </p:txBody>
      </p:sp>
      <p:sp>
        <p:nvSpPr>
          <p:cNvPr id="12" name="Rectangle 11"/>
          <p:cNvSpPr/>
          <p:nvPr/>
        </p:nvSpPr>
        <p:spPr>
          <a:xfrm>
            <a:off x="228600" y="2148840"/>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28600" y="2148840"/>
            <a:ext cx="64008" cy="804672"/>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6616" y="224028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Expand uniformly</a:t>
            </a:r>
          </a:p>
        </p:txBody>
      </p:sp>
      <p:sp>
        <p:nvSpPr>
          <p:cNvPr id="15" name="TextBox 14"/>
          <p:cNvSpPr txBox="1"/>
          <p:nvPr/>
        </p:nvSpPr>
        <p:spPr>
          <a:xfrm>
            <a:off x="356616" y="25146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The element bounding box grows by the effective clearance on every face, producing an axis-aligned envelope in millimetres.</a:t>
            </a:r>
          </a:p>
        </p:txBody>
      </p:sp>
      <p:sp>
        <p:nvSpPr>
          <p:cNvPr id="16" name="Rectangle 15"/>
          <p:cNvSpPr/>
          <p:nvPr/>
        </p:nvSpPr>
        <p:spPr>
          <a:xfrm>
            <a:off x="228600" y="3063240"/>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28600" y="3063240"/>
            <a:ext cx="64008" cy="80467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6616" y="315468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Record what produced it</a:t>
            </a:r>
          </a:p>
        </p:txBody>
      </p:sp>
      <p:sp>
        <p:nvSpPr>
          <p:cNvPr id="19" name="TextBox 18"/>
          <p:cNvSpPr txBox="1"/>
          <p:nvPr/>
        </p:nvSpPr>
        <p:spPr>
          <a:xfrm>
            <a:off x="356616" y="34290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Each HaloVolume carries the rule variant, the clearance applied and the flags that modified it, so a volume can be traced back to the config rule and its provenance status.</a:t>
            </a:r>
          </a:p>
        </p:txBody>
      </p:sp>
      <p:sp>
        <p:nvSpPr>
          <p:cNvPr id="20" name="Rectangle 19"/>
          <p:cNvSpPr/>
          <p:nvPr/>
        </p:nvSpPr>
        <p:spPr>
          <a:xfrm>
            <a:off x="228600" y="3977639"/>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28600" y="3977639"/>
            <a:ext cx="64008" cy="804672"/>
          </a:xfrm>
          <a:prstGeom prst="rect">
            <a:avLst/>
          </a:prstGeom>
          <a:solidFill>
            <a:srgbClr val="1E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6616" y="4069079"/>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Immutable with respect to source</a:t>
            </a:r>
          </a:p>
        </p:txBody>
      </p:sp>
      <p:sp>
        <p:nvSpPr>
          <p:cNvPr id="23" name="TextBox 22"/>
          <p:cNvSpPr txBox="1"/>
          <p:nvPr/>
        </p:nvSpPr>
        <p:spPr>
          <a:xfrm>
            <a:off x="356616" y="43434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The original element geometry is never mutated; the halo is a separate object keyed by GlobalId.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Phase 3 — spatial indexing</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Why brute-force pairing does not finish</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325880"/>
            <a:ext cx="8686800" cy="731520"/>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1490472"/>
            <a:ext cx="8503920" cy="457200"/>
          </a:xfrm>
          <a:prstGeom prst="rect">
            <a:avLst/>
          </a:prstGeom>
          <a:noFill/>
        </p:spPr>
        <p:txBody>
          <a:bodyPr wrap="square" anchor="t" lIns="0" rIns="0" tIns="0" bIns="0">
            <a:spAutoFit/>
          </a:bodyPr>
          <a:lstStyle/>
          <a:p>
            <a:pPr algn="ctr">
              <a:lnSpc>
                <a:spcPct val="100000"/>
              </a:lnSpc>
            </a:pPr>
            <a:r>
              <a:rPr sz="1800" b="1">
                <a:solidFill>
                  <a:srgbClr val="1F3864"/>
                </a:solidFill>
                <a:latin typeface="Calibri"/>
              </a:rPr>
              <a:t>brute force  O(n²)   →   uniform grid  ≈ O(n)  for spatially sparse models</a:t>
            </a:r>
          </a:p>
        </p:txBody>
      </p:sp>
      <p:sp>
        <p:nvSpPr>
          <p:cNvPr id="10" name="TextBox 9"/>
          <p:cNvSpPr txBox="1"/>
          <p:nvPr/>
        </p:nvSpPr>
        <p:spPr>
          <a:xfrm>
            <a:off x="228600" y="2148840"/>
            <a:ext cx="8686800" cy="274320"/>
          </a:xfrm>
          <a:prstGeom prst="rect">
            <a:avLst/>
          </a:prstGeom>
          <a:noFill/>
        </p:spPr>
        <p:txBody>
          <a:bodyPr wrap="square" anchor="t" lIns="0" rIns="0" tIns="0" bIns="0">
            <a:spAutoFit/>
          </a:bodyPr>
          <a:lstStyle/>
          <a:p>
            <a:pPr algn="ctr">
              <a:lnSpc>
                <a:spcPct val="100000"/>
              </a:lnSpc>
            </a:pPr>
            <a:r>
              <a:rPr sz="1050" b="0">
                <a:solidFill>
                  <a:srgbClr val="8896A6"/>
                </a:solidFill>
                <a:latin typeface="Calibri"/>
              </a:rPr>
              <a:t>West Riverside mechanical alone carries 8,732 duct and pipe segments: 76 million pair tests without pre-filtering.</a:t>
            </a:r>
          </a:p>
        </p:txBody>
      </p:sp>
      <p:sp>
        <p:nvSpPr>
          <p:cNvPr id="11" name="Rectangle 10"/>
          <p:cNvSpPr/>
          <p:nvPr/>
        </p:nvSpPr>
        <p:spPr>
          <a:xfrm>
            <a:off x="228600" y="2331720"/>
            <a:ext cx="2785872" cy="123444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28600" y="2331720"/>
            <a:ext cx="2785872" cy="64008"/>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8328" y="2514600"/>
            <a:ext cx="2566416" cy="420624"/>
          </a:xfrm>
          <a:prstGeom prst="rect">
            <a:avLst/>
          </a:prstGeom>
          <a:noFill/>
        </p:spPr>
        <p:txBody>
          <a:bodyPr wrap="square" anchor="t" lIns="0" rIns="0" tIns="0" bIns="0">
            <a:spAutoFit/>
          </a:bodyPr>
          <a:lstStyle/>
          <a:p>
            <a:pPr algn="l">
              <a:lnSpc>
                <a:spcPct val="100000"/>
              </a:lnSpc>
            </a:pPr>
            <a:r>
              <a:rPr sz="1200" b="1">
                <a:solidFill>
                  <a:srgbClr val="1F3864"/>
                </a:solidFill>
                <a:latin typeface="Calibri"/>
              </a:rPr>
              <a:t>Cell sizing</a:t>
            </a:r>
          </a:p>
        </p:txBody>
      </p:sp>
      <p:sp>
        <p:nvSpPr>
          <p:cNvPr id="14" name="TextBox 13"/>
          <p:cNvSpPr txBox="1"/>
          <p:nvPr/>
        </p:nvSpPr>
        <p:spPr>
          <a:xfrm>
            <a:off x="338328" y="2953512"/>
            <a:ext cx="2566416" cy="502920"/>
          </a:xfrm>
          <a:prstGeom prst="rect">
            <a:avLst/>
          </a:prstGeom>
          <a:noFill/>
        </p:spPr>
        <p:txBody>
          <a:bodyPr wrap="square" anchor="t" lIns="0" rIns="0" tIns="0" bIns="0">
            <a:spAutoFit/>
          </a:bodyPr>
          <a:lstStyle/>
          <a:p>
            <a:pPr algn="l">
              <a:lnSpc>
                <a:spcPct val="95000"/>
              </a:lnSpc>
            </a:pPr>
            <a:r>
              <a:rPr sz="1050" b="0">
                <a:solidFill>
                  <a:srgbClr val="374151"/>
                </a:solidFill>
                <a:latin typeface="Calibri"/>
              </a:rPr>
              <a:t>Cell edge is the median element extent, floored at four times the clearance, so a halo touches few cells.</a:t>
            </a:r>
          </a:p>
        </p:txBody>
      </p:sp>
      <p:sp>
        <p:nvSpPr>
          <p:cNvPr id="15" name="Rectangle 14"/>
          <p:cNvSpPr/>
          <p:nvPr/>
        </p:nvSpPr>
        <p:spPr>
          <a:xfrm>
            <a:off x="3179064" y="2331720"/>
            <a:ext cx="2785872" cy="123444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179064" y="2331720"/>
            <a:ext cx="2785872" cy="64008"/>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88792" y="2514600"/>
            <a:ext cx="2566416" cy="420624"/>
          </a:xfrm>
          <a:prstGeom prst="rect">
            <a:avLst/>
          </a:prstGeom>
          <a:noFill/>
        </p:spPr>
        <p:txBody>
          <a:bodyPr wrap="square" anchor="t" lIns="0" rIns="0" tIns="0" bIns="0">
            <a:spAutoFit/>
          </a:bodyPr>
          <a:lstStyle/>
          <a:p>
            <a:pPr algn="l">
              <a:lnSpc>
                <a:spcPct val="100000"/>
              </a:lnSpc>
            </a:pPr>
            <a:r>
              <a:rPr sz="1200" b="1">
                <a:solidFill>
                  <a:srgbClr val="1F3864"/>
                </a:solidFill>
                <a:latin typeface="Calibri"/>
              </a:rPr>
              <a:t>Bucketing</a:t>
            </a:r>
          </a:p>
        </p:txBody>
      </p:sp>
      <p:sp>
        <p:nvSpPr>
          <p:cNvPr id="18" name="TextBox 17"/>
          <p:cNvSpPr txBox="1"/>
          <p:nvPr/>
        </p:nvSpPr>
        <p:spPr>
          <a:xfrm>
            <a:off x="3288792" y="2953512"/>
            <a:ext cx="2566416" cy="502920"/>
          </a:xfrm>
          <a:prstGeom prst="rect">
            <a:avLst/>
          </a:prstGeom>
          <a:noFill/>
        </p:spPr>
        <p:txBody>
          <a:bodyPr wrap="square" anchor="t" lIns="0" rIns="0" tIns="0" bIns="0">
            <a:spAutoFit/>
          </a:bodyPr>
          <a:lstStyle/>
          <a:p>
            <a:pPr algn="l">
              <a:lnSpc>
                <a:spcPct val="95000"/>
              </a:lnSpc>
            </a:pPr>
            <a:r>
              <a:rPr sz="1050" b="0">
                <a:solidFill>
                  <a:srgbClr val="374151"/>
                </a:solidFill>
                <a:latin typeface="Calibri"/>
              </a:rPr>
              <a:t>Every candidate bbox is inserted into each cell it overlaps; a halo queries only its own cells.</a:t>
            </a:r>
          </a:p>
        </p:txBody>
      </p:sp>
      <p:sp>
        <p:nvSpPr>
          <p:cNvPr id="19" name="Rectangle 18"/>
          <p:cNvSpPr/>
          <p:nvPr/>
        </p:nvSpPr>
        <p:spPr>
          <a:xfrm>
            <a:off x="6129528" y="2331720"/>
            <a:ext cx="2785872" cy="123444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29528" y="2331720"/>
            <a:ext cx="2785872" cy="6400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39256" y="2514600"/>
            <a:ext cx="2566416" cy="420624"/>
          </a:xfrm>
          <a:prstGeom prst="rect">
            <a:avLst/>
          </a:prstGeom>
          <a:noFill/>
        </p:spPr>
        <p:txBody>
          <a:bodyPr wrap="square" anchor="t" lIns="0" rIns="0" tIns="0" bIns="0">
            <a:spAutoFit/>
          </a:bodyPr>
          <a:lstStyle/>
          <a:p>
            <a:pPr algn="l">
              <a:lnSpc>
                <a:spcPct val="100000"/>
              </a:lnSpc>
            </a:pPr>
            <a:r>
              <a:rPr sz="1200" b="1">
                <a:solidFill>
                  <a:srgbClr val="1F3864"/>
                </a:solidFill>
                <a:latin typeface="Calibri"/>
              </a:rPr>
              <a:t>Exactness preserved</a:t>
            </a:r>
          </a:p>
        </p:txBody>
      </p:sp>
      <p:sp>
        <p:nvSpPr>
          <p:cNvPr id="22" name="TextBox 21"/>
          <p:cNvSpPr txBox="1"/>
          <p:nvPr/>
        </p:nvSpPr>
        <p:spPr>
          <a:xfrm>
            <a:off x="6239256" y="2953512"/>
            <a:ext cx="2566416" cy="502920"/>
          </a:xfrm>
          <a:prstGeom prst="rect">
            <a:avLst/>
          </a:prstGeom>
          <a:noFill/>
        </p:spPr>
        <p:txBody>
          <a:bodyPr wrap="square" anchor="t" lIns="0" rIns="0" tIns="0" bIns="0">
            <a:spAutoFit/>
          </a:bodyPr>
          <a:lstStyle/>
          <a:p>
            <a:pPr algn="l">
              <a:lnSpc>
                <a:spcPct val="95000"/>
              </a:lnSpc>
            </a:pPr>
            <a:r>
              <a:rPr sz="1050" b="0">
                <a:solidFill>
                  <a:srgbClr val="374151"/>
                </a:solidFill>
                <a:latin typeface="Calibri"/>
              </a:rPr>
              <a:t>Results are identical to brute-force pairing. Only the comparisons that could not intersect are removed.</a:t>
            </a:r>
          </a:p>
        </p:txBody>
      </p:sp>
      <p:sp>
        <p:nvSpPr>
          <p:cNvPr id="23" name="TextBox 22"/>
          <p:cNvSpPr txBox="1"/>
          <p:nvPr/>
        </p:nvSpPr>
        <p:spPr>
          <a:xfrm>
            <a:off x="228600" y="3749039"/>
            <a:ext cx="8686800" cy="640080"/>
          </a:xfrm>
          <a:prstGeom prst="rect">
            <a:avLst/>
          </a:prstGeom>
          <a:noFill/>
        </p:spPr>
        <p:txBody>
          <a:bodyPr wrap="square" anchor="t" lIns="0" rIns="0" tIns="0" bIns="0">
            <a:spAutoFit/>
          </a:bodyPr>
          <a:lstStyle/>
          <a:p>
            <a:pPr algn="l">
              <a:lnSpc>
                <a:spcPct val="95000"/>
              </a:lnSpc>
            </a:pPr>
            <a:r>
              <a:rPr sz="1200" b="1">
                <a:solidFill>
                  <a:srgbClr val="1F3864"/>
                </a:solidFill>
                <a:latin typeface="Calibri"/>
              </a:rPr>
              <a:t>This is the difference between a sweep that completes in an hour and one that does not complete.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A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Phase 4 — collision detection and severity</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AABB intersection, banded by overlap fraction</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80160"/>
            <a:ext cx="8686800" cy="640080"/>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1444751"/>
            <a:ext cx="8503920" cy="365759"/>
          </a:xfrm>
          <a:prstGeom prst="rect">
            <a:avLst/>
          </a:prstGeom>
          <a:noFill/>
        </p:spPr>
        <p:txBody>
          <a:bodyPr wrap="square" anchor="t" lIns="0" rIns="0" tIns="0" bIns="0">
            <a:spAutoFit/>
          </a:bodyPr>
          <a:lstStyle/>
          <a:p>
            <a:pPr algn="ctr">
              <a:lnSpc>
                <a:spcPct val="100000"/>
              </a:lnSpc>
            </a:pPr>
            <a:r>
              <a:rPr sz="1800" b="1">
                <a:solidFill>
                  <a:srgbClr val="1F3864"/>
                </a:solidFill>
                <a:latin typeface="Calibri"/>
              </a:rPr>
              <a:t>overlap_ratio  =  overlap_volume  ÷  halo_volume</a:t>
            </a:r>
          </a:p>
        </p:txBody>
      </p:sp>
      <p:sp>
        <p:nvSpPr>
          <p:cNvPr id="10" name="Rectangle 9"/>
          <p:cNvSpPr/>
          <p:nvPr/>
        </p:nvSpPr>
        <p:spPr>
          <a:xfrm>
            <a:off x="228600" y="2103120"/>
            <a:ext cx="8686800" cy="29260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2608" y="2148839"/>
            <a:ext cx="1461032" cy="219456"/>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Band</a:t>
            </a:r>
          </a:p>
        </p:txBody>
      </p:sp>
      <p:sp>
        <p:nvSpPr>
          <p:cNvPr id="12" name="TextBox 11"/>
          <p:cNvSpPr txBox="1"/>
          <p:nvPr/>
        </p:nvSpPr>
        <p:spPr>
          <a:xfrm>
            <a:off x="1881656" y="2148839"/>
            <a:ext cx="1990715" cy="219456"/>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Threshold</a:t>
            </a:r>
          </a:p>
        </p:txBody>
      </p:sp>
      <p:sp>
        <p:nvSpPr>
          <p:cNvPr id="13" name="TextBox 12"/>
          <p:cNvSpPr txBox="1"/>
          <p:nvPr/>
        </p:nvSpPr>
        <p:spPr>
          <a:xfrm>
            <a:off x="4000388" y="2148839"/>
            <a:ext cx="3261954" cy="219456"/>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Measured across corpus</a:t>
            </a:r>
          </a:p>
        </p:txBody>
      </p:sp>
      <p:sp>
        <p:nvSpPr>
          <p:cNvPr id="14" name="TextBox 13"/>
          <p:cNvSpPr txBox="1"/>
          <p:nvPr/>
        </p:nvSpPr>
        <p:spPr>
          <a:xfrm>
            <a:off x="7390359" y="2148839"/>
            <a:ext cx="1461032" cy="219456"/>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Share</a:t>
            </a:r>
          </a:p>
        </p:txBody>
      </p:sp>
      <p:sp>
        <p:nvSpPr>
          <p:cNvPr id="15" name="Rectangle 14"/>
          <p:cNvSpPr/>
          <p:nvPr/>
        </p:nvSpPr>
        <p:spPr>
          <a:xfrm>
            <a:off x="228600" y="2395727"/>
            <a:ext cx="8686800" cy="292608"/>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2608" y="2441447"/>
            <a:ext cx="1461032" cy="219456"/>
          </a:xfrm>
          <a:prstGeom prst="rect">
            <a:avLst/>
          </a:prstGeom>
          <a:noFill/>
        </p:spPr>
        <p:txBody>
          <a:bodyPr wrap="square" anchor="t" lIns="0" rIns="0" tIns="0" bIns="0">
            <a:spAutoFit/>
          </a:bodyPr>
          <a:lstStyle/>
          <a:p>
            <a:pPr algn="l">
              <a:lnSpc>
                <a:spcPct val="100000"/>
              </a:lnSpc>
            </a:pPr>
            <a:r>
              <a:rPr sz="1100" b="1">
                <a:solidFill>
                  <a:srgbClr val="A32D2D"/>
                </a:solidFill>
                <a:latin typeface="Calibri"/>
              </a:rPr>
              <a:t>Critical</a:t>
            </a:r>
          </a:p>
        </p:txBody>
      </p:sp>
      <p:sp>
        <p:nvSpPr>
          <p:cNvPr id="17" name="TextBox 16"/>
          <p:cNvSpPr txBox="1"/>
          <p:nvPr/>
        </p:nvSpPr>
        <p:spPr>
          <a:xfrm>
            <a:off x="1881656" y="2441447"/>
            <a:ext cx="1990715"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ratio ≥ 0.25</a:t>
            </a:r>
          </a:p>
        </p:txBody>
      </p:sp>
      <p:sp>
        <p:nvSpPr>
          <p:cNvPr id="18" name="TextBox 17"/>
          <p:cNvSpPr txBox="1"/>
          <p:nvPr/>
        </p:nvSpPr>
        <p:spPr>
          <a:xfrm>
            <a:off x="4000388" y="2441447"/>
            <a:ext cx="3261954"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5,236</a:t>
            </a:r>
          </a:p>
        </p:txBody>
      </p:sp>
      <p:sp>
        <p:nvSpPr>
          <p:cNvPr id="19" name="TextBox 18"/>
          <p:cNvSpPr txBox="1"/>
          <p:nvPr/>
        </p:nvSpPr>
        <p:spPr>
          <a:xfrm>
            <a:off x="7390359" y="2441447"/>
            <a:ext cx="1461032"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2.34%</a:t>
            </a:r>
          </a:p>
        </p:txBody>
      </p:sp>
      <p:sp>
        <p:nvSpPr>
          <p:cNvPr id="20" name="Rectangle 19"/>
          <p:cNvSpPr/>
          <p:nvPr/>
        </p:nvSpPr>
        <p:spPr>
          <a:xfrm>
            <a:off x="228600" y="2688335"/>
            <a:ext cx="8686800" cy="292608"/>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92608" y="2734055"/>
            <a:ext cx="1461032" cy="219456"/>
          </a:xfrm>
          <a:prstGeom prst="rect">
            <a:avLst/>
          </a:prstGeom>
          <a:noFill/>
        </p:spPr>
        <p:txBody>
          <a:bodyPr wrap="square" anchor="t" lIns="0" rIns="0" tIns="0" bIns="0">
            <a:spAutoFit/>
          </a:bodyPr>
          <a:lstStyle/>
          <a:p>
            <a:pPr algn="l">
              <a:lnSpc>
                <a:spcPct val="100000"/>
              </a:lnSpc>
            </a:pPr>
            <a:r>
              <a:rPr sz="1100" b="1">
                <a:solidFill>
                  <a:srgbClr val="854F0B"/>
                </a:solidFill>
                <a:latin typeface="Calibri"/>
              </a:rPr>
              <a:t>Major</a:t>
            </a:r>
          </a:p>
        </p:txBody>
      </p:sp>
      <p:sp>
        <p:nvSpPr>
          <p:cNvPr id="22" name="TextBox 21"/>
          <p:cNvSpPr txBox="1"/>
          <p:nvPr/>
        </p:nvSpPr>
        <p:spPr>
          <a:xfrm>
            <a:off x="1881656" y="2734055"/>
            <a:ext cx="1990715"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ratio ≥ 0.05</a:t>
            </a:r>
          </a:p>
        </p:txBody>
      </p:sp>
      <p:sp>
        <p:nvSpPr>
          <p:cNvPr id="23" name="TextBox 22"/>
          <p:cNvSpPr txBox="1"/>
          <p:nvPr/>
        </p:nvSpPr>
        <p:spPr>
          <a:xfrm>
            <a:off x="4000388" y="2734055"/>
            <a:ext cx="3261954"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6,699</a:t>
            </a:r>
          </a:p>
        </p:txBody>
      </p:sp>
      <p:sp>
        <p:nvSpPr>
          <p:cNvPr id="24" name="TextBox 23"/>
          <p:cNvSpPr txBox="1"/>
          <p:nvPr/>
        </p:nvSpPr>
        <p:spPr>
          <a:xfrm>
            <a:off x="7390359" y="2734055"/>
            <a:ext cx="1461032"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3.00%</a:t>
            </a:r>
          </a:p>
        </p:txBody>
      </p:sp>
      <p:sp>
        <p:nvSpPr>
          <p:cNvPr id="25" name="Rectangle 24"/>
          <p:cNvSpPr/>
          <p:nvPr/>
        </p:nvSpPr>
        <p:spPr>
          <a:xfrm>
            <a:off x="228600" y="2980944"/>
            <a:ext cx="8686800" cy="292608"/>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92608" y="3026663"/>
            <a:ext cx="1461032" cy="219456"/>
          </a:xfrm>
          <a:prstGeom prst="rect">
            <a:avLst/>
          </a:prstGeom>
          <a:noFill/>
        </p:spPr>
        <p:txBody>
          <a:bodyPr wrap="square" anchor="t" lIns="0" rIns="0" tIns="0" bIns="0">
            <a:spAutoFit/>
          </a:bodyPr>
          <a:lstStyle/>
          <a:p>
            <a:pPr algn="l">
              <a:lnSpc>
                <a:spcPct val="100000"/>
              </a:lnSpc>
            </a:pPr>
            <a:r>
              <a:rPr sz="1100" b="1">
                <a:solidFill>
                  <a:srgbClr val="1E7A4B"/>
                </a:solidFill>
                <a:latin typeface="Calibri"/>
              </a:rPr>
              <a:t>Minor</a:t>
            </a:r>
          </a:p>
        </p:txBody>
      </p:sp>
      <p:sp>
        <p:nvSpPr>
          <p:cNvPr id="27" name="TextBox 26"/>
          <p:cNvSpPr txBox="1"/>
          <p:nvPr/>
        </p:nvSpPr>
        <p:spPr>
          <a:xfrm>
            <a:off x="1881656" y="3026663"/>
            <a:ext cx="1990715"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ratio &lt; 0.05</a:t>
            </a:r>
          </a:p>
        </p:txBody>
      </p:sp>
      <p:sp>
        <p:nvSpPr>
          <p:cNvPr id="28" name="TextBox 27"/>
          <p:cNvSpPr txBox="1"/>
          <p:nvPr/>
        </p:nvSpPr>
        <p:spPr>
          <a:xfrm>
            <a:off x="4000388" y="3026663"/>
            <a:ext cx="3261954"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211,581</a:t>
            </a:r>
          </a:p>
        </p:txBody>
      </p:sp>
      <p:sp>
        <p:nvSpPr>
          <p:cNvPr id="29" name="TextBox 28"/>
          <p:cNvSpPr txBox="1"/>
          <p:nvPr/>
        </p:nvSpPr>
        <p:spPr>
          <a:xfrm>
            <a:off x="7390359" y="3026663"/>
            <a:ext cx="1461032"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94.66%</a:t>
            </a:r>
          </a:p>
        </p:txBody>
      </p:sp>
      <p:sp>
        <p:nvSpPr>
          <p:cNvPr id="30" name="TextBox 29"/>
          <p:cNvSpPr txBox="1"/>
          <p:nvPr/>
        </p:nvSpPr>
        <p:spPr>
          <a:xfrm>
            <a:off x="228600" y="3429000"/>
            <a:ext cx="8686800" cy="640080"/>
          </a:xfrm>
          <a:prstGeom prst="rect">
            <a:avLst/>
          </a:prstGeom>
          <a:noFill/>
        </p:spPr>
        <p:txBody>
          <a:bodyPr wrap="square" anchor="t" lIns="0" rIns="0" tIns="0" bIns="0">
            <a:spAutoFit/>
          </a:bodyPr>
          <a:lstStyle/>
          <a:p>
            <a:pPr algn="l">
              <a:lnSpc>
                <a:spcPct val="95000"/>
              </a:lnSpc>
            </a:pPr>
            <a:r>
              <a:rPr sz="1150" b="0">
                <a:solidFill>
                  <a:srgbClr val="374151"/>
                </a:solidFill>
                <a:latin typeface="Calibri"/>
              </a:rPr>
              <a:t>The banding is a spatial heuristic, not a standards-derived threshold — stated as such in Appendix B under threats to validity. Table B.6 shows how sensitive the totals are to the clearance input, which is the stronger reason to treat severity as triage rather than verdict.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Hospital MEP corridor — brace family comparison</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One element, three candidate supports, one clearance regime</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8686800" cy="29260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2608" y="1280160"/>
            <a:ext cx="2176645" cy="219456"/>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Brace family</a:t>
            </a:r>
          </a:p>
        </p:txBody>
      </p:sp>
      <p:sp>
        <p:nvSpPr>
          <p:cNvPr id="10" name="TextBox 9"/>
          <p:cNvSpPr txBox="1"/>
          <p:nvPr/>
        </p:nvSpPr>
        <p:spPr>
          <a:xfrm>
            <a:off x="2597269" y="1280160"/>
            <a:ext cx="1112955" cy="219456"/>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Clearance</a:t>
            </a:r>
          </a:p>
        </p:txBody>
      </p:sp>
      <p:sp>
        <p:nvSpPr>
          <p:cNvPr id="11" name="TextBox 10"/>
          <p:cNvSpPr txBox="1"/>
          <p:nvPr/>
        </p:nvSpPr>
        <p:spPr>
          <a:xfrm>
            <a:off x="3838240" y="1280160"/>
            <a:ext cx="1999363" cy="219456"/>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Halo volume (mm³)</a:t>
            </a:r>
          </a:p>
        </p:txBody>
      </p:sp>
      <p:sp>
        <p:nvSpPr>
          <p:cNvPr id="12" name="TextBox 11"/>
          <p:cNvSpPr txBox="1"/>
          <p:nvPr/>
        </p:nvSpPr>
        <p:spPr>
          <a:xfrm>
            <a:off x="5965620" y="1280160"/>
            <a:ext cx="935673" cy="219456"/>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Conflicts</a:t>
            </a:r>
          </a:p>
        </p:txBody>
      </p:sp>
      <p:sp>
        <p:nvSpPr>
          <p:cNvPr id="13" name="TextBox 12"/>
          <p:cNvSpPr txBox="1"/>
          <p:nvPr/>
        </p:nvSpPr>
        <p:spPr>
          <a:xfrm>
            <a:off x="7029310" y="1280160"/>
            <a:ext cx="1822081" cy="219456"/>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Recommendation</a:t>
            </a:r>
          </a:p>
        </p:txBody>
      </p:sp>
      <p:sp>
        <p:nvSpPr>
          <p:cNvPr id="14" name="Rectangle 13"/>
          <p:cNvSpPr/>
          <p:nvPr/>
        </p:nvSpPr>
        <p:spPr>
          <a:xfrm>
            <a:off x="228600" y="1527048"/>
            <a:ext cx="8686800" cy="292608"/>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2608" y="1572768"/>
            <a:ext cx="2176645"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Angle iron — fire</a:t>
            </a:r>
          </a:p>
        </p:txBody>
      </p:sp>
      <p:sp>
        <p:nvSpPr>
          <p:cNvPr id="16" name="TextBox 15"/>
          <p:cNvSpPr txBox="1"/>
          <p:nvPr/>
        </p:nvSpPr>
        <p:spPr>
          <a:xfrm>
            <a:off x="2597269" y="1572768"/>
            <a:ext cx="1112955"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200 mm</a:t>
            </a:r>
          </a:p>
        </p:txBody>
      </p:sp>
      <p:sp>
        <p:nvSpPr>
          <p:cNvPr id="17" name="TextBox 16"/>
          <p:cNvSpPr txBox="1"/>
          <p:nvPr/>
        </p:nvSpPr>
        <p:spPr>
          <a:xfrm>
            <a:off x="3838240" y="1572768"/>
            <a:ext cx="1999363"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688,500,000</a:t>
            </a:r>
          </a:p>
        </p:txBody>
      </p:sp>
      <p:sp>
        <p:nvSpPr>
          <p:cNvPr id="18" name="TextBox 17"/>
          <p:cNvSpPr txBox="1"/>
          <p:nvPr/>
        </p:nvSpPr>
        <p:spPr>
          <a:xfrm>
            <a:off x="5965620" y="1572768"/>
            <a:ext cx="935673"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1</a:t>
            </a:r>
          </a:p>
        </p:txBody>
      </p:sp>
      <p:sp>
        <p:nvSpPr>
          <p:cNvPr id="19" name="TextBox 18"/>
          <p:cNvSpPr txBox="1"/>
          <p:nvPr/>
        </p:nvSpPr>
        <p:spPr>
          <a:xfrm>
            <a:off x="7029310" y="1572768"/>
            <a:ext cx="1822081"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Marginal</a:t>
            </a:r>
          </a:p>
        </p:txBody>
      </p:sp>
      <p:sp>
        <p:nvSpPr>
          <p:cNvPr id="20" name="Rectangle 19"/>
          <p:cNvSpPr/>
          <p:nvPr/>
        </p:nvSpPr>
        <p:spPr>
          <a:xfrm>
            <a:off x="228600" y="1819656"/>
            <a:ext cx="8686800" cy="292608"/>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92608" y="1865376"/>
            <a:ext cx="2176645"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Angle iron — mechanical</a:t>
            </a:r>
          </a:p>
        </p:txBody>
      </p:sp>
      <p:sp>
        <p:nvSpPr>
          <p:cNvPr id="22" name="TextBox 21"/>
          <p:cNvSpPr txBox="1"/>
          <p:nvPr/>
        </p:nvSpPr>
        <p:spPr>
          <a:xfrm>
            <a:off x="2597269" y="1865376"/>
            <a:ext cx="1112955"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200 mm</a:t>
            </a:r>
          </a:p>
        </p:txBody>
      </p:sp>
      <p:sp>
        <p:nvSpPr>
          <p:cNvPr id="23" name="TextBox 22"/>
          <p:cNvSpPr txBox="1"/>
          <p:nvPr/>
        </p:nvSpPr>
        <p:spPr>
          <a:xfrm>
            <a:off x="3838240" y="1865376"/>
            <a:ext cx="1999363"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688,500,000</a:t>
            </a:r>
          </a:p>
        </p:txBody>
      </p:sp>
      <p:sp>
        <p:nvSpPr>
          <p:cNvPr id="24" name="TextBox 23"/>
          <p:cNvSpPr txBox="1"/>
          <p:nvPr/>
        </p:nvSpPr>
        <p:spPr>
          <a:xfrm>
            <a:off x="5965620" y="1865376"/>
            <a:ext cx="935673"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1</a:t>
            </a:r>
          </a:p>
        </p:txBody>
      </p:sp>
      <p:sp>
        <p:nvSpPr>
          <p:cNvPr id="25" name="TextBox 24"/>
          <p:cNvSpPr txBox="1"/>
          <p:nvPr/>
        </p:nvSpPr>
        <p:spPr>
          <a:xfrm>
            <a:off x="7029310" y="1865376"/>
            <a:ext cx="1822081"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Marginal</a:t>
            </a:r>
          </a:p>
        </p:txBody>
      </p:sp>
      <p:sp>
        <p:nvSpPr>
          <p:cNvPr id="26" name="Rectangle 25"/>
          <p:cNvSpPr/>
          <p:nvPr/>
        </p:nvSpPr>
        <p:spPr>
          <a:xfrm>
            <a:off x="228600" y="2112264"/>
            <a:ext cx="8686800" cy="292608"/>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92608" y="2157984"/>
            <a:ext cx="2176645"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Rod</a:t>
            </a:r>
          </a:p>
        </p:txBody>
      </p:sp>
      <p:sp>
        <p:nvSpPr>
          <p:cNvPr id="28" name="TextBox 27"/>
          <p:cNvSpPr txBox="1"/>
          <p:nvPr/>
        </p:nvSpPr>
        <p:spPr>
          <a:xfrm>
            <a:off x="2597269" y="2157984"/>
            <a:ext cx="1112955"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200 mm</a:t>
            </a:r>
          </a:p>
        </p:txBody>
      </p:sp>
      <p:sp>
        <p:nvSpPr>
          <p:cNvPr id="29" name="TextBox 28"/>
          <p:cNvSpPr txBox="1"/>
          <p:nvPr/>
        </p:nvSpPr>
        <p:spPr>
          <a:xfrm>
            <a:off x="3838240" y="2157984"/>
            <a:ext cx="1999363"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688,500,000</a:t>
            </a:r>
          </a:p>
        </p:txBody>
      </p:sp>
      <p:sp>
        <p:nvSpPr>
          <p:cNvPr id="30" name="TextBox 29"/>
          <p:cNvSpPr txBox="1"/>
          <p:nvPr/>
        </p:nvSpPr>
        <p:spPr>
          <a:xfrm>
            <a:off x="5965620" y="2157984"/>
            <a:ext cx="935673"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1</a:t>
            </a:r>
          </a:p>
        </p:txBody>
      </p:sp>
      <p:sp>
        <p:nvSpPr>
          <p:cNvPr id="31" name="TextBox 30"/>
          <p:cNvSpPr txBox="1"/>
          <p:nvPr/>
        </p:nvSpPr>
        <p:spPr>
          <a:xfrm>
            <a:off x="7029310" y="2157984"/>
            <a:ext cx="1822081"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Marginal</a:t>
            </a:r>
          </a:p>
        </p:txBody>
      </p:sp>
      <p:sp>
        <p:nvSpPr>
          <p:cNvPr id="32" name="Rectangle 31"/>
          <p:cNvSpPr/>
          <p:nvPr/>
        </p:nvSpPr>
        <p:spPr>
          <a:xfrm>
            <a:off x="228600" y="2404872"/>
            <a:ext cx="8686800" cy="292608"/>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92608" y="2450591"/>
            <a:ext cx="2176645" cy="219456"/>
          </a:xfrm>
          <a:prstGeom prst="rect">
            <a:avLst/>
          </a:prstGeom>
          <a:noFill/>
        </p:spPr>
        <p:txBody>
          <a:bodyPr wrap="square" anchor="t" lIns="0" rIns="0" tIns="0" bIns="0">
            <a:spAutoFit/>
          </a:bodyPr>
          <a:lstStyle/>
          <a:p>
            <a:pPr algn="l">
              <a:lnSpc>
                <a:spcPct val="100000"/>
              </a:lnSpc>
            </a:pPr>
            <a:r>
              <a:rPr sz="1100" b="1">
                <a:solidFill>
                  <a:srgbClr val="1E7A4B"/>
                </a:solidFill>
                <a:latin typeface="Calibri"/>
              </a:rPr>
              <a:t>Cable</a:t>
            </a:r>
          </a:p>
        </p:txBody>
      </p:sp>
      <p:sp>
        <p:nvSpPr>
          <p:cNvPr id="34" name="TextBox 33"/>
          <p:cNvSpPr txBox="1"/>
          <p:nvPr/>
        </p:nvSpPr>
        <p:spPr>
          <a:xfrm>
            <a:off x="2597269" y="2450591"/>
            <a:ext cx="1112955" cy="219456"/>
          </a:xfrm>
          <a:prstGeom prst="rect">
            <a:avLst/>
          </a:prstGeom>
          <a:noFill/>
        </p:spPr>
        <p:txBody>
          <a:bodyPr wrap="square" anchor="t" lIns="0" rIns="0" tIns="0" bIns="0">
            <a:spAutoFit/>
          </a:bodyPr>
          <a:lstStyle/>
          <a:p>
            <a:pPr algn="l">
              <a:lnSpc>
                <a:spcPct val="100000"/>
              </a:lnSpc>
            </a:pPr>
            <a:r>
              <a:rPr sz="1100" b="1">
                <a:solidFill>
                  <a:srgbClr val="1E7A4B"/>
                </a:solidFill>
                <a:latin typeface="Calibri"/>
              </a:rPr>
              <a:t>200 mm</a:t>
            </a:r>
          </a:p>
        </p:txBody>
      </p:sp>
      <p:sp>
        <p:nvSpPr>
          <p:cNvPr id="35" name="TextBox 34"/>
          <p:cNvSpPr txBox="1"/>
          <p:nvPr/>
        </p:nvSpPr>
        <p:spPr>
          <a:xfrm>
            <a:off x="3838240" y="2450591"/>
            <a:ext cx="1999363" cy="219456"/>
          </a:xfrm>
          <a:prstGeom prst="rect">
            <a:avLst/>
          </a:prstGeom>
          <a:noFill/>
        </p:spPr>
        <p:txBody>
          <a:bodyPr wrap="square" anchor="t" lIns="0" rIns="0" tIns="0" bIns="0">
            <a:spAutoFit/>
          </a:bodyPr>
          <a:lstStyle/>
          <a:p>
            <a:pPr algn="l">
              <a:lnSpc>
                <a:spcPct val="100000"/>
              </a:lnSpc>
            </a:pPr>
            <a:r>
              <a:rPr sz="1100" b="1">
                <a:solidFill>
                  <a:srgbClr val="1E7A4B"/>
                </a:solidFill>
                <a:latin typeface="Calibri"/>
              </a:rPr>
              <a:t>688,500,000</a:t>
            </a:r>
          </a:p>
        </p:txBody>
      </p:sp>
      <p:sp>
        <p:nvSpPr>
          <p:cNvPr id="36" name="TextBox 35"/>
          <p:cNvSpPr txBox="1"/>
          <p:nvPr/>
        </p:nvSpPr>
        <p:spPr>
          <a:xfrm>
            <a:off x="5965620" y="2450591"/>
            <a:ext cx="935673" cy="219456"/>
          </a:xfrm>
          <a:prstGeom prst="rect">
            <a:avLst/>
          </a:prstGeom>
          <a:noFill/>
        </p:spPr>
        <p:txBody>
          <a:bodyPr wrap="square" anchor="t" lIns="0" rIns="0" tIns="0" bIns="0">
            <a:spAutoFit/>
          </a:bodyPr>
          <a:lstStyle/>
          <a:p>
            <a:pPr algn="l">
              <a:lnSpc>
                <a:spcPct val="100000"/>
              </a:lnSpc>
            </a:pPr>
            <a:r>
              <a:rPr sz="1100" b="1">
                <a:solidFill>
                  <a:srgbClr val="1E7A4B"/>
                </a:solidFill>
                <a:latin typeface="Calibri"/>
              </a:rPr>
              <a:t>1</a:t>
            </a:r>
          </a:p>
        </p:txBody>
      </p:sp>
      <p:sp>
        <p:nvSpPr>
          <p:cNvPr id="37" name="TextBox 36"/>
          <p:cNvSpPr txBox="1"/>
          <p:nvPr/>
        </p:nvSpPr>
        <p:spPr>
          <a:xfrm>
            <a:off x="7029310" y="2450591"/>
            <a:ext cx="1822081" cy="219456"/>
          </a:xfrm>
          <a:prstGeom prst="rect">
            <a:avLst/>
          </a:prstGeom>
          <a:noFill/>
        </p:spPr>
        <p:txBody>
          <a:bodyPr wrap="square" anchor="t" lIns="0" rIns="0" tIns="0" bIns="0">
            <a:spAutoFit/>
          </a:bodyPr>
          <a:lstStyle/>
          <a:p>
            <a:pPr algn="l">
              <a:lnSpc>
                <a:spcPct val="100000"/>
              </a:lnSpc>
            </a:pPr>
            <a:r>
              <a:rPr sz="1100" b="1">
                <a:solidFill>
                  <a:srgbClr val="1E7A4B"/>
                </a:solidFill>
                <a:latin typeface="Calibri"/>
              </a:rPr>
              <a:t>Preferred on footprint</a:t>
            </a:r>
          </a:p>
        </p:txBody>
      </p:sp>
      <p:sp>
        <p:nvSpPr>
          <p:cNvPr id="38" name="TextBox 37"/>
          <p:cNvSpPr txBox="1"/>
          <p:nvPr/>
        </p:nvSpPr>
        <p:spPr>
          <a:xfrm>
            <a:off x="228600" y="2926080"/>
            <a:ext cx="8686800" cy="640080"/>
          </a:xfrm>
          <a:prstGeom prst="rect">
            <a:avLst/>
          </a:prstGeom>
          <a:noFill/>
        </p:spPr>
        <p:txBody>
          <a:bodyPr wrap="square" anchor="t" lIns="0" rIns="0" tIns="0" bIns="0">
            <a:spAutoFit/>
          </a:bodyPr>
          <a:lstStyle/>
          <a:p>
            <a:pPr algn="l">
              <a:lnSpc>
                <a:spcPct val="95000"/>
              </a:lnSpc>
            </a:pPr>
            <a:r>
              <a:rPr sz="1150" b="0">
                <a:solidFill>
                  <a:srgbClr val="374151"/>
                </a:solidFill>
                <a:latin typeface="Calibri"/>
              </a:rPr>
              <a:t>All four brace-type variants in the SB-001 config share one authored clearance; no source held distinguishes them. That is a gap in the config, not a property of the building. Where a config does differentiate, the comparison separates and the smallest-footprint family wins.</a:t>
            </a:r>
          </a:p>
        </p:txBody>
      </p:sp>
      <p:sp>
        <p:nvSpPr>
          <p:cNvPr id="39" name="TextBox 38"/>
          <p:cNvSpPr txBox="1"/>
          <p:nvPr/>
        </p:nvSpPr>
        <p:spPr>
          <a:xfrm>
            <a:off x="228600" y="3977639"/>
            <a:ext cx="8686800" cy="640080"/>
          </a:xfrm>
          <a:prstGeom prst="rect">
            <a:avLst/>
          </a:prstGeom>
          <a:noFill/>
        </p:spPr>
        <p:txBody>
          <a:bodyPr wrap="square" anchor="t" lIns="0" rIns="0" tIns="0" bIns="0">
            <a:spAutoFit/>
          </a:bodyPr>
          <a:lstStyle/>
          <a:p>
            <a:pPr algn="l">
              <a:lnSpc>
                <a:spcPct val="95000"/>
              </a:lnSpc>
            </a:pPr>
            <a:r>
              <a:rPr sz="1200" b="1">
                <a:solidFill>
                  <a:srgbClr val="1F3864"/>
                </a:solidFill>
                <a:latin typeface="Calibri"/>
              </a:rPr>
              <a:t>This is the honest form of the comparison: the method distinguishes families; the SB-001 config does not yet let 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A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Standards sensitivity — the counter-intuitive result</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Raising the clearance requirement raises findings and lowers severity</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8686800" cy="283464"/>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2608" y="1280160"/>
            <a:ext cx="1193888" cy="210311"/>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Clearance</a:t>
            </a:r>
          </a:p>
        </p:txBody>
      </p:sp>
      <p:sp>
        <p:nvSpPr>
          <p:cNvPr id="10" name="TextBox 9"/>
          <p:cNvSpPr txBox="1"/>
          <p:nvPr/>
        </p:nvSpPr>
        <p:spPr>
          <a:xfrm>
            <a:off x="1614512" y="1280160"/>
            <a:ext cx="2893479" cy="210311"/>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Jurisdiction</a:t>
            </a:r>
          </a:p>
        </p:txBody>
      </p:sp>
      <p:sp>
        <p:nvSpPr>
          <p:cNvPr id="11" name="TextBox 10"/>
          <p:cNvSpPr txBox="1"/>
          <p:nvPr/>
        </p:nvSpPr>
        <p:spPr>
          <a:xfrm>
            <a:off x="4636008" y="1280160"/>
            <a:ext cx="1571575" cy="210311"/>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Clashes</a:t>
            </a:r>
          </a:p>
        </p:txBody>
      </p:sp>
      <p:sp>
        <p:nvSpPr>
          <p:cNvPr id="12" name="TextBox 11"/>
          <p:cNvSpPr txBox="1"/>
          <p:nvPr/>
        </p:nvSpPr>
        <p:spPr>
          <a:xfrm>
            <a:off x="6335599" y="1280160"/>
            <a:ext cx="1193888" cy="210311"/>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Critical</a:t>
            </a:r>
          </a:p>
        </p:txBody>
      </p:sp>
      <p:sp>
        <p:nvSpPr>
          <p:cNvPr id="13" name="TextBox 12"/>
          <p:cNvSpPr txBox="1"/>
          <p:nvPr/>
        </p:nvSpPr>
        <p:spPr>
          <a:xfrm>
            <a:off x="7657503" y="1280160"/>
            <a:ext cx="1193888" cy="210311"/>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vs 200 mm</a:t>
            </a:r>
          </a:p>
        </p:txBody>
      </p:sp>
      <p:sp>
        <p:nvSpPr>
          <p:cNvPr id="14" name="Rectangle 13"/>
          <p:cNvSpPr/>
          <p:nvPr/>
        </p:nvSpPr>
        <p:spPr>
          <a:xfrm>
            <a:off x="228600" y="1517904"/>
            <a:ext cx="8686800" cy="283464"/>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2608" y="1563624"/>
            <a:ext cx="1193888"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25 mm</a:t>
            </a:r>
          </a:p>
        </p:txBody>
      </p:sp>
      <p:sp>
        <p:nvSpPr>
          <p:cNvPr id="16" name="TextBox 15"/>
          <p:cNvSpPr txBox="1"/>
          <p:nvPr/>
        </p:nvSpPr>
        <p:spPr>
          <a:xfrm>
            <a:off x="1614512" y="1563624"/>
            <a:ext cx="2893479"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t>
            </a:r>
          </a:p>
        </p:txBody>
      </p:sp>
      <p:sp>
        <p:nvSpPr>
          <p:cNvPr id="17" name="TextBox 16"/>
          <p:cNvSpPr txBox="1"/>
          <p:nvPr/>
        </p:nvSpPr>
        <p:spPr>
          <a:xfrm>
            <a:off x="4636008" y="1563624"/>
            <a:ext cx="1571575"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30,332</a:t>
            </a:r>
          </a:p>
        </p:txBody>
      </p:sp>
      <p:sp>
        <p:nvSpPr>
          <p:cNvPr id="18" name="TextBox 17"/>
          <p:cNvSpPr txBox="1"/>
          <p:nvPr/>
        </p:nvSpPr>
        <p:spPr>
          <a:xfrm>
            <a:off x="6335599" y="1563624"/>
            <a:ext cx="1193888"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148</a:t>
            </a:r>
          </a:p>
        </p:txBody>
      </p:sp>
      <p:sp>
        <p:nvSpPr>
          <p:cNvPr id="19" name="TextBox 18"/>
          <p:cNvSpPr txBox="1"/>
          <p:nvPr/>
        </p:nvSpPr>
        <p:spPr>
          <a:xfrm>
            <a:off x="7657503" y="1563624"/>
            <a:ext cx="1193888"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0.29×</a:t>
            </a:r>
          </a:p>
        </p:txBody>
      </p:sp>
      <p:sp>
        <p:nvSpPr>
          <p:cNvPr id="20" name="Rectangle 19"/>
          <p:cNvSpPr/>
          <p:nvPr/>
        </p:nvSpPr>
        <p:spPr>
          <a:xfrm>
            <a:off x="228600" y="1801368"/>
            <a:ext cx="8686800" cy="283464"/>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92608" y="1847088"/>
            <a:ext cx="1193888"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100 mm</a:t>
            </a:r>
          </a:p>
        </p:txBody>
      </p:sp>
      <p:sp>
        <p:nvSpPr>
          <p:cNvPr id="22" name="TextBox 21"/>
          <p:cNvSpPr txBox="1"/>
          <p:nvPr/>
        </p:nvSpPr>
        <p:spPr>
          <a:xfrm>
            <a:off x="1614512" y="1847088"/>
            <a:ext cx="2893479"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t>
            </a:r>
          </a:p>
        </p:txBody>
      </p:sp>
      <p:sp>
        <p:nvSpPr>
          <p:cNvPr id="23" name="TextBox 22"/>
          <p:cNvSpPr txBox="1"/>
          <p:nvPr/>
        </p:nvSpPr>
        <p:spPr>
          <a:xfrm>
            <a:off x="4636008" y="1847088"/>
            <a:ext cx="1571575"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69,307</a:t>
            </a:r>
          </a:p>
        </p:txBody>
      </p:sp>
      <p:sp>
        <p:nvSpPr>
          <p:cNvPr id="24" name="TextBox 23"/>
          <p:cNvSpPr txBox="1"/>
          <p:nvPr/>
        </p:nvSpPr>
        <p:spPr>
          <a:xfrm>
            <a:off x="6335599" y="1847088"/>
            <a:ext cx="1193888"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38</a:t>
            </a:r>
          </a:p>
        </p:txBody>
      </p:sp>
      <p:sp>
        <p:nvSpPr>
          <p:cNvPr id="25" name="TextBox 24"/>
          <p:cNvSpPr txBox="1"/>
          <p:nvPr/>
        </p:nvSpPr>
        <p:spPr>
          <a:xfrm>
            <a:off x="7657503" y="1847088"/>
            <a:ext cx="1193888"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0.67×</a:t>
            </a:r>
          </a:p>
        </p:txBody>
      </p:sp>
      <p:sp>
        <p:nvSpPr>
          <p:cNvPr id="26" name="Rectangle 25"/>
          <p:cNvSpPr/>
          <p:nvPr/>
        </p:nvSpPr>
        <p:spPr>
          <a:xfrm>
            <a:off x="228600" y="2084832"/>
            <a:ext cx="8686800" cy="283464"/>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92608" y="2130552"/>
            <a:ext cx="1193888" cy="210311"/>
          </a:xfrm>
          <a:prstGeom prst="rect">
            <a:avLst/>
          </a:prstGeom>
          <a:noFill/>
        </p:spPr>
        <p:txBody>
          <a:bodyPr wrap="square" anchor="t" lIns="0" rIns="0" tIns="0" bIns="0">
            <a:spAutoFit/>
          </a:bodyPr>
          <a:lstStyle/>
          <a:p>
            <a:pPr algn="l">
              <a:lnSpc>
                <a:spcPct val="100000"/>
              </a:lnSpc>
            </a:pPr>
            <a:r>
              <a:rPr sz="1100" b="1">
                <a:solidFill>
                  <a:srgbClr val="1F3864"/>
                </a:solidFill>
                <a:latin typeface="Calibri"/>
              </a:rPr>
              <a:t>200 mm</a:t>
            </a:r>
          </a:p>
        </p:txBody>
      </p:sp>
      <p:sp>
        <p:nvSpPr>
          <p:cNvPr id="28" name="TextBox 27"/>
          <p:cNvSpPr txBox="1"/>
          <p:nvPr/>
        </p:nvSpPr>
        <p:spPr>
          <a:xfrm>
            <a:off x="1614512" y="2130552"/>
            <a:ext cx="2893479" cy="210311"/>
          </a:xfrm>
          <a:prstGeom prst="rect">
            <a:avLst/>
          </a:prstGeom>
          <a:noFill/>
        </p:spPr>
        <p:txBody>
          <a:bodyPr wrap="square" anchor="t" lIns="0" rIns="0" tIns="0" bIns="0">
            <a:spAutoFit/>
          </a:bodyPr>
          <a:lstStyle/>
          <a:p>
            <a:pPr algn="l">
              <a:lnSpc>
                <a:spcPct val="100000"/>
              </a:lnSpc>
            </a:pPr>
            <a:r>
              <a:rPr sz="1100" b="1">
                <a:solidFill>
                  <a:srgbClr val="1F3864"/>
                </a:solidFill>
                <a:latin typeface="Calibri"/>
              </a:rPr>
              <a:t>SB-001 authored calibration¹</a:t>
            </a:r>
          </a:p>
        </p:txBody>
      </p:sp>
      <p:sp>
        <p:nvSpPr>
          <p:cNvPr id="29" name="TextBox 28"/>
          <p:cNvSpPr txBox="1"/>
          <p:nvPr/>
        </p:nvSpPr>
        <p:spPr>
          <a:xfrm>
            <a:off x="4636008" y="2130552"/>
            <a:ext cx="1571575" cy="210311"/>
          </a:xfrm>
          <a:prstGeom prst="rect">
            <a:avLst/>
          </a:prstGeom>
          <a:noFill/>
        </p:spPr>
        <p:txBody>
          <a:bodyPr wrap="square" anchor="t" lIns="0" rIns="0" tIns="0" bIns="0">
            <a:spAutoFit/>
          </a:bodyPr>
          <a:lstStyle/>
          <a:p>
            <a:pPr algn="l">
              <a:lnSpc>
                <a:spcPct val="100000"/>
              </a:lnSpc>
            </a:pPr>
            <a:r>
              <a:rPr sz="1100" b="1">
                <a:solidFill>
                  <a:srgbClr val="1F3864"/>
                </a:solidFill>
                <a:latin typeface="Calibri"/>
              </a:rPr>
              <a:t>104,144</a:t>
            </a:r>
          </a:p>
        </p:txBody>
      </p:sp>
      <p:sp>
        <p:nvSpPr>
          <p:cNvPr id="30" name="TextBox 29"/>
          <p:cNvSpPr txBox="1"/>
          <p:nvPr/>
        </p:nvSpPr>
        <p:spPr>
          <a:xfrm>
            <a:off x="6335599" y="2130552"/>
            <a:ext cx="1193888" cy="210311"/>
          </a:xfrm>
          <a:prstGeom prst="rect">
            <a:avLst/>
          </a:prstGeom>
          <a:noFill/>
        </p:spPr>
        <p:txBody>
          <a:bodyPr wrap="square" anchor="t" lIns="0" rIns="0" tIns="0" bIns="0">
            <a:spAutoFit/>
          </a:bodyPr>
          <a:lstStyle/>
          <a:p>
            <a:pPr algn="l">
              <a:lnSpc>
                <a:spcPct val="100000"/>
              </a:lnSpc>
            </a:pPr>
            <a:r>
              <a:rPr sz="1100" b="1">
                <a:solidFill>
                  <a:srgbClr val="1F3864"/>
                </a:solidFill>
                <a:latin typeface="Calibri"/>
              </a:rPr>
              <a:t>31</a:t>
            </a:r>
          </a:p>
        </p:txBody>
      </p:sp>
      <p:sp>
        <p:nvSpPr>
          <p:cNvPr id="31" name="TextBox 30"/>
          <p:cNvSpPr txBox="1"/>
          <p:nvPr/>
        </p:nvSpPr>
        <p:spPr>
          <a:xfrm>
            <a:off x="7657503" y="2130552"/>
            <a:ext cx="1193888" cy="210311"/>
          </a:xfrm>
          <a:prstGeom prst="rect">
            <a:avLst/>
          </a:prstGeom>
          <a:noFill/>
        </p:spPr>
        <p:txBody>
          <a:bodyPr wrap="square" anchor="t" lIns="0" rIns="0" tIns="0" bIns="0">
            <a:spAutoFit/>
          </a:bodyPr>
          <a:lstStyle/>
          <a:p>
            <a:pPr algn="l">
              <a:lnSpc>
                <a:spcPct val="100000"/>
              </a:lnSpc>
            </a:pPr>
            <a:r>
              <a:rPr sz="1100" b="1">
                <a:solidFill>
                  <a:srgbClr val="1F3864"/>
                </a:solidFill>
                <a:latin typeface="Calibri"/>
              </a:rPr>
              <a:t>1.00×</a:t>
            </a:r>
          </a:p>
        </p:txBody>
      </p:sp>
      <p:sp>
        <p:nvSpPr>
          <p:cNvPr id="32" name="Rectangle 31"/>
          <p:cNvSpPr/>
          <p:nvPr/>
        </p:nvSpPr>
        <p:spPr>
          <a:xfrm>
            <a:off x="228600" y="2368296"/>
            <a:ext cx="8686800" cy="283464"/>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92608" y="2414015"/>
            <a:ext cx="1193888" cy="210311"/>
          </a:xfrm>
          <a:prstGeom prst="rect">
            <a:avLst/>
          </a:prstGeom>
          <a:noFill/>
        </p:spPr>
        <p:txBody>
          <a:bodyPr wrap="square" anchor="t" lIns="0" rIns="0" tIns="0" bIns="0">
            <a:spAutoFit/>
          </a:bodyPr>
          <a:lstStyle/>
          <a:p>
            <a:pPr algn="l">
              <a:lnSpc>
                <a:spcPct val="100000"/>
              </a:lnSpc>
            </a:pPr>
            <a:r>
              <a:rPr sz="1100" b="1">
                <a:solidFill>
                  <a:srgbClr val="A32D2D"/>
                </a:solidFill>
                <a:latin typeface="Calibri"/>
              </a:rPr>
              <a:t>457.2 mm</a:t>
            </a:r>
          </a:p>
        </p:txBody>
      </p:sp>
      <p:sp>
        <p:nvSpPr>
          <p:cNvPr id="34" name="TextBox 33"/>
          <p:cNvSpPr txBox="1"/>
          <p:nvPr/>
        </p:nvSpPr>
        <p:spPr>
          <a:xfrm>
            <a:off x="1614512" y="2414015"/>
            <a:ext cx="2893479" cy="210311"/>
          </a:xfrm>
          <a:prstGeom prst="rect">
            <a:avLst/>
          </a:prstGeom>
          <a:noFill/>
        </p:spPr>
        <p:txBody>
          <a:bodyPr wrap="square" anchor="t" lIns="0" rIns="0" tIns="0" bIns="0">
            <a:spAutoFit/>
          </a:bodyPr>
          <a:lstStyle/>
          <a:p>
            <a:pPr algn="l">
              <a:lnSpc>
                <a:spcPct val="100000"/>
              </a:lnSpc>
            </a:pPr>
            <a:r>
              <a:rPr sz="1100" b="1">
                <a:solidFill>
                  <a:srgbClr val="A32D2D"/>
                </a:solidFill>
                <a:latin typeface="Calibri"/>
              </a:rPr>
              <a:t>—</a:t>
            </a:r>
          </a:p>
        </p:txBody>
      </p:sp>
      <p:sp>
        <p:nvSpPr>
          <p:cNvPr id="35" name="TextBox 34"/>
          <p:cNvSpPr txBox="1"/>
          <p:nvPr/>
        </p:nvSpPr>
        <p:spPr>
          <a:xfrm>
            <a:off x="4636008" y="2414015"/>
            <a:ext cx="1571575" cy="210311"/>
          </a:xfrm>
          <a:prstGeom prst="rect">
            <a:avLst/>
          </a:prstGeom>
          <a:noFill/>
        </p:spPr>
        <p:txBody>
          <a:bodyPr wrap="square" anchor="t" lIns="0" rIns="0" tIns="0" bIns="0">
            <a:spAutoFit/>
          </a:bodyPr>
          <a:lstStyle/>
          <a:p>
            <a:pPr algn="l">
              <a:lnSpc>
                <a:spcPct val="100000"/>
              </a:lnSpc>
            </a:pPr>
            <a:r>
              <a:rPr sz="1100" b="1">
                <a:solidFill>
                  <a:srgbClr val="A32D2D"/>
                </a:solidFill>
                <a:latin typeface="Calibri"/>
              </a:rPr>
              <a:t>172,812</a:t>
            </a:r>
          </a:p>
        </p:txBody>
      </p:sp>
      <p:sp>
        <p:nvSpPr>
          <p:cNvPr id="36" name="TextBox 35"/>
          <p:cNvSpPr txBox="1"/>
          <p:nvPr/>
        </p:nvSpPr>
        <p:spPr>
          <a:xfrm>
            <a:off x="6335599" y="2414015"/>
            <a:ext cx="1193888" cy="210311"/>
          </a:xfrm>
          <a:prstGeom prst="rect">
            <a:avLst/>
          </a:prstGeom>
          <a:noFill/>
        </p:spPr>
        <p:txBody>
          <a:bodyPr wrap="square" anchor="t" lIns="0" rIns="0" tIns="0" bIns="0">
            <a:spAutoFit/>
          </a:bodyPr>
          <a:lstStyle/>
          <a:p>
            <a:pPr algn="l">
              <a:lnSpc>
                <a:spcPct val="100000"/>
              </a:lnSpc>
            </a:pPr>
            <a:r>
              <a:rPr sz="1100" b="1">
                <a:solidFill>
                  <a:srgbClr val="A32D2D"/>
                </a:solidFill>
                <a:latin typeface="Calibri"/>
              </a:rPr>
              <a:t>16</a:t>
            </a:r>
          </a:p>
        </p:txBody>
      </p:sp>
      <p:sp>
        <p:nvSpPr>
          <p:cNvPr id="37" name="TextBox 36"/>
          <p:cNvSpPr txBox="1"/>
          <p:nvPr/>
        </p:nvSpPr>
        <p:spPr>
          <a:xfrm>
            <a:off x="7657503" y="2414015"/>
            <a:ext cx="1193888" cy="210311"/>
          </a:xfrm>
          <a:prstGeom prst="rect">
            <a:avLst/>
          </a:prstGeom>
          <a:noFill/>
        </p:spPr>
        <p:txBody>
          <a:bodyPr wrap="square" anchor="t" lIns="0" rIns="0" tIns="0" bIns="0">
            <a:spAutoFit/>
          </a:bodyPr>
          <a:lstStyle/>
          <a:p>
            <a:pPr algn="l">
              <a:lnSpc>
                <a:spcPct val="100000"/>
              </a:lnSpc>
            </a:pPr>
            <a:r>
              <a:rPr sz="1100" b="1">
                <a:solidFill>
                  <a:srgbClr val="A32D2D"/>
                </a:solidFill>
                <a:latin typeface="Calibri"/>
              </a:rPr>
              <a:t>1.66×</a:t>
            </a:r>
          </a:p>
        </p:txBody>
      </p:sp>
      <p:sp>
        <p:nvSpPr>
          <p:cNvPr id="38" name="Rectangle 37"/>
          <p:cNvSpPr/>
          <p:nvPr/>
        </p:nvSpPr>
        <p:spPr>
          <a:xfrm>
            <a:off x="228600" y="2651760"/>
            <a:ext cx="8686800" cy="283464"/>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92608" y="2697480"/>
            <a:ext cx="1193888"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600 mm</a:t>
            </a:r>
          </a:p>
        </p:txBody>
      </p:sp>
      <p:sp>
        <p:nvSpPr>
          <p:cNvPr id="40" name="TextBox 39"/>
          <p:cNvSpPr txBox="1"/>
          <p:nvPr/>
        </p:nvSpPr>
        <p:spPr>
          <a:xfrm>
            <a:off x="1614512" y="2697480"/>
            <a:ext cx="2893479"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t>
            </a:r>
          </a:p>
        </p:txBody>
      </p:sp>
      <p:sp>
        <p:nvSpPr>
          <p:cNvPr id="41" name="TextBox 40"/>
          <p:cNvSpPr txBox="1"/>
          <p:nvPr/>
        </p:nvSpPr>
        <p:spPr>
          <a:xfrm>
            <a:off x="4636008" y="2697480"/>
            <a:ext cx="1571575"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212,870</a:t>
            </a:r>
          </a:p>
        </p:txBody>
      </p:sp>
      <p:sp>
        <p:nvSpPr>
          <p:cNvPr id="42" name="TextBox 41"/>
          <p:cNvSpPr txBox="1"/>
          <p:nvPr/>
        </p:nvSpPr>
        <p:spPr>
          <a:xfrm>
            <a:off x="6335599" y="2697480"/>
            <a:ext cx="1193888"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11</a:t>
            </a:r>
          </a:p>
        </p:txBody>
      </p:sp>
      <p:sp>
        <p:nvSpPr>
          <p:cNvPr id="43" name="TextBox 42"/>
          <p:cNvSpPr txBox="1"/>
          <p:nvPr/>
        </p:nvSpPr>
        <p:spPr>
          <a:xfrm>
            <a:off x="7657503" y="2697480"/>
            <a:ext cx="1193888"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2.04×</a:t>
            </a:r>
          </a:p>
        </p:txBody>
      </p:sp>
      <p:sp>
        <p:nvSpPr>
          <p:cNvPr id="44" name="TextBox 43"/>
          <p:cNvSpPr txBox="1"/>
          <p:nvPr/>
        </p:nvSpPr>
        <p:spPr>
          <a:xfrm>
            <a:off x="228600" y="2953512"/>
            <a:ext cx="8686800" cy="182880"/>
          </a:xfrm>
          <a:prstGeom prst="rect">
            <a:avLst/>
          </a:prstGeom>
          <a:noFill/>
        </p:spPr>
        <p:txBody>
          <a:bodyPr wrap="square" anchor="t" lIns="0" rIns="0" tIns="0" bIns="0">
            <a:spAutoFit/>
          </a:bodyPr>
          <a:lstStyle/>
          <a:p>
            <a:pPr algn="l">
              <a:lnSpc>
                <a:spcPct val="100000"/>
              </a:lnSpc>
            </a:pPr>
            <a:r>
              <a:rPr sz="900" b="0">
                <a:solidFill>
                  <a:srgbClr val="8896A6"/>
                </a:solidFill>
                <a:latin typeface="Calibri"/>
              </a:rPr>
              <a:t>¹ BIMGUARD SB-001 screening calibration (authored thresholds, not code values)</a:t>
            </a:r>
          </a:p>
        </p:txBody>
      </p:sp>
      <p:sp>
        <p:nvSpPr>
          <p:cNvPr id="45" name="TextBox 44"/>
          <p:cNvSpPr txBox="1"/>
          <p:nvPr/>
        </p:nvSpPr>
        <p:spPr>
          <a:xfrm>
            <a:off x="228600" y="3154680"/>
            <a:ext cx="8686800" cy="640080"/>
          </a:xfrm>
          <a:prstGeom prst="rect">
            <a:avLst/>
          </a:prstGeom>
          <a:noFill/>
        </p:spPr>
        <p:txBody>
          <a:bodyPr wrap="square" anchor="t" lIns="0" rIns="0" tIns="0" bIns="0">
            <a:spAutoFit/>
          </a:bodyPr>
          <a:lstStyle/>
          <a:p>
            <a:pPr algn="l">
              <a:lnSpc>
                <a:spcPct val="95000"/>
              </a:lnSpc>
            </a:pPr>
            <a:r>
              <a:rPr sz="1150" b="0">
                <a:solidFill>
                  <a:srgbClr val="374151"/>
                </a:solidFill>
                <a:latin typeface="Calibri"/>
              </a:rPr>
              <a:t>Raising the clearance from the 200 mm row to the 457.2 mm row yields 66% more clashes but 48% fewer Critical ones. Severity is an overlap ratio against halo volume, so a larger clearance inflates the denominator faster than the numerator.</a:t>
            </a:r>
          </a:p>
        </p:txBody>
      </p:sp>
      <p:sp>
        <p:nvSpPr>
          <p:cNvPr id="46" name="TextBox 45"/>
          <p:cNvSpPr txBox="1"/>
          <p:nvPr/>
        </p:nvSpPr>
        <p:spPr>
          <a:xfrm>
            <a:off x="228600" y="4023360"/>
            <a:ext cx="8686800" cy="640080"/>
          </a:xfrm>
          <a:prstGeom prst="rect">
            <a:avLst/>
          </a:prstGeom>
          <a:noFill/>
        </p:spPr>
        <p:txBody>
          <a:bodyPr wrap="square" anchor="t" lIns="0" rIns="0" tIns="0" bIns="0">
            <a:spAutoFit/>
          </a:bodyPr>
          <a:lstStyle/>
          <a:p>
            <a:pPr algn="l">
              <a:lnSpc>
                <a:spcPct val="95000"/>
              </a:lnSpc>
            </a:pPr>
            <a:r>
              <a:rPr sz="1200" b="1">
                <a:solidFill>
                  <a:srgbClr val="1F3864"/>
                </a:solidFill>
                <a:latin typeface="Calibri"/>
              </a:rPr>
              <a:t>The finding is an argument that the severity heuristic needs rethinking, not retuning. It held on two independent model subsets, at 1.62× and 1.66×.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Validation dataset</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What the algorithm was run against</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2011680" cy="137160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234440"/>
            <a:ext cx="2011680" cy="73152"/>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1399032"/>
            <a:ext cx="1828800" cy="713232"/>
          </a:xfrm>
          <a:prstGeom prst="rect">
            <a:avLst/>
          </a:prstGeom>
          <a:noFill/>
        </p:spPr>
        <p:txBody>
          <a:bodyPr wrap="square" anchor="t" lIns="0" rIns="0" tIns="0" bIns="0">
            <a:spAutoFit/>
          </a:bodyPr>
          <a:lstStyle/>
          <a:p>
            <a:pPr algn="l">
              <a:lnSpc>
                <a:spcPct val="100000"/>
              </a:lnSpc>
            </a:pPr>
            <a:r>
              <a:rPr sz="3600" b="1">
                <a:solidFill>
                  <a:srgbClr val="00B4D8"/>
                </a:solidFill>
                <a:latin typeface="Calibri"/>
              </a:rPr>
              <a:t>37 / 38</a:t>
            </a:r>
          </a:p>
        </p:txBody>
      </p:sp>
      <p:sp>
        <p:nvSpPr>
          <p:cNvPr id="11" name="TextBox 10"/>
          <p:cNvSpPr txBox="1"/>
          <p:nvPr/>
        </p:nvSpPr>
        <p:spPr>
          <a:xfrm>
            <a:off x="320040" y="2112264"/>
            <a:ext cx="1828800" cy="438912"/>
          </a:xfrm>
          <a:prstGeom prst="rect">
            <a:avLst/>
          </a:prstGeom>
          <a:noFill/>
        </p:spPr>
        <p:txBody>
          <a:bodyPr wrap="square" anchor="t" lIns="0" rIns="0" tIns="0" bIns="0">
            <a:spAutoFit/>
          </a:bodyPr>
          <a:lstStyle/>
          <a:p>
            <a:pPr algn="l">
              <a:lnSpc>
                <a:spcPct val="95000"/>
              </a:lnSpc>
            </a:pPr>
            <a:r>
              <a:rPr sz="1100" b="0">
                <a:solidFill>
                  <a:srgbClr val="8896A6"/>
                </a:solidFill>
                <a:latin typeface="Calibri"/>
              </a:rPr>
              <a:t>models processed
8 repositories</a:t>
            </a:r>
          </a:p>
        </p:txBody>
      </p:sp>
      <p:sp>
        <p:nvSpPr>
          <p:cNvPr id="12" name="Rectangle 11"/>
          <p:cNvSpPr/>
          <p:nvPr/>
        </p:nvSpPr>
        <p:spPr>
          <a:xfrm>
            <a:off x="2423160" y="1234440"/>
            <a:ext cx="2011680" cy="137160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423160" y="1234440"/>
            <a:ext cx="2011680" cy="73152"/>
          </a:xfrm>
          <a:prstGeom prst="rect">
            <a:avLst/>
          </a:prstGeom>
          <a:solidFill>
            <a:srgbClr val="1E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14600" y="1399032"/>
            <a:ext cx="1828800" cy="713232"/>
          </a:xfrm>
          <a:prstGeom prst="rect">
            <a:avLst/>
          </a:prstGeom>
          <a:noFill/>
        </p:spPr>
        <p:txBody>
          <a:bodyPr wrap="square" anchor="t" lIns="0" rIns="0" tIns="0" bIns="0">
            <a:spAutoFit/>
          </a:bodyPr>
          <a:lstStyle/>
          <a:p>
            <a:pPr algn="l">
              <a:lnSpc>
                <a:spcPct val="100000"/>
              </a:lnSpc>
            </a:pPr>
            <a:r>
              <a:rPr sz="3600" b="1">
                <a:solidFill>
                  <a:srgbClr val="1E7A4B"/>
                </a:solidFill>
                <a:latin typeface="Calibri"/>
              </a:rPr>
              <a:t>49,736</a:t>
            </a:r>
          </a:p>
        </p:txBody>
      </p:sp>
      <p:sp>
        <p:nvSpPr>
          <p:cNvPr id="15" name="TextBox 14"/>
          <p:cNvSpPr txBox="1"/>
          <p:nvPr/>
        </p:nvSpPr>
        <p:spPr>
          <a:xfrm>
            <a:off x="2514600" y="2112264"/>
            <a:ext cx="1828800" cy="438912"/>
          </a:xfrm>
          <a:prstGeom prst="rect">
            <a:avLst/>
          </a:prstGeom>
          <a:noFill/>
        </p:spPr>
        <p:txBody>
          <a:bodyPr wrap="square" anchor="t" lIns="0" rIns="0" tIns="0" bIns="0">
            <a:spAutoFit/>
          </a:bodyPr>
          <a:lstStyle/>
          <a:p>
            <a:pPr algn="l">
              <a:lnSpc>
                <a:spcPct val="95000"/>
              </a:lnSpc>
            </a:pPr>
            <a:r>
              <a:rPr sz="1100" b="0">
                <a:solidFill>
                  <a:srgbClr val="8896A6"/>
                </a:solidFill>
                <a:latin typeface="Calibri"/>
              </a:rPr>
              <a:t>MEP elements
100% geometry</a:t>
            </a:r>
          </a:p>
        </p:txBody>
      </p:sp>
      <p:sp>
        <p:nvSpPr>
          <p:cNvPr id="16" name="Rectangle 15"/>
          <p:cNvSpPr/>
          <p:nvPr/>
        </p:nvSpPr>
        <p:spPr>
          <a:xfrm>
            <a:off x="4617720" y="1234440"/>
            <a:ext cx="2011680" cy="137160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17720" y="1234440"/>
            <a:ext cx="2011680" cy="7315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09160" y="1399032"/>
            <a:ext cx="1828800" cy="713232"/>
          </a:xfrm>
          <a:prstGeom prst="rect">
            <a:avLst/>
          </a:prstGeom>
          <a:noFill/>
        </p:spPr>
        <p:txBody>
          <a:bodyPr wrap="square" anchor="t" lIns="0" rIns="0" tIns="0" bIns="0">
            <a:spAutoFit/>
          </a:bodyPr>
          <a:lstStyle/>
          <a:p>
            <a:pPr algn="l">
              <a:lnSpc>
                <a:spcPct val="100000"/>
              </a:lnSpc>
            </a:pPr>
            <a:r>
              <a:rPr sz="3600" b="1">
                <a:solidFill>
                  <a:srgbClr val="1F3864"/>
                </a:solidFill>
                <a:latin typeface="Calibri"/>
              </a:rPr>
              <a:t>223,516</a:t>
            </a:r>
          </a:p>
        </p:txBody>
      </p:sp>
      <p:sp>
        <p:nvSpPr>
          <p:cNvPr id="19" name="TextBox 18"/>
          <p:cNvSpPr txBox="1"/>
          <p:nvPr/>
        </p:nvSpPr>
        <p:spPr>
          <a:xfrm>
            <a:off x="4709160" y="2112264"/>
            <a:ext cx="1828800" cy="438912"/>
          </a:xfrm>
          <a:prstGeom prst="rect">
            <a:avLst/>
          </a:prstGeom>
          <a:noFill/>
        </p:spPr>
        <p:txBody>
          <a:bodyPr wrap="square" anchor="t" lIns="0" rIns="0" tIns="0" bIns="0">
            <a:spAutoFit/>
          </a:bodyPr>
          <a:lstStyle/>
          <a:p>
            <a:pPr algn="l">
              <a:lnSpc>
                <a:spcPct val="95000"/>
              </a:lnSpc>
            </a:pPr>
            <a:r>
              <a:rPr sz="1100" b="0">
                <a:solidFill>
                  <a:srgbClr val="8896A6"/>
                </a:solidFill>
                <a:latin typeface="Calibri"/>
              </a:rPr>
              <a:t>clashes detected
across the corpus</a:t>
            </a:r>
          </a:p>
        </p:txBody>
      </p:sp>
      <p:sp>
        <p:nvSpPr>
          <p:cNvPr id="20" name="Rectangle 19"/>
          <p:cNvSpPr/>
          <p:nvPr/>
        </p:nvSpPr>
        <p:spPr>
          <a:xfrm>
            <a:off x="6812280" y="1234440"/>
            <a:ext cx="2011680" cy="137160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812280" y="1234440"/>
            <a:ext cx="2011680" cy="73152"/>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03720" y="1399032"/>
            <a:ext cx="1828800" cy="713232"/>
          </a:xfrm>
          <a:prstGeom prst="rect">
            <a:avLst/>
          </a:prstGeom>
          <a:noFill/>
        </p:spPr>
        <p:txBody>
          <a:bodyPr wrap="square" anchor="t" lIns="0" rIns="0" tIns="0" bIns="0">
            <a:spAutoFit/>
          </a:bodyPr>
          <a:lstStyle/>
          <a:p>
            <a:pPr algn="l">
              <a:lnSpc>
                <a:spcPct val="100000"/>
              </a:lnSpc>
            </a:pPr>
            <a:r>
              <a:rPr sz="3600" b="1">
                <a:solidFill>
                  <a:srgbClr val="2E75B6"/>
                </a:solidFill>
                <a:latin typeface="Calibri"/>
              </a:rPr>
              <a:t>37 / 37</a:t>
            </a:r>
          </a:p>
        </p:txBody>
      </p:sp>
      <p:sp>
        <p:nvSpPr>
          <p:cNvPr id="23" name="TextBox 22"/>
          <p:cNvSpPr txBox="1"/>
          <p:nvPr/>
        </p:nvSpPr>
        <p:spPr>
          <a:xfrm>
            <a:off x="6903720" y="2112264"/>
            <a:ext cx="1828800" cy="438912"/>
          </a:xfrm>
          <a:prstGeom prst="rect">
            <a:avLst/>
          </a:prstGeom>
          <a:noFill/>
        </p:spPr>
        <p:txBody>
          <a:bodyPr wrap="square" anchor="t" lIns="0" rIns="0" tIns="0" bIns="0">
            <a:spAutoFit/>
          </a:bodyPr>
          <a:lstStyle/>
          <a:p>
            <a:pPr algn="l">
              <a:lnSpc>
                <a:spcPct val="95000"/>
              </a:lnSpc>
            </a:pPr>
            <a:r>
              <a:rPr sz="1100" b="0">
                <a:solidFill>
                  <a:srgbClr val="8896A6"/>
                </a:solidFill>
                <a:latin typeface="Calibri"/>
              </a:rPr>
              <a:t>BCF archives
valid</a:t>
            </a:r>
          </a:p>
        </p:txBody>
      </p:sp>
      <p:sp>
        <p:nvSpPr>
          <p:cNvPr id="24" name="Rectangle 23"/>
          <p:cNvSpPr/>
          <p:nvPr/>
        </p:nvSpPr>
        <p:spPr>
          <a:xfrm>
            <a:off x="228600" y="2788920"/>
            <a:ext cx="8686800" cy="100584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28600" y="2788920"/>
            <a:ext cx="64008" cy="1005840"/>
          </a:xfrm>
          <a:prstGeom prst="rect">
            <a:avLst/>
          </a:prstGeom>
          <a:solidFill>
            <a:srgbClr val="1E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56616" y="288036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Corpus and controls</a:t>
            </a:r>
          </a:p>
        </p:txBody>
      </p:sp>
      <p:sp>
        <p:nvSpPr>
          <p:cNvPr id="27" name="TextBox 26"/>
          <p:cNvSpPr txBox="1"/>
          <p:nvPr/>
        </p:nvSpPr>
        <p:spPr>
          <a:xfrm>
            <a:off x="356616" y="3154679"/>
            <a:ext cx="8485632" cy="566928"/>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Hospitals, offices, industrial plant and mixed-use, IFC2x3 and IFC4, from Revit, ArchiCAD and Autodesk toolchains. Two same-building schema twins act as controls: rows 9/14 differ by 0.00% and rows 8/13 by 0.11%, so the result does not depend on the export schema.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1E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Validation results — tests and integrity</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Every archive parsed, not merely counted</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2011680" cy="137160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234440"/>
            <a:ext cx="2011680" cy="73152"/>
          </a:xfrm>
          <a:prstGeom prst="rect">
            <a:avLst/>
          </a:prstGeom>
          <a:solidFill>
            <a:srgbClr val="1E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1399032"/>
            <a:ext cx="1828800" cy="713232"/>
          </a:xfrm>
          <a:prstGeom prst="rect">
            <a:avLst/>
          </a:prstGeom>
          <a:noFill/>
        </p:spPr>
        <p:txBody>
          <a:bodyPr wrap="square" anchor="t" lIns="0" rIns="0" tIns="0" bIns="0">
            <a:spAutoFit/>
          </a:bodyPr>
          <a:lstStyle/>
          <a:p>
            <a:pPr algn="l">
              <a:lnSpc>
                <a:spcPct val="100000"/>
              </a:lnSpc>
            </a:pPr>
            <a:r>
              <a:rPr sz="3600" b="1">
                <a:solidFill>
                  <a:srgbClr val="1E7A4B"/>
                </a:solidFill>
                <a:latin typeface="Calibri"/>
              </a:rPr>
              <a:t>11 / 11</a:t>
            </a:r>
          </a:p>
        </p:txBody>
      </p:sp>
      <p:sp>
        <p:nvSpPr>
          <p:cNvPr id="11" name="TextBox 10"/>
          <p:cNvSpPr txBox="1"/>
          <p:nvPr/>
        </p:nvSpPr>
        <p:spPr>
          <a:xfrm>
            <a:off x="320040" y="2112264"/>
            <a:ext cx="1828800" cy="438912"/>
          </a:xfrm>
          <a:prstGeom prst="rect">
            <a:avLst/>
          </a:prstGeom>
          <a:noFill/>
        </p:spPr>
        <p:txBody>
          <a:bodyPr wrap="square" anchor="t" lIns="0" rIns="0" tIns="0" bIns="0">
            <a:spAutoFit/>
          </a:bodyPr>
          <a:lstStyle/>
          <a:p>
            <a:pPr algn="l">
              <a:lnSpc>
                <a:spcPct val="95000"/>
              </a:lnSpc>
            </a:pPr>
            <a:r>
              <a:rPr sz="1100" b="0">
                <a:solidFill>
                  <a:srgbClr val="8896A6"/>
                </a:solidFill>
                <a:latin typeface="Calibri"/>
              </a:rPr>
              <a:t>Blue Halo harness
checks passed</a:t>
            </a:r>
          </a:p>
        </p:txBody>
      </p:sp>
      <p:sp>
        <p:nvSpPr>
          <p:cNvPr id="12" name="Rectangle 11"/>
          <p:cNvSpPr/>
          <p:nvPr/>
        </p:nvSpPr>
        <p:spPr>
          <a:xfrm>
            <a:off x="2423160" y="1234440"/>
            <a:ext cx="2011680" cy="137160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423160" y="1234440"/>
            <a:ext cx="2011680" cy="73152"/>
          </a:xfrm>
          <a:prstGeom prst="rect">
            <a:avLst/>
          </a:prstGeom>
          <a:solidFill>
            <a:srgbClr val="1E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14600" y="1399032"/>
            <a:ext cx="1828800" cy="713232"/>
          </a:xfrm>
          <a:prstGeom prst="rect">
            <a:avLst/>
          </a:prstGeom>
          <a:noFill/>
        </p:spPr>
        <p:txBody>
          <a:bodyPr wrap="square" anchor="t" lIns="0" rIns="0" tIns="0" bIns="0">
            <a:spAutoFit/>
          </a:bodyPr>
          <a:lstStyle/>
          <a:p>
            <a:pPr algn="l">
              <a:lnSpc>
                <a:spcPct val="100000"/>
              </a:lnSpc>
            </a:pPr>
            <a:r>
              <a:rPr sz="3600" b="1">
                <a:solidFill>
                  <a:srgbClr val="1E7A4B"/>
                </a:solidFill>
                <a:latin typeface="Calibri"/>
              </a:rPr>
              <a:t>8 / 8</a:t>
            </a:r>
          </a:p>
        </p:txBody>
      </p:sp>
      <p:sp>
        <p:nvSpPr>
          <p:cNvPr id="15" name="TextBox 14"/>
          <p:cNvSpPr txBox="1"/>
          <p:nvPr/>
        </p:nvSpPr>
        <p:spPr>
          <a:xfrm>
            <a:off x="2514600" y="2112264"/>
            <a:ext cx="1828800" cy="438912"/>
          </a:xfrm>
          <a:prstGeom prst="rect">
            <a:avLst/>
          </a:prstGeom>
          <a:noFill/>
        </p:spPr>
        <p:txBody>
          <a:bodyPr wrap="square" anchor="t" lIns="0" rIns="0" tIns="0" bIns="0">
            <a:spAutoFit/>
          </a:bodyPr>
          <a:lstStyle/>
          <a:p>
            <a:pPr algn="l">
              <a:lnSpc>
                <a:spcPct val="95000"/>
              </a:lnSpc>
            </a:pPr>
            <a:r>
              <a:rPr sz="1100" b="0">
                <a:solidFill>
                  <a:srgbClr val="8896A6"/>
                </a:solidFill>
                <a:latin typeface="Calibri"/>
              </a:rPr>
              <a:t>end-to-end IFC
pipeline checks</a:t>
            </a:r>
          </a:p>
        </p:txBody>
      </p:sp>
      <p:sp>
        <p:nvSpPr>
          <p:cNvPr id="16" name="Rectangle 15"/>
          <p:cNvSpPr/>
          <p:nvPr/>
        </p:nvSpPr>
        <p:spPr>
          <a:xfrm>
            <a:off x="4617720" y="1234440"/>
            <a:ext cx="2011680" cy="137160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17720" y="1234440"/>
            <a:ext cx="2011680" cy="73152"/>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09160" y="1399032"/>
            <a:ext cx="1828800" cy="713232"/>
          </a:xfrm>
          <a:prstGeom prst="rect">
            <a:avLst/>
          </a:prstGeom>
          <a:noFill/>
        </p:spPr>
        <p:txBody>
          <a:bodyPr wrap="square" anchor="t" lIns="0" rIns="0" tIns="0" bIns="0">
            <a:spAutoFit/>
          </a:bodyPr>
          <a:lstStyle/>
          <a:p>
            <a:pPr algn="l">
              <a:lnSpc>
                <a:spcPct val="100000"/>
              </a:lnSpc>
            </a:pPr>
            <a:r>
              <a:rPr sz="3600" b="1">
                <a:solidFill>
                  <a:srgbClr val="00B4D8"/>
                </a:solidFill>
                <a:latin typeface="Calibri"/>
              </a:rPr>
              <a:t>44 / 44</a:t>
            </a:r>
          </a:p>
        </p:txBody>
      </p:sp>
      <p:sp>
        <p:nvSpPr>
          <p:cNvPr id="19" name="TextBox 18"/>
          <p:cNvSpPr txBox="1"/>
          <p:nvPr/>
        </p:nvSpPr>
        <p:spPr>
          <a:xfrm>
            <a:off x="4709160" y="2112264"/>
            <a:ext cx="1828800" cy="438912"/>
          </a:xfrm>
          <a:prstGeom prst="rect">
            <a:avLst/>
          </a:prstGeom>
          <a:noFill/>
        </p:spPr>
        <p:txBody>
          <a:bodyPr wrap="square" anchor="t" lIns="0" rIns="0" tIns="0" bIns="0">
            <a:spAutoFit/>
          </a:bodyPr>
          <a:lstStyle/>
          <a:p>
            <a:pPr algn="l">
              <a:lnSpc>
                <a:spcPct val="95000"/>
              </a:lnSpc>
            </a:pPr>
            <a:r>
              <a:rPr sz="1100" b="0">
                <a:solidFill>
                  <a:srgbClr val="8896A6"/>
                </a:solidFill>
                <a:latin typeface="Calibri"/>
              </a:rPr>
              <a:t>HTTP route tests
(4 known-gap xfail)</a:t>
            </a:r>
          </a:p>
        </p:txBody>
      </p:sp>
      <p:sp>
        <p:nvSpPr>
          <p:cNvPr id="20" name="Rectangle 19"/>
          <p:cNvSpPr/>
          <p:nvPr/>
        </p:nvSpPr>
        <p:spPr>
          <a:xfrm>
            <a:off x="6812280" y="1234440"/>
            <a:ext cx="2011680" cy="137160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812280" y="1234440"/>
            <a:ext cx="2011680" cy="73152"/>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03720" y="1399032"/>
            <a:ext cx="1828800" cy="713232"/>
          </a:xfrm>
          <a:prstGeom prst="rect">
            <a:avLst/>
          </a:prstGeom>
          <a:noFill/>
        </p:spPr>
        <p:txBody>
          <a:bodyPr wrap="square" anchor="t" lIns="0" rIns="0" tIns="0" bIns="0">
            <a:spAutoFit/>
          </a:bodyPr>
          <a:lstStyle/>
          <a:p>
            <a:pPr algn="l">
              <a:lnSpc>
                <a:spcPct val="100000"/>
              </a:lnSpc>
            </a:pPr>
            <a:r>
              <a:rPr sz="3600" b="1">
                <a:solidFill>
                  <a:srgbClr val="2E75B6"/>
                </a:solidFill>
                <a:latin typeface="Calibri"/>
              </a:rPr>
              <a:t>100%</a:t>
            </a:r>
          </a:p>
        </p:txBody>
      </p:sp>
      <p:sp>
        <p:nvSpPr>
          <p:cNvPr id="23" name="TextBox 22"/>
          <p:cNvSpPr txBox="1"/>
          <p:nvPr/>
        </p:nvSpPr>
        <p:spPr>
          <a:xfrm>
            <a:off x="6903720" y="2112264"/>
            <a:ext cx="1828800" cy="438912"/>
          </a:xfrm>
          <a:prstGeom prst="rect">
            <a:avLst/>
          </a:prstGeom>
          <a:noFill/>
        </p:spPr>
        <p:txBody>
          <a:bodyPr wrap="square" anchor="t" lIns="0" rIns="0" tIns="0" bIns="0">
            <a:spAutoFit/>
          </a:bodyPr>
          <a:lstStyle/>
          <a:p>
            <a:pPr algn="l">
              <a:lnSpc>
                <a:spcPct val="95000"/>
              </a:lnSpc>
            </a:pPr>
            <a:r>
              <a:rPr sz="1100" b="0">
                <a:solidFill>
                  <a:srgbClr val="8896A6"/>
                </a:solidFill>
                <a:latin typeface="Calibri"/>
              </a:rPr>
              <a:t>geometry resolution
49,736 elements</a:t>
            </a:r>
          </a:p>
        </p:txBody>
      </p:sp>
      <p:sp>
        <p:nvSpPr>
          <p:cNvPr id="24" name="Rectangle 23"/>
          <p:cNvSpPr/>
          <p:nvPr/>
        </p:nvSpPr>
        <p:spPr>
          <a:xfrm>
            <a:off x="228600" y="2788920"/>
            <a:ext cx="8686800" cy="100584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28600" y="2788920"/>
            <a:ext cx="64008" cy="1005840"/>
          </a:xfrm>
          <a:prstGeom prst="rect">
            <a:avLst/>
          </a:prstGeom>
          <a:solidFill>
            <a:srgbClr val="1E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56616" y="288036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What BCF validity means here</a:t>
            </a:r>
          </a:p>
        </p:txBody>
      </p:sp>
      <p:sp>
        <p:nvSpPr>
          <p:cNvPr id="27" name="TextBox 26"/>
          <p:cNvSpPr txBox="1"/>
          <p:nvPr/>
        </p:nvSpPr>
        <p:spPr>
          <a:xfrm>
            <a:off x="356616" y="3154679"/>
            <a:ext cx="8485632" cy="566928"/>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All 37 archives were opened and every XML part parsed: bcf.version and project.bcfp present, one complete topic folder per clash carrying markup.bcf, viewpoint.bcfv and snapshot.png, zero malformed XML. Counting entries would not have established this.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Performance measured across the corpus</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Where the time actually goes</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8686800" cy="27432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2608" y="1280160"/>
            <a:ext cx="2066543" cy="201167"/>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Stage</a:t>
            </a:r>
          </a:p>
        </p:txBody>
      </p:sp>
      <p:sp>
        <p:nvSpPr>
          <p:cNvPr id="10" name="TextBox 9"/>
          <p:cNvSpPr txBox="1"/>
          <p:nvPr/>
        </p:nvSpPr>
        <p:spPr>
          <a:xfrm>
            <a:off x="2487168" y="1280160"/>
            <a:ext cx="1609343" cy="201167"/>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Measured</a:t>
            </a:r>
          </a:p>
        </p:txBody>
      </p:sp>
      <p:sp>
        <p:nvSpPr>
          <p:cNvPr id="11" name="TextBox 10"/>
          <p:cNvSpPr txBox="1"/>
          <p:nvPr/>
        </p:nvSpPr>
        <p:spPr>
          <a:xfrm>
            <a:off x="4224528" y="1280160"/>
            <a:ext cx="1060704" cy="201167"/>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Complexity</a:t>
            </a:r>
          </a:p>
        </p:txBody>
      </p:sp>
      <p:sp>
        <p:nvSpPr>
          <p:cNvPr id="12" name="TextBox 11"/>
          <p:cNvSpPr txBox="1"/>
          <p:nvPr/>
        </p:nvSpPr>
        <p:spPr>
          <a:xfrm>
            <a:off x="5413248" y="1280160"/>
            <a:ext cx="3438144" cy="201167"/>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Note</a:t>
            </a:r>
          </a:p>
        </p:txBody>
      </p:sp>
      <p:sp>
        <p:nvSpPr>
          <p:cNvPr id="13" name="Rectangle 12"/>
          <p:cNvSpPr/>
          <p:nvPr/>
        </p:nvSpPr>
        <p:spPr>
          <a:xfrm>
            <a:off x="228600" y="1508760"/>
            <a:ext cx="8686800" cy="27432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2608" y="1554480"/>
            <a:ext cx="2066543"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Full sweep, 37 models</a:t>
            </a:r>
          </a:p>
        </p:txBody>
      </p:sp>
      <p:sp>
        <p:nvSpPr>
          <p:cNvPr id="15" name="TextBox 14"/>
          <p:cNvSpPr txBox="1"/>
          <p:nvPr/>
        </p:nvSpPr>
        <p:spPr>
          <a:xfrm>
            <a:off x="2487168" y="1554480"/>
            <a:ext cx="1609343"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3,594 s</a:t>
            </a:r>
          </a:p>
        </p:txBody>
      </p:sp>
      <p:sp>
        <p:nvSpPr>
          <p:cNvPr id="16" name="TextBox 15"/>
          <p:cNvSpPr txBox="1"/>
          <p:nvPr/>
        </p:nvSpPr>
        <p:spPr>
          <a:xfrm>
            <a:off x="4224528" y="1554480"/>
            <a:ext cx="106070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t>
            </a:r>
          </a:p>
        </p:txBody>
      </p:sp>
      <p:sp>
        <p:nvSpPr>
          <p:cNvPr id="17" name="TextBox 16"/>
          <p:cNvSpPr txBox="1"/>
          <p:nvPr/>
        </p:nvSpPr>
        <p:spPr>
          <a:xfrm>
            <a:off x="5413248" y="1554480"/>
            <a:ext cx="343814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Download, parse, halo, clash, engines, BCF</a:t>
            </a:r>
          </a:p>
        </p:txBody>
      </p:sp>
      <p:sp>
        <p:nvSpPr>
          <p:cNvPr id="18" name="Rectangle 17"/>
          <p:cNvSpPr/>
          <p:nvPr/>
        </p:nvSpPr>
        <p:spPr>
          <a:xfrm>
            <a:off x="228600" y="1783080"/>
            <a:ext cx="8686800" cy="274320"/>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2608" y="1828800"/>
            <a:ext cx="2066543"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Mean per model</a:t>
            </a:r>
          </a:p>
        </p:txBody>
      </p:sp>
      <p:sp>
        <p:nvSpPr>
          <p:cNvPr id="20" name="TextBox 19"/>
          <p:cNvSpPr txBox="1"/>
          <p:nvPr/>
        </p:nvSpPr>
        <p:spPr>
          <a:xfrm>
            <a:off x="2487168" y="1828800"/>
            <a:ext cx="1609343"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 97 s</a:t>
            </a:r>
          </a:p>
        </p:txBody>
      </p:sp>
      <p:sp>
        <p:nvSpPr>
          <p:cNvPr id="21" name="TextBox 20"/>
          <p:cNvSpPr txBox="1"/>
          <p:nvPr/>
        </p:nvSpPr>
        <p:spPr>
          <a:xfrm>
            <a:off x="4224528" y="1828800"/>
            <a:ext cx="106070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t>
            </a:r>
          </a:p>
        </p:txBody>
      </p:sp>
      <p:sp>
        <p:nvSpPr>
          <p:cNvPr id="22" name="TextBox 21"/>
          <p:cNvSpPr txBox="1"/>
          <p:nvPr/>
        </p:nvSpPr>
        <p:spPr>
          <a:xfrm>
            <a:off x="5413248" y="1828800"/>
            <a:ext cx="343814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Geometry evaluation dominates</a:t>
            </a:r>
          </a:p>
        </p:txBody>
      </p:sp>
      <p:sp>
        <p:nvSpPr>
          <p:cNvPr id="23" name="Rectangle 22"/>
          <p:cNvSpPr/>
          <p:nvPr/>
        </p:nvSpPr>
        <p:spPr>
          <a:xfrm>
            <a:off x="228600" y="2057400"/>
            <a:ext cx="8686800" cy="27432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92608" y="2103120"/>
            <a:ext cx="2066543"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Largest model</a:t>
            </a:r>
          </a:p>
        </p:txBody>
      </p:sp>
      <p:sp>
        <p:nvSpPr>
          <p:cNvPr id="25" name="TextBox 24"/>
          <p:cNvSpPr txBox="1"/>
          <p:nvPr/>
        </p:nvSpPr>
        <p:spPr>
          <a:xfrm>
            <a:off x="2487168" y="2103120"/>
            <a:ext cx="1609343"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632 s</a:t>
            </a:r>
          </a:p>
        </p:txBody>
      </p:sp>
      <p:sp>
        <p:nvSpPr>
          <p:cNvPr id="26" name="TextBox 25"/>
          <p:cNvSpPr txBox="1"/>
          <p:nvPr/>
        </p:nvSpPr>
        <p:spPr>
          <a:xfrm>
            <a:off x="4224528" y="2103120"/>
            <a:ext cx="106070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t>
            </a:r>
          </a:p>
        </p:txBody>
      </p:sp>
      <p:sp>
        <p:nvSpPr>
          <p:cNvPr id="27" name="TextBox 26"/>
          <p:cNvSpPr txBox="1"/>
          <p:nvPr/>
        </p:nvSpPr>
        <p:spPr>
          <a:xfrm>
            <a:off x="5413248" y="2103120"/>
            <a:ext cx="343814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NBU_MedicalClinic, 207 MB, 5,952 MEP</a:t>
            </a:r>
          </a:p>
        </p:txBody>
      </p:sp>
      <p:sp>
        <p:nvSpPr>
          <p:cNvPr id="28" name="Rectangle 27"/>
          <p:cNvSpPr/>
          <p:nvPr/>
        </p:nvSpPr>
        <p:spPr>
          <a:xfrm>
            <a:off x="228600" y="2331720"/>
            <a:ext cx="8686800" cy="274320"/>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92608" y="2377439"/>
            <a:ext cx="2066543"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Geometry evaluation</a:t>
            </a:r>
          </a:p>
        </p:txBody>
      </p:sp>
      <p:sp>
        <p:nvSpPr>
          <p:cNvPr id="30" name="TextBox 29"/>
          <p:cNvSpPr txBox="1"/>
          <p:nvPr/>
        </p:nvSpPr>
        <p:spPr>
          <a:xfrm>
            <a:off x="2487168" y="2377439"/>
            <a:ext cx="1609343"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8–95 s per model</a:t>
            </a:r>
          </a:p>
        </p:txBody>
      </p:sp>
      <p:sp>
        <p:nvSpPr>
          <p:cNvPr id="31" name="TextBox 30"/>
          <p:cNvSpPr txBox="1"/>
          <p:nvPr/>
        </p:nvSpPr>
        <p:spPr>
          <a:xfrm>
            <a:off x="4224528" y="2377439"/>
            <a:ext cx="106070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O(n)</a:t>
            </a:r>
          </a:p>
        </p:txBody>
      </p:sp>
      <p:sp>
        <p:nvSpPr>
          <p:cNvPr id="32" name="TextBox 31"/>
          <p:cNvSpPr txBox="1"/>
          <p:nvPr/>
        </p:nvSpPr>
        <p:spPr>
          <a:xfrm>
            <a:off x="5413248" y="2377439"/>
            <a:ext cx="343814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ifcopenshell.geom multithreaded iterator</a:t>
            </a:r>
          </a:p>
        </p:txBody>
      </p:sp>
      <p:sp>
        <p:nvSpPr>
          <p:cNvPr id="33" name="Rectangle 32"/>
          <p:cNvSpPr/>
          <p:nvPr/>
        </p:nvSpPr>
        <p:spPr>
          <a:xfrm>
            <a:off x="228600" y="2606040"/>
            <a:ext cx="8686800" cy="27432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92608" y="2651760"/>
            <a:ext cx="2066543"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Clash detection</a:t>
            </a:r>
          </a:p>
        </p:txBody>
      </p:sp>
      <p:sp>
        <p:nvSpPr>
          <p:cNvPr id="35" name="TextBox 34"/>
          <p:cNvSpPr txBox="1"/>
          <p:nvPr/>
        </p:nvSpPr>
        <p:spPr>
          <a:xfrm>
            <a:off x="2487168" y="2651760"/>
            <a:ext cx="1609343"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sub-second to seconds</a:t>
            </a:r>
          </a:p>
        </p:txBody>
      </p:sp>
      <p:sp>
        <p:nvSpPr>
          <p:cNvPr id="36" name="TextBox 35"/>
          <p:cNvSpPr txBox="1"/>
          <p:nvPr/>
        </p:nvSpPr>
        <p:spPr>
          <a:xfrm>
            <a:off x="4224528" y="2651760"/>
            <a:ext cx="106070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 O(n)</a:t>
            </a:r>
          </a:p>
        </p:txBody>
      </p:sp>
      <p:sp>
        <p:nvSpPr>
          <p:cNvPr id="37" name="TextBox 36"/>
          <p:cNvSpPr txBox="1"/>
          <p:nvPr/>
        </p:nvSpPr>
        <p:spPr>
          <a:xfrm>
            <a:off x="5413248" y="2651760"/>
            <a:ext cx="343814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Uniform grid; O(n²) without it</a:t>
            </a:r>
          </a:p>
        </p:txBody>
      </p:sp>
      <p:sp>
        <p:nvSpPr>
          <p:cNvPr id="38" name="Rectangle 37"/>
          <p:cNvSpPr/>
          <p:nvPr/>
        </p:nvSpPr>
        <p:spPr>
          <a:xfrm>
            <a:off x="228600" y="2880360"/>
            <a:ext cx="8686800" cy="274320"/>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92608" y="2926080"/>
            <a:ext cx="2066543"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Smallest MEP model</a:t>
            </a:r>
          </a:p>
        </p:txBody>
      </p:sp>
      <p:sp>
        <p:nvSpPr>
          <p:cNvPr id="40" name="TextBox 39"/>
          <p:cNvSpPr txBox="1"/>
          <p:nvPr/>
        </p:nvSpPr>
        <p:spPr>
          <a:xfrm>
            <a:off x="2487168" y="2926080"/>
            <a:ext cx="1609343"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4.8 s</a:t>
            </a:r>
          </a:p>
        </p:txBody>
      </p:sp>
      <p:sp>
        <p:nvSpPr>
          <p:cNvPr id="41" name="TextBox 40"/>
          <p:cNvSpPr txBox="1"/>
          <p:nvPr/>
        </p:nvSpPr>
        <p:spPr>
          <a:xfrm>
            <a:off x="4224528" y="2926080"/>
            <a:ext cx="106070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t>
            </a:r>
          </a:p>
        </p:txBody>
      </p:sp>
      <p:sp>
        <p:nvSpPr>
          <p:cNvPr id="42" name="TextBox 41"/>
          <p:cNvSpPr txBox="1"/>
          <p:nvPr/>
        </p:nvSpPr>
        <p:spPr>
          <a:xfrm>
            <a:off x="5413248" y="2926080"/>
            <a:ext cx="343814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wbdg office, 31 piping elements</a:t>
            </a:r>
          </a:p>
        </p:txBody>
      </p:sp>
      <p:sp>
        <p:nvSpPr>
          <p:cNvPr id="43" name="TextBox 42"/>
          <p:cNvSpPr txBox="1"/>
          <p:nvPr/>
        </p:nvSpPr>
        <p:spPr>
          <a:xfrm>
            <a:off x="228600" y="3337560"/>
            <a:ext cx="8686800" cy="640080"/>
          </a:xfrm>
          <a:prstGeom prst="rect">
            <a:avLst/>
          </a:prstGeom>
          <a:noFill/>
        </p:spPr>
        <p:txBody>
          <a:bodyPr wrap="square" anchor="t" lIns="0" rIns="0" tIns="0" bIns="0">
            <a:spAutoFit/>
          </a:bodyPr>
          <a:lstStyle/>
          <a:p>
            <a:pPr algn="l">
              <a:lnSpc>
                <a:spcPct val="95000"/>
              </a:lnSpc>
            </a:pPr>
            <a:r>
              <a:rPr sz="1150" b="0">
                <a:solidFill>
                  <a:srgbClr val="374151"/>
                </a:solidFill>
                <a:latin typeface="Calibri"/>
              </a:rPr>
              <a:t>Per-model timings are recorded in validation_sweep_summary.json and reproduce on re-run from cache.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Academic contribution</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What Blue Halo adds</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2048256" cy="283464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234440"/>
            <a:ext cx="2048256" cy="64008"/>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8328" y="1417320"/>
            <a:ext cx="1828800" cy="420624"/>
          </a:xfrm>
          <a:prstGeom prst="rect">
            <a:avLst/>
          </a:prstGeom>
          <a:noFill/>
        </p:spPr>
        <p:txBody>
          <a:bodyPr wrap="square" anchor="t" lIns="0" rIns="0" tIns="0" bIns="0">
            <a:spAutoFit/>
          </a:bodyPr>
          <a:lstStyle/>
          <a:p>
            <a:pPr algn="l">
              <a:lnSpc>
                <a:spcPct val="100000"/>
              </a:lnSpc>
            </a:pPr>
            <a:r>
              <a:rPr sz="1200" b="1">
                <a:solidFill>
                  <a:srgbClr val="1F3864"/>
                </a:solidFill>
                <a:latin typeface="Calibri"/>
              </a:rPr>
              <a:t>Proactive rather than reactive</a:t>
            </a:r>
          </a:p>
        </p:txBody>
      </p:sp>
      <p:sp>
        <p:nvSpPr>
          <p:cNvPr id="11" name="TextBox 10"/>
          <p:cNvSpPr txBox="1"/>
          <p:nvPr/>
        </p:nvSpPr>
        <p:spPr>
          <a:xfrm>
            <a:off x="338328" y="1856232"/>
            <a:ext cx="1828800" cy="2103120"/>
          </a:xfrm>
          <a:prstGeom prst="rect">
            <a:avLst/>
          </a:prstGeom>
          <a:noFill/>
        </p:spPr>
        <p:txBody>
          <a:bodyPr wrap="square" anchor="t" lIns="0" rIns="0" tIns="0" bIns="0">
            <a:spAutoFit/>
          </a:bodyPr>
          <a:lstStyle/>
          <a:p>
            <a:pPr algn="l">
              <a:lnSpc>
                <a:spcPct val="95000"/>
              </a:lnSpc>
            </a:pPr>
            <a:r>
              <a:rPr sz="1050" b="0">
                <a:solidFill>
                  <a:srgbClr val="374151"/>
                </a:solidFill>
                <a:latin typeface="Calibri"/>
              </a:rPr>
              <a:t>Reserving support space at LOD 300 inverts the usual order, in which the support system discovers that its space is already gone.</a:t>
            </a:r>
          </a:p>
        </p:txBody>
      </p:sp>
      <p:sp>
        <p:nvSpPr>
          <p:cNvPr id="12" name="Rectangle 11"/>
          <p:cNvSpPr/>
          <p:nvPr/>
        </p:nvSpPr>
        <p:spPr>
          <a:xfrm>
            <a:off x="2441448" y="1234440"/>
            <a:ext cx="2048256" cy="283464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441448" y="1234440"/>
            <a:ext cx="2048256" cy="64008"/>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51176" y="1417320"/>
            <a:ext cx="1828800" cy="420624"/>
          </a:xfrm>
          <a:prstGeom prst="rect">
            <a:avLst/>
          </a:prstGeom>
          <a:noFill/>
        </p:spPr>
        <p:txBody>
          <a:bodyPr wrap="square" anchor="t" lIns="0" rIns="0" tIns="0" bIns="0">
            <a:spAutoFit/>
          </a:bodyPr>
          <a:lstStyle/>
          <a:p>
            <a:pPr algn="l">
              <a:lnSpc>
                <a:spcPct val="100000"/>
              </a:lnSpc>
            </a:pPr>
            <a:r>
              <a:rPr sz="1200" b="1">
                <a:solidFill>
                  <a:srgbClr val="1F3864"/>
                </a:solidFill>
                <a:latin typeface="Calibri"/>
              </a:rPr>
              <a:t>Jurisdiction as data</a:t>
            </a:r>
          </a:p>
        </p:txBody>
      </p:sp>
      <p:sp>
        <p:nvSpPr>
          <p:cNvPr id="15" name="TextBox 14"/>
          <p:cNvSpPr txBox="1"/>
          <p:nvPr/>
        </p:nvSpPr>
        <p:spPr>
          <a:xfrm>
            <a:off x="2551176" y="1856232"/>
            <a:ext cx="1828800" cy="2103120"/>
          </a:xfrm>
          <a:prstGeom prst="rect">
            <a:avLst/>
          </a:prstGeom>
          <a:noFill/>
        </p:spPr>
        <p:txBody>
          <a:bodyPr wrap="square" anchor="t" lIns="0" rIns="0" tIns="0" bIns="0">
            <a:spAutoFit/>
          </a:bodyPr>
          <a:lstStyle/>
          <a:p>
            <a:pPr algn="l">
              <a:lnSpc>
                <a:spcPct val="95000"/>
              </a:lnSpc>
            </a:pPr>
            <a:r>
              <a:rPr sz="1050" b="0">
                <a:solidFill>
                  <a:srgbClr val="374151"/>
                </a:solidFill>
                <a:latin typeface="Calibri"/>
              </a:rPr>
              <a:t>Clearance, spacing and angle limits are loaded from versioned JSON configs, so a new standard is a data addition rather than a code change.</a:t>
            </a:r>
          </a:p>
        </p:txBody>
      </p:sp>
      <p:sp>
        <p:nvSpPr>
          <p:cNvPr id="16" name="Rectangle 15"/>
          <p:cNvSpPr/>
          <p:nvPr/>
        </p:nvSpPr>
        <p:spPr>
          <a:xfrm>
            <a:off x="4654296" y="1234440"/>
            <a:ext cx="2048256" cy="283464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54296" y="1234440"/>
            <a:ext cx="2048256" cy="64008"/>
          </a:xfrm>
          <a:prstGeom prst="rect">
            <a:avLst/>
          </a:prstGeom>
          <a:solidFill>
            <a:srgbClr val="1E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64024" y="1417320"/>
            <a:ext cx="1828800" cy="420624"/>
          </a:xfrm>
          <a:prstGeom prst="rect">
            <a:avLst/>
          </a:prstGeom>
          <a:noFill/>
        </p:spPr>
        <p:txBody>
          <a:bodyPr wrap="square" anchor="t" lIns="0" rIns="0" tIns="0" bIns="0">
            <a:spAutoFit/>
          </a:bodyPr>
          <a:lstStyle/>
          <a:p>
            <a:pPr algn="l">
              <a:lnSpc>
                <a:spcPct val="100000"/>
              </a:lnSpc>
            </a:pPr>
            <a:r>
              <a:rPr sz="1200" b="1">
                <a:solidFill>
                  <a:srgbClr val="1F3864"/>
                </a:solidFill>
                <a:latin typeface="Calibri"/>
              </a:rPr>
              <a:t>Measured at corpus scale</a:t>
            </a:r>
          </a:p>
        </p:txBody>
      </p:sp>
      <p:sp>
        <p:nvSpPr>
          <p:cNvPr id="19" name="TextBox 18"/>
          <p:cNvSpPr txBox="1"/>
          <p:nvPr/>
        </p:nvSpPr>
        <p:spPr>
          <a:xfrm>
            <a:off x="4764024" y="1856232"/>
            <a:ext cx="1828800" cy="2103120"/>
          </a:xfrm>
          <a:prstGeom prst="rect">
            <a:avLst/>
          </a:prstGeom>
          <a:noFill/>
        </p:spPr>
        <p:txBody>
          <a:bodyPr wrap="square" anchor="t" lIns="0" rIns="0" tIns="0" bIns="0">
            <a:spAutoFit/>
          </a:bodyPr>
          <a:lstStyle/>
          <a:p>
            <a:pPr algn="l">
              <a:lnSpc>
                <a:spcPct val="95000"/>
              </a:lnSpc>
            </a:pPr>
            <a:r>
              <a:rPr sz="1050" b="0">
                <a:solidFill>
                  <a:srgbClr val="374151"/>
                </a:solidFill>
                <a:latin typeface="Calibri"/>
              </a:rPr>
              <a:t>100% geometry resolution over 49,736 elements across two IFC schemas and three toolchains, with schema twins as controls.</a:t>
            </a:r>
          </a:p>
        </p:txBody>
      </p:sp>
      <p:sp>
        <p:nvSpPr>
          <p:cNvPr id="20" name="Rectangle 19"/>
          <p:cNvSpPr/>
          <p:nvPr/>
        </p:nvSpPr>
        <p:spPr>
          <a:xfrm>
            <a:off x="6867144" y="1234440"/>
            <a:ext cx="2048256" cy="283464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867144" y="1234440"/>
            <a:ext cx="2048256" cy="64008"/>
          </a:xfrm>
          <a:prstGeom prst="rect">
            <a:avLst/>
          </a:prstGeom>
          <a:solidFill>
            <a:srgbClr val="A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76872" y="1417320"/>
            <a:ext cx="1828800" cy="420624"/>
          </a:xfrm>
          <a:prstGeom prst="rect">
            <a:avLst/>
          </a:prstGeom>
          <a:noFill/>
        </p:spPr>
        <p:txBody>
          <a:bodyPr wrap="square" anchor="t" lIns="0" rIns="0" tIns="0" bIns="0">
            <a:spAutoFit/>
          </a:bodyPr>
          <a:lstStyle/>
          <a:p>
            <a:pPr algn="l">
              <a:lnSpc>
                <a:spcPct val="100000"/>
              </a:lnSpc>
            </a:pPr>
            <a:r>
              <a:rPr sz="1200" b="1">
                <a:solidFill>
                  <a:srgbClr val="1F3864"/>
                </a:solidFill>
                <a:latin typeface="Calibri"/>
              </a:rPr>
              <a:t>A quantified sensitivity result</a:t>
            </a:r>
          </a:p>
        </p:txBody>
      </p:sp>
      <p:sp>
        <p:nvSpPr>
          <p:cNvPr id="23" name="TextBox 22"/>
          <p:cNvSpPr txBox="1"/>
          <p:nvPr/>
        </p:nvSpPr>
        <p:spPr>
          <a:xfrm>
            <a:off x="6976872" y="1856232"/>
            <a:ext cx="1828800" cy="2103120"/>
          </a:xfrm>
          <a:prstGeom prst="rect">
            <a:avLst/>
          </a:prstGeom>
          <a:noFill/>
        </p:spPr>
        <p:txBody>
          <a:bodyPr wrap="square" anchor="t" lIns="0" rIns="0" tIns="0" bIns="0">
            <a:spAutoFit/>
          </a:bodyPr>
          <a:lstStyle/>
          <a:p>
            <a:pPr algn="l">
              <a:lnSpc>
                <a:spcPct val="95000"/>
              </a:lnSpc>
            </a:pPr>
            <a:r>
              <a:rPr sz="1050" b="0">
                <a:solidFill>
                  <a:srgbClr val="374151"/>
                </a:solidFill>
                <a:latin typeface="Calibri"/>
              </a:rPr>
              <a:t>The clearance-severity inversion is a reproducible finding about the metric itself, not about any one building.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Limitations</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Stated plainly</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234440"/>
            <a:ext cx="64008" cy="80467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 y="132588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Axis-aligned boxes overstate intersection</a:t>
            </a:r>
          </a:p>
        </p:txBody>
      </p:sp>
      <p:sp>
        <p:nvSpPr>
          <p:cNvPr id="11" name="TextBox 10"/>
          <p:cNvSpPr txBox="1"/>
          <p:nvPr/>
        </p:nvSpPr>
        <p:spPr>
          <a:xfrm>
            <a:off x="356616" y="16002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A clash is an AABB overlap. Diagonal and non-convex members are over-approximated, so counts are an upper bound, not a defect list.</a:t>
            </a:r>
          </a:p>
        </p:txBody>
      </p:sp>
      <p:sp>
        <p:nvSpPr>
          <p:cNvPr id="12" name="Rectangle 11"/>
          <p:cNvSpPr/>
          <p:nvPr/>
        </p:nvSpPr>
        <p:spPr>
          <a:xfrm>
            <a:off x="228600" y="2148840"/>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28600" y="2148840"/>
            <a:ext cx="64008" cy="80467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6616" y="224028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Uniform buffer, not a brace-shaped envelope</a:t>
            </a:r>
          </a:p>
        </p:txBody>
      </p:sp>
      <p:sp>
        <p:nvSpPr>
          <p:cNvPr id="15" name="TextBox 14"/>
          <p:cNvSpPr txBox="1"/>
          <p:nvPr/>
        </p:nvSpPr>
        <p:spPr>
          <a:xfrm>
            <a:off x="356616" y="25146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Real sway braces are diagonal members with a base plate. The wedge envelope is deferred until brace geometry exists to validate against.</a:t>
            </a:r>
          </a:p>
        </p:txBody>
      </p:sp>
      <p:sp>
        <p:nvSpPr>
          <p:cNvPr id="16" name="Rectangle 15"/>
          <p:cNvSpPr/>
          <p:nvPr/>
        </p:nvSpPr>
        <p:spPr>
          <a:xfrm>
            <a:off x="228600" y="3063240"/>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28600" y="3063240"/>
            <a:ext cx="64008" cy="804672"/>
          </a:xfrm>
          <a:prstGeom prst="rect">
            <a:avLst/>
          </a:prstGeom>
          <a:solidFill>
            <a:srgbClr val="A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6616" y="315468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Severity is a spatial heuristic</a:t>
            </a:r>
          </a:p>
        </p:txBody>
      </p:sp>
      <p:sp>
        <p:nvSpPr>
          <p:cNvPr id="19" name="TextBox 18"/>
          <p:cNvSpPr txBox="1"/>
          <p:nvPr/>
        </p:nvSpPr>
        <p:spPr>
          <a:xfrm>
            <a:off x="356616" y="34290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Overlap fraction of halo volume, not a standards-derived threshold. Table B.6 shows its sensitivity to the clearance input.</a:t>
            </a:r>
          </a:p>
        </p:txBody>
      </p:sp>
      <p:sp>
        <p:nvSpPr>
          <p:cNvPr id="20" name="Rectangle 19"/>
          <p:cNvSpPr/>
          <p:nvPr/>
        </p:nvSpPr>
        <p:spPr>
          <a:xfrm>
            <a:off x="228600" y="3977639"/>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28600" y="3977639"/>
            <a:ext cx="64008" cy="80467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6616" y="4069079"/>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One clearance regime per run</a:t>
            </a:r>
          </a:p>
        </p:txBody>
      </p:sp>
      <p:sp>
        <p:nvSpPr>
          <p:cNvPr id="23" name="TextBox 22"/>
          <p:cNvSpPr txBox="1"/>
          <p:nvPr/>
        </p:nvSpPr>
        <p:spPr>
          <a:xfrm>
            <a:off x="356616" y="43434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The SB-001 config assigns every brace variant the same authored clearance, so variant comparison is degenerate under it.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Post-FMP roadmap</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R1 – R5, with the dependency each carries</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8686800" cy="283464"/>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2608" y="1280160"/>
            <a:ext cx="603504" cy="210311"/>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Ref</a:t>
            </a:r>
          </a:p>
        </p:txBody>
      </p:sp>
      <p:sp>
        <p:nvSpPr>
          <p:cNvPr id="10" name="TextBox 9"/>
          <p:cNvSpPr txBox="1"/>
          <p:nvPr/>
        </p:nvSpPr>
        <p:spPr>
          <a:xfrm>
            <a:off x="1024128" y="1280160"/>
            <a:ext cx="3895344" cy="210311"/>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Enhancement</a:t>
            </a:r>
          </a:p>
        </p:txBody>
      </p:sp>
      <p:sp>
        <p:nvSpPr>
          <p:cNvPr id="11" name="TextBox 10"/>
          <p:cNvSpPr txBox="1"/>
          <p:nvPr/>
        </p:nvSpPr>
        <p:spPr>
          <a:xfrm>
            <a:off x="5047488" y="1280160"/>
            <a:ext cx="2798064" cy="210311"/>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Dependency</a:t>
            </a:r>
          </a:p>
        </p:txBody>
      </p:sp>
      <p:sp>
        <p:nvSpPr>
          <p:cNvPr id="12" name="TextBox 11"/>
          <p:cNvSpPr txBox="1"/>
          <p:nvPr/>
        </p:nvSpPr>
        <p:spPr>
          <a:xfrm>
            <a:off x="7973568" y="1280160"/>
            <a:ext cx="877824" cy="210311"/>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Target</a:t>
            </a:r>
          </a:p>
        </p:txBody>
      </p:sp>
      <p:sp>
        <p:nvSpPr>
          <p:cNvPr id="13" name="Rectangle 12"/>
          <p:cNvSpPr/>
          <p:nvPr/>
        </p:nvSpPr>
        <p:spPr>
          <a:xfrm>
            <a:off x="228600" y="1517904"/>
            <a:ext cx="8686800" cy="283464"/>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2608" y="1563624"/>
            <a:ext cx="603504"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R1</a:t>
            </a:r>
          </a:p>
        </p:txBody>
      </p:sp>
      <p:sp>
        <p:nvSpPr>
          <p:cNvPr id="15" name="TextBox 14"/>
          <p:cNvSpPr txBox="1"/>
          <p:nvPr/>
        </p:nvSpPr>
        <p:spPr>
          <a:xfrm>
            <a:off x="1024128" y="1563624"/>
            <a:ext cx="3895344"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Angle-aware wedge envelope for diagonal bracing</a:t>
            </a:r>
          </a:p>
        </p:txBody>
      </p:sp>
      <p:sp>
        <p:nvSpPr>
          <p:cNvPr id="16" name="TextBox 15"/>
          <p:cNvSpPr txBox="1"/>
          <p:nvPr/>
        </p:nvSpPr>
        <p:spPr>
          <a:xfrm>
            <a:off x="5047488" y="1563624"/>
            <a:ext cx="2798064"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Brace geometry in the corpus to validate against</a:t>
            </a:r>
          </a:p>
        </p:txBody>
      </p:sp>
      <p:sp>
        <p:nvSpPr>
          <p:cNvPr id="17" name="TextBox 16"/>
          <p:cNvSpPr txBox="1"/>
          <p:nvPr/>
        </p:nvSpPr>
        <p:spPr>
          <a:xfrm>
            <a:off x="7973568" y="1563624"/>
            <a:ext cx="877824"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Q1 2027</a:t>
            </a:r>
          </a:p>
        </p:txBody>
      </p:sp>
      <p:sp>
        <p:nvSpPr>
          <p:cNvPr id="18" name="Rectangle 17"/>
          <p:cNvSpPr/>
          <p:nvPr/>
        </p:nvSpPr>
        <p:spPr>
          <a:xfrm>
            <a:off x="228600" y="1801368"/>
            <a:ext cx="8686800" cy="283464"/>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2608" y="1847088"/>
            <a:ext cx="603504"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R2</a:t>
            </a:r>
          </a:p>
        </p:txBody>
      </p:sp>
      <p:sp>
        <p:nvSpPr>
          <p:cNvPr id="20" name="TextBox 19"/>
          <p:cNvSpPr txBox="1"/>
          <p:nvPr/>
        </p:nvSpPr>
        <p:spPr>
          <a:xfrm>
            <a:off x="1024128" y="1847088"/>
            <a:ext cx="3895344"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Non-circular and rectangular halo profiles</a:t>
            </a:r>
          </a:p>
        </p:txBody>
      </p:sp>
      <p:sp>
        <p:nvSpPr>
          <p:cNvPr id="21" name="TextBox 20"/>
          <p:cNvSpPr txBox="1"/>
          <p:nvPr/>
        </p:nvSpPr>
        <p:spPr>
          <a:xfrm>
            <a:off x="5047488" y="1847088"/>
            <a:ext cx="2798064"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Profile data per brace family</a:t>
            </a:r>
          </a:p>
        </p:txBody>
      </p:sp>
      <p:sp>
        <p:nvSpPr>
          <p:cNvPr id="22" name="TextBox 21"/>
          <p:cNvSpPr txBox="1"/>
          <p:nvPr/>
        </p:nvSpPr>
        <p:spPr>
          <a:xfrm>
            <a:off x="7973568" y="1847088"/>
            <a:ext cx="877824"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Q1 2027</a:t>
            </a:r>
          </a:p>
        </p:txBody>
      </p:sp>
      <p:sp>
        <p:nvSpPr>
          <p:cNvPr id="23" name="Rectangle 22"/>
          <p:cNvSpPr/>
          <p:nvPr/>
        </p:nvSpPr>
        <p:spPr>
          <a:xfrm>
            <a:off x="228600" y="2084832"/>
            <a:ext cx="8686800" cy="283464"/>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92608" y="2130552"/>
            <a:ext cx="603504"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R3</a:t>
            </a:r>
          </a:p>
        </p:txBody>
      </p:sp>
      <p:sp>
        <p:nvSpPr>
          <p:cNvPr id="25" name="TextBox 24"/>
          <p:cNvSpPr txBox="1"/>
          <p:nvPr/>
        </p:nvSpPr>
        <p:spPr>
          <a:xfrm>
            <a:off x="1024128" y="2130552"/>
            <a:ext cx="3895344"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Cable sag modelling (catenary)</a:t>
            </a:r>
          </a:p>
        </p:txBody>
      </p:sp>
      <p:sp>
        <p:nvSpPr>
          <p:cNvPr id="26" name="TextBox 25"/>
          <p:cNvSpPr txBox="1"/>
          <p:nvPr/>
        </p:nvSpPr>
        <p:spPr>
          <a:xfrm>
            <a:off x="5047488" y="2130552"/>
            <a:ext cx="2798064"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Span and pretension inputs</a:t>
            </a:r>
          </a:p>
        </p:txBody>
      </p:sp>
      <p:sp>
        <p:nvSpPr>
          <p:cNvPr id="27" name="TextBox 26"/>
          <p:cNvSpPr txBox="1"/>
          <p:nvPr/>
        </p:nvSpPr>
        <p:spPr>
          <a:xfrm>
            <a:off x="7973568" y="2130552"/>
            <a:ext cx="877824"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Q2 2027</a:t>
            </a:r>
          </a:p>
        </p:txBody>
      </p:sp>
      <p:sp>
        <p:nvSpPr>
          <p:cNvPr id="28" name="Rectangle 27"/>
          <p:cNvSpPr/>
          <p:nvPr/>
        </p:nvSpPr>
        <p:spPr>
          <a:xfrm>
            <a:off x="228600" y="2368296"/>
            <a:ext cx="8686800" cy="283464"/>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92608" y="2414015"/>
            <a:ext cx="603504"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R4</a:t>
            </a:r>
          </a:p>
        </p:txBody>
      </p:sp>
      <p:sp>
        <p:nvSpPr>
          <p:cNvPr id="30" name="TextBox 29"/>
          <p:cNvSpPr txBox="1"/>
          <p:nvPr/>
        </p:nvSpPr>
        <p:spPr>
          <a:xfrm>
            <a:off x="1024128" y="2414015"/>
            <a:ext cx="3895344"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Severity model grounded in standards</a:t>
            </a:r>
          </a:p>
        </p:txBody>
      </p:sp>
      <p:sp>
        <p:nvSpPr>
          <p:cNvPr id="31" name="TextBox 30"/>
          <p:cNvSpPr txBox="1"/>
          <p:nvPr/>
        </p:nvSpPr>
        <p:spPr>
          <a:xfrm>
            <a:off x="5047488" y="2414015"/>
            <a:ext cx="2798064"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Clause basis for a non-ratio metric</a:t>
            </a:r>
          </a:p>
        </p:txBody>
      </p:sp>
      <p:sp>
        <p:nvSpPr>
          <p:cNvPr id="32" name="TextBox 31"/>
          <p:cNvSpPr txBox="1"/>
          <p:nvPr/>
        </p:nvSpPr>
        <p:spPr>
          <a:xfrm>
            <a:off x="7973568" y="2414015"/>
            <a:ext cx="877824"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Q2 2027</a:t>
            </a:r>
          </a:p>
        </p:txBody>
      </p:sp>
      <p:sp>
        <p:nvSpPr>
          <p:cNvPr id="33" name="Rectangle 32"/>
          <p:cNvSpPr/>
          <p:nvPr/>
        </p:nvSpPr>
        <p:spPr>
          <a:xfrm>
            <a:off x="228600" y="2651760"/>
            <a:ext cx="8686800" cy="283464"/>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92608" y="2697480"/>
            <a:ext cx="603504"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R5</a:t>
            </a:r>
          </a:p>
        </p:txBody>
      </p:sp>
      <p:sp>
        <p:nvSpPr>
          <p:cNvPr id="35" name="TextBox 34"/>
          <p:cNvSpPr txBox="1"/>
          <p:nvPr/>
        </p:nvSpPr>
        <p:spPr>
          <a:xfrm>
            <a:off x="1024128" y="2697480"/>
            <a:ext cx="3895344"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Seismic zone auto-population from site data</a:t>
            </a:r>
          </a:p>
        </p:txBody>
      </p:sp>
      <p:sp>
        <p:nvSpPr>
          <p:cNvPr id="36" name="TextBox 35"/>
          <p:cNvSpPr txBox="1"/>
          <p:nvPr/>
        </p:nvSpPr>
        <p:spPr>
          <a:xfrm>
            <a:off x="5047488" y="2697480"/>
            <a:ext cx="2798064"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Hazard map lookup and IFC round-trip</a:t>
            </a:r>
          </a:p>
        </p:txBody>
      </p:sp>
      <p:sp>
        <p:nvSpPr>
          <p:cNvPr id="37" name="TextBox 36"/>
          <p:cNvSpPr txBox="1"/>
          <p:nvPr/>
        </p:nvSpPr>
        <p:spPr>
          <a:xfrm>
            <a:off x="7973568" y="2697480"/>
            <a:ext cx="877824"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Q3 2027</a:t>
            </a:r>
          </a:p>
        </p:txBody>
      </p:sp>
      <p:sp>
        <p:nvSpPr>
          <p:cNvPr id="38" name="TextBox 37"/>
          <p:cNvSpPr txBox="1"/>
          <p:nvPr/>
        </p:nvSpPr>
        <p:spPr>
          <a:xfrm>
            <a:off x="228600" y="3063240"/>
            <a:ext cx="8686800" cy="640080"/>
          </a:xfrm>
          <a:prstGeom prst="rect">
            <a:avLst/>
          </a:prstGeom>
          <a:noFill/>
        </p:spPr>
        <p:txBody>
          <a:bodyPr wrap="square" anchor="t" lIns="0" rIns="0" tIns="0" bIns="0">
            <a:spAutoFit/>
          </a:bodyPr>
          <a:lstStyle/>
          <a:p>
            <a:pPr algn="l">
              <a:lnSpc>
                <a:spcPct val="95000"/>
              </a:lnSpc>
            </a:pPr>
            <a:r>
              <a:rPr sz="1200" b="1">
                <a:solidFill>
                  <a:srgbClr val="1F3864"/>
                </a:solidFill>
                <a:latin typeface="Calibri"/>
              </a:rPr>
              <a:t>R4 is the item the sensitivity result argues for most directly.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Standards compliance</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What each source supplies</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8686800" cy="27432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2608" y="1280160"/>
            <a:ext cx="2523744" cy="201167"/>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Standard</a:t>
            </a:r>
          </a:p>
        </p:txBody>
      </p:sp>
      <p:sp>
        <p:nvSpPr>
          <p:cNvPr id="10" name="TextBox 9"/>
          <p:cNvSpPr txBox="1"/>
          <p:nvPr/>
        </p:nvSpPr>
        <p:spPr>
          <a:xfrm>
            <a:off x="2944368" y="1280160"/>
            <a:ext cx="3072384" cy="201167"/>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Supplies</a:t>
            </a:r>
          </a:p>
        </p:txBody>
      </p:sp>
      <p:sp>
        <p:nvSpPr>
          <p:cNvPr id="11" name="TextBox 10"/>
          <p:cNvSpPr txBox="1"/>
          <p:nvPr/>
        </p:nvSpPr>
        <p:spPr>
          <a:xfrm>
            <a:off x="6144768" y="1280160"/>
            <a:ext cx="2706624" cy="201167"/>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Applied in</a:t>
            </a:r>
          </a:p>
        </p:txBody>
      </p:sp>
      <p:sp>
        <p:nvSpPr>
          <p:cNvPr id="12" name="Rectangle 11"/>
          <p:cNvSpPr/>
          <p:nvPr/>
        </p:nvSpPr>
        <p:spPr>
          <a:xfrm>
            <a:off x="228600" y="1508760"/>
            <a:ext cx="8686800" cy="27432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2608" y="1554480"/>
            <a:ext cx="252374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EN 1998-1:2004+A1:2013</a:t>
            </a:r>
          </a:p>
        </p:txBody>
      </p:sp>
      <p:sp>
        <p:nvSpPr>
          <p:cNvPr id="14" name="TextBox 13"/>
          <p:cNvSpPr txBox="1"/>
          <p:nvPr/>
        </p:nvSpPr>
        <p:spPr>
          <a:xfrm>
            <a:off x="2944368" y="1554480"/>
            <a:ext cx="307238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§4.3.5 (non-structural elements)</a:t>
            </a:r>
          </a:p>
        </p:txBody>
      </p:sp>
      <p:sp>
        <p:nvSpPr>
          <p:cNvPr id="15" name="TextBox 14"/>
          <p:cNvSpPr txBox="1"/>
          <p:nvPr/>
        </p:nvSpPr>
        <p:spPr>
          <a:xfrm>
            <a:off x="6144768" y="1554480"/>
            <a:ext cx="270662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Gives no MEP brace spacing or clearance</a:t>
            </a:r>
          </a:p>
        </p:txBody>
      </p:sp>
      <p:sp>
        <p:nvSpPr>
          <p:cNvPr id="16" name="Rectangle 15"/>
          <p:cNvSpPr/>
          <p:nvPr/>
        </p:nvSpPr>
        <p:spPr>
          <a:xfrm>
            <a:off x="228600" y="1783080"/>
            <a:ext cx="8686800" cy="274320"/>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2608" y="1828800"/>
            <a:ext cx="252374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DIN EN 1998-1/NA:2018-10</a:t>
            </a:r>
          </a:p>
        </p:txBody>
      </p:sp>
      <p:sp>
        <p:nvSpPr>
          <p:cNvPr id="18" name="TextBox 17"/>
          <p:cNvSpPr txBox="1"/>
          <p:nvPr/>
        </p:nvSpPr>
        <p:spPr>
          <a:xfrm>
            <a:off x="2944368" y="1828800"/>
            <a:ext cx="307238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German NA; DIN 4149 withdrawn</a:t>
            </a:r>
          </a:p>
        </p:txBody>
      </p:sp>
      <p:sp>
        <p:nvSpPr>
          <p:cNvPr id="19" name="TextBox 18"/>
          <p:cNvSpPr txBox="1"/>
          <p:nvPr/>
        </p:nvSpPr>
        <p:spPr>
          <a:xfrm>
            <a:off x="6144768" y="1828800"/>
            <a:ext cx="270662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Gives no MEP brace spacing or clearance</a:t>
            </a:r>
          </a:p>
        </p:txBody>
      </p:sp>
      <p:sp>
        <p:nvSpPr>
          <p:cNvPr id="20" name="Rectangle 19"/>
          <p:cNvSpPr/>
          <p:nvPr/>
        </p:nvSpPr>
        <p:spPr>
          <a:xfrm>
            <a:off x="228600" y="2057400"/>
            <a:ext cx="8686800" cy="27432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92608" y="2103120"/>
            <a:ext cx="252374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FEMA E-74 (4th ed., December 2012)</a:t>
            </a:r>
          </a:p>
        </p:txBody>
      </p:sp>
      <p:sp>
        <p:nvSpPr>
          <p:cNvPr id="22" name="TextBox 21"/>
          <p:cNvSpPr txBox="1"/>
          <p:nvPr/>
        </p:nvSpPr>
        <p:spPr>
          <a:xfrm>
            <a:off x="2944368" y="2103120"/>
            <a:ext cx="307238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 guide, not a code</a:t>
            </a:r>
          </a:p>
        </p:txBody>
      </p:sp>
      <p:sp>
        <p:nvSpPr>
          <p:cNvPr id="23" name="TextBox 22"/>
          <p:cNvSpPr txBox="1"/>
          <p:nvPr/>
        </p:nvSpPr>
        <p:spPr>
          <a:xfrm>
            <a:off x="6144768" y="2103120"/>
            <a:ext cx="270662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Duct area threshold, importance factors</a:t>
            </a:r>
          </a:p>
        </p:txBody>
      </p:sp>
      <p:sp>
        <p:nvSpPr>
          <p:cNvPr id="24" name="Rectangle 23"/>
          <p:cNvSpPr/>
          <p:nvPr/>
        </p:nvSpPr>
        <p:spPr>
          <a:xfrm>
            <a:off x="228600" y="2331720"/>
            <a:ext cx="8686800" cy="274320"/>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92608" y="2377439"/>
            <a:ext cx="252374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ASCE/SEI 7-10 §13.6</a:t>
            </a:r>
          </a:p>
        </p:txBody>
      </p:sp>
      <p:sp>
        <p:nvSpPr>
          <p:cNvPr id="26" name="TextBox 25"/>
          <p:cNvSpPr txBox="1"/>
          <p:nvPr/>
        </p:nvSpPr>
        <p:spPr>
          <a:xfrm>
            <a:off x="2944368" y="2377439"/>
            <a:ext cx="307238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What FEMA E-74 defers to</a:t>
            </a:r>
          </a:p>
        </p:txBody>
      </p:sp>
      <p:sp>
        <p:nvSpPr>
          <p:cNvPr id="27" name="TextBox 26"/>
          <p:cNvSpPr txBox="1"/>
          <p:nvPr/>
        </p:nvSpPr>
        <p:spPr>
          <a:xfrm>
            <a:off x="6144768" y="2377439"/>
            <a:ext cx="270662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Upstream reference; not held</a:t>
            </a:r>
          </a:p>
        </p:txBody>
      </p:sp>
      <p:sp>
        <p:nvSpPr>
          <p:cNvPr id="28" name="Rectangle 27"/>
          <p:cNvSpPr/>
          <p:nvPr/>
        </p:nvSpPr>
        <p:spPr>
          <a:xfrm>
            <a:off x="228600" y="2606040"/>
            <a:ext cx="8686800" cy="27432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92608" y="2651760"/>
            <a:ext cx="252374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SMACNA / MSS SP-58</a:t>
            </a:r>
          </a:p>
        </p:txBody>
      </p:sp>
      <p:sp>
        <p:nvSpPr>
          <p:cNvPr id="30" name="TextBox 29"/>
          <p:cNvSpPr txBox="1"/>
          <p:nvPr/>
        </p:nvSpPr>
        <p:spPr>
          <a:xfrm>
            <a:off x="2944368" y="2651760"/>
            <a:ext cx="307238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Sway bracing and hanger support practice</a:t>
            </a:r>
          </a:p>
        </p:txBody>
      </p:sp>
      <p:sp>
        <p:nvSpPr>
          <p:cNvPr id="31" name="TextBox 30"/>
          <p:cNvSpPr txBox="1"/>
          <p:nvPr/>
        </p:nvSpPr>
        <p:spPr>
          <a:xfrm>
            <a:off x="6144768" y="2651760"/>
            <a:ext cx="270662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Brace family footprints</a:t>
            </a:r>
          </a:p>
        </p:txBody>
      </p:sp>
      <p:sp>
        <p:nvSpPr>
          <p:cNvPr id="32" name="Rectangle 31"/>
          <p:cNvSpPr/>
          <p:nvPr/>
        </p:nvSpPr>
        <p:spPr>
          <a:xfrm>
            <a:off x="228600" y="2880360"/>
            <a:ext cx="8686800" cy="274320"/>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92608" y="2926080"/>
            <a:ext cx="252374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ISO 16739-1 / BCF 2.1</a:t>
            </a:r>
          </a:p>
        </p:txBody>
      </p:sp>
      <p:sp>
        <p:nvSpPr>
          <p:cNvPr id="34" name="TextBox 33"/>
          <p:cNvSpPr txBox="1"/>
          <p:nvPr/>
        </p:nvSpPr>
        <p:spPr>
          <a:xfrm>
            <a:off x="2944368" y="2926080"/>
            <a:ext cx="307238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IFC schema and issue exchange</a:t>
            </a:r>
          </a:p>
        </p:txBody>
      </p:sp>
      <p:sp>
        <p:nvSpPr>
          <p:cNvPr id="35" name="TextBox 34"/>
          <p:cNvSpPr txBox="1"/>
          <p:nvPr/>
        </p:nvSpPr>
        <p:spPr>
          <a:xfrm>
            <a:off x="6144768" y="2926080"/>
            <a:ext cx="270662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Input parsing and topic output</a:t>
            </a:r>
          </a:p>
        </p:txBody>
      </p:sp>
      <p:sp>
        <p:nvSpPr>
          <p:cNvPr id="36" name="TextBox 35"/>
          <p:cNvSpPr txBox="1"/>
          <p:nvPr/>
        </p:nvSpPr>
        <p:spPr>
          <a:xfrm>
            <a:off x="228600" y="3337560"/>
            <a:ext cx="8686800" cy="640080"/>
          </a:xfrm>
          <a:prstGeom prst="rect">
            <a:avLst/>
          </a:prstGeom>
          <a:noFill/>
        </p:spPr>
        <p:txBody>
          <a:bodyPr wrap="square" anchor="t" lIns="0" rIns="0" tIns="0" bIns="0">
            <a:spAutoFit/>
          </a:bodyPr>
          <a:lstStyle/>
          <a:p>
            <a:pPr algn="l">
              <a:lnSpc>
                <a:spcPct val="95000"/>
              </a:lnSpc>
            </a:pPr>
            <a:r>
              <a:rPr sz="1150" b="0">
                <a:solidFill>
                  <a:srgbClr val="374151"/>
                </a:solidFill>
                <a:latin typeface="Calibri"/>
              </a:rPr>
              <a:t>There is one SB-001 config, not a jurisdictional pair. Neither EN 1998-1 nor the German National Annex dimensions MEP bracing; DIN 4149:2005-04 was withdrawn and replaced by DIN EN 1998-1:2010-12 with its National Annex; it is historical only.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1E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Jurisdiction as data, not as code</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How a new standard enters the system</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TextBox 7"/>
          <p:cNvSpPr txBox="1"/>
          <p:nvPr/>
        </p:nvSpPr>
        <p:spPr>
          <a:xfrm>
            <a:off x="228600" y="1280160"/>
            <a:ext cx="8686800" cy="640080"/>
          </a:xfrm>
          <a:prstGeom prst="rect">
            <a:avLst/>
          </a:prstGeom>
          <a:noFill/>
        </p:spPr>
        <p:txBody>
          <a:bodyPr wrap="square" anchor="t" lIns="0" rIns="0" tIns="0" bIns="0">
            <a:spAutoFit/>
          </a:bodyPr>
          <a:lstStyle/>
          <a:p>
            <a:pPr algn="l">
              <a:lnSpc>
                <a:spcPct val="95000"/>
              </a:lnSpc>
            </a:pPr>
            <a:r>
              <a:rPr sz="1150" b="0">
                <a:solidFill>
                  <a:srgbClr val="374151"/>
                </a:solidFill>
                <a:latin typeface="Calibri"/>
              </a:rPr>
              <a:t>BIMGUARD SB-001 is a screening tool whose dimensional thresholds are authored calibration except where marked sourced, and it is not a substitute for design to ASCE/SEI 7-10 §13.6 or EN 1998-1.</a:t>
            </a:r>
          </a:p>
        </p:txBody>
      </p:sp>
      <p:sp>
        <p:nvSpPr>
          <p:cNvPr id="9" name="TextBox 8"/>
          <p:cNvSpPr txBox="1"/>
          <p:nvPr/>
        </p:nvSpPr>
        <p:spPr>
          <a:xfrm>
            <a:off x="228600" y="2103120"/>
            <a:ext cx="8686800" cy="640080"/>
          </a:xfrm>
          <a:prstGeom prst="rect">
            <a:avLst/>
          </a:prstGeom>
          <a:noFill/>
        </p:spPr>
        <p:txBody>
          <a:bodyPr wrap="square" anchor="t" lIns="0" rIns="0" tIns="0" bIns="0">
            <a:spAutoFit/>
          </a:bodyPr>
          <a:lstStyle/>
          <a:p>
            <a:pPr algn="l">
              <a:lnSpc>
                <a:spcPct val="95000"/>
              </a:lnSpc>
            </a:pPr>
            <a:r>
              <a:rPr sz="1150" b="0">
                <a:solidFill>
                  <a:srgbClr val="374151"/>
                </a:solidFill>
                <a:latin typeface="Calibri"/>
              </a:rPr>
              <a:t>Every threshold carries a provenance block with a status: 3 sourced, 2 derived, 9 authored. FEMA E-74 (4th ed., December 2012) evidences the duct area threshold and the importance factors, and gives upstream brace spacing maxima that the authored calibration is deliberately tighter than. The remaining thresholds are authored, with no source held.</a:t>
            </a:r>
          </a:p>
        </p:txBody>
      </p:sp>
      <p:sp>
        <p:nvSpPr>
          <p:cNvPr id="10" name="TextBox 9"/>
          <p:cNvSpPr txBox="1"/>
          <p:nvPr/>
        </p:nvSpPr>
        <p:spPr>
          <a:xfrm>
            <a:off x="228600" y="3977639"/>
            <a:ext cx="8686800" cy="640080"/>
          </a:xfrm>
          <a:prstGeom prst="rect">
            <a:avLst/>
          </a:prstGeom>
          <a:noFill/>
        </p:spPr>
        <p:txBody>
          <a:bodyPr wrap="square" anchor="t" lIns="0" rIns="0" tIns="0" bIns="0">
            <a:spAutoFit/>
          </a:bodyPr>
          <a:lstStyle/>
          <a:p>
            <a:pPr algn="l">
              <a:lnSpc>
                <a:spcPct val="95000"/>
              </a:lnSpc>
            </a:pPr>
            <a:r>
              <a:rPr sz="1200" b="1">
                <a:solidFill>
                  <a:srgbClr val="1F3864"/>
                </a:solidFill>
                <a:latin typeface="Calibri"/>
              </a:rPr>
              <a:t>Adding a jurisdiction is a data change with a provenance record, not a code change.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Integration into the compliance pipeline</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Where Blue Halo sits</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234440"/>
            <a:ext cx="64008" cy="804672"/>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 y="132588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Input</a:t>
            </a:r>
          </a:p>
        </p:txBody>
      </p:sp>
      <p:sp>
        <p:nvSpPr>
          <p:cNvPr id="11" name="TextBox 10"/>
          <p:cNvSpPr txBox="1"/>
          <p:nvPr/>
        </p:nvSpPr>
        <p:spPr>
          <a:xfrm>
            <a:off x="356616" y="16002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Normalised IFC geometry and property sets, plus the jurisdiction clearance config selected for the project.</a:t>
            </a:r>
          </a:p>
        </p:txBody>
      </p:sp>
      <p:sp>
        <p:nvSpPr>
          <p:cNvPr id="12" name="Rectangle 11"/>
          <p:cNvSpPr/>
          <p:nvPr/>
        </p:nvSpPr>
        <p:spPr>
          <a:xfrm>
            <a:off x="228600" y="2148840"/>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28600" y="2148840"/>
            <a:ext cx="64008" cy="804672"/>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6616" y="224028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Output</a:t>
            </a:r>
          </a:p>
        </p:txBody>
      </p:sp>
      <p:sp>
        <p:nvSpPr>
          <p:cNvPr id="15" name="TextBox 14"/>
          <p:cNvSpPr txBox="1"/>
          <p:nvPr/>
        </p:nvSpPr>
        <p:spPr>
          <a:xfrm>
            <a:off x="356616" y="25146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One BCF 2.1 topic per breach, carrying both GlobalIds, overlap volume, severity band and the clearance rule that produced the envelope.</a:t>
            </a:r>
          </a:p>
        </p:txBody>
      </p:sp>
      <p:sp>
        <p:nvSpPr>
          <p:cNvPr id="16" name="Rectangle 15"/>
          <p:cNvSpPr/>
          <p:nvPr/>
        </p:nvSpPr>
        <p:spPr>
          <a:xfrm>
            <a:off x="228600" y="3063240"/>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28600" y="3063240"/>
            <a:ext cx="64008" cy="804672"/>
          </a:xfrm>
          <a:prstGeom prst="rect">
            <a:avLst/>
          </a:prstGeom>
          <a:solidFill>
            <a:srgbClr val="1E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6616" y="315468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Model write-back</a:t>
            </a:r>
          </a:p>
        </p:txBody>
      </p:sp>
      <p:sp>
        <p:nvSpPr>
          <p:cNvPr id="19" name="TextBox 18"/>
          <p:cNvSpPr txBox="1"/>
          <p:nvPr/>
        </p:nvSpPr>
        <p:spPr>
          <a:xfrm>
            <a:off x="356616" y="34290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Pset_HaloReservation on the braced element: brace type, rule variant, clearance applied, element and halo bounding boxes.</a:t>
            </a:r>
          </a:p>
        </p:txBody>
      </p:sp>
      <p:sp>
        <p:nvSpPr>
          <p:cNvPr id="20" name="Rectangle 19"/>
          <p:cNvSpPr/>
          <p:nvPr/>
        </p:nvSpPr>
        <p:spPr>
          <a:xfrm>
            <a:off x="228600" y="3977639"/>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28600" y="3977639"/>
            <a:ext cx="64008" cy="80467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6616" y="4069079"/>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Status</a:t>
            </a:r>
          </a:p>
        </p:txBody>
      </p:sp>
      <p:sp>
        <p:nvSpPr>
          <p:cNvPr id="23" name="TextBox 22"/>
          <p:cNvSpPr txBox="1"/>
          <p:nvPr/>
        </p:nvSpPr>
        <p:spPr>
          <a:xfrm>
            <a:off x="356616" y="43434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Breaches present hold the container at S2. Resolution is either a service move or an accepted LOD 350 reservation recorded against the element.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BCF output — what a reviewer receives</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Enough to act without opening the tool</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8686800" cy="27432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2608" y="1280160"/>
            <a:ext cx="1609343" cy="201167"/>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Field</a:t>
            </a:r>
          </a:p>
        </p:txBody>
      </p:sp>
      <p:sp>
        <p:nvSpPr>
          <p:cNvPr id="10" name="TextBox 9"/>
          <p:cNvSpPr txBox="1"/>
          <p:nvPr/>
        </p:nvSpPr>
        <p:spPr>
          <a:xfrm>
            <a:off x="2029967" y="1280160"/>
            <a:ext cx="3712464" cy="201167"/>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Content</a:t>
            </a:r>
          </a:p>
        </p:txBody>
      </p:sp>
      <p:sp>
        <p:nvSpPr>
          <p:cNvPr id="11" name="TextBox 10"/>
          <p:cNvSpPr txBox="1"/>
          <p:nvPr/>
        </p:nvSpPr>
        <p:spPr>
          <a:xfrm>
            <a:off x="5870448" y="1280160"/>
            <a:ext cx="2980944" cy="201167"/>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Source</a:t>
            </a:r>
          </a:p>
        </p:txBody>
      </p:sp>
      <p:sp>
        <p:nvSpPr>
          <p:cNvPr id="12" name="Rectangle 11"/>
          <p:cNvSpPr/>
          <p:nvPr/>
        </p:nvSpPr>
        <p:spPr>
          <a:xfrm>
            <a:off x="228600" y="1508760"/>
            <a:ext cx="8686800" cy="27432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2608" y="1554480"/>
            <a:ext cx="1609343"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Topic title</a:t>
            </a:r>
          </a:p>
        </p:txBody>
      </p:sp>
      <p:sp>
        <p:nvSpPr>
          <p:cNvPr id="14" name="TextBox 13"/>
          <p:cNvSpPr txBox="1"/>
          <p:nvPr/>
        </p:nvSpPr>
        <p:spPr>
          <a:xfrm>
            <a:off x="2029967" y="1554480"/>
            <a:ext cx="371246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Brace type and source element class</a:t>
            </a:r>
          </a:p>
        </p:txBody>
      </p:sp>
      <p:sp>
        <p:nvSpPr>
          <p:cNvPr id="15" name="TextBox 14"/>
          <p:cNvSpPr txBox="1"/>
          <p:nvPr/>
        </p:nvSpPr>
        <p:spPr>
          <a:xfrm>
            <a:off x="5870448" y="1554480"/>
            <a:ext cx="298094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HaloVolume.brace_type</a:t>
            </a:r>
          </a:p>
        </p:txBody>
      </p:sp>
      <p:sp>
        <p:nvSpPr>
          <p:cNvPr id="16" name="Rectangle 15"/>
          <p:cNvSpPr/>
          <p:nvPr/>
        </p:nvSpPr>
        <p:spPr>
          <a:xfrm>
            <a:off x="228600" y="1783080"/>
            <a:ext cx="8686800" cy="274320"/>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2608" y="1828800"/>
            <a:ext cx="1609343"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Description</a:t>
            </a:r>
          </a:p>
        </p:txBody>
      </p:sp>
      <p:sp>
        <p:nvSpPr>
          <p:cNvPr id="18" name="TextBox 17"/>
          <p:cNvSpPr txBox="1"/>
          <p:nvPr/>
        </p:nvSpPr>
        <p:spPr>
          <a:xfrm>
            <a:off x="2029967" y="1828800"/>
            <a:ext cx="371246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Both GlobalIds, overlap volume in mm³, ratio</a:t>
            </a:r>
          </a:p>
        </p:txBody>
      </p:sp>
      <p:sp>
        <p:nvSpPr>
          <p:cNvPr id="19" name="TextBox 18"/>
          <p:cNvSpPr txBox="1"/>
          <p:nvPr/>
        </p:nvSpPr>
        <p:spPr>
          <a:xfrm>
            <a:off x="5870448" y="1828800"/>
            <a:ext cx="298094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ClashReport.description</a:t>
            </a:r>
          </a:p>
        </p:txBody>
      </p:sp>
      <p:sp>
        <p:nvSpPr>
          <p:cNvPr id="20" name="Rectangle 19"/>
          <p:cNvSpPr/>
          <p:nvPr/>
        </p:nvSpPr>
        <p:spPr>
          <a:xfrm>
            <a:off x="228600" y="2057400"/>
            <a:ext cx="8686800" cy="27432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92608" y="2103120"/>
            <a:ext cx="1609343"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Priority</a:t>
            </a:r>
          </a:p>
        </p:txBody>
      </p:sp>
      <p:sp>
        <p:nvSpPr>
          <p:cNvPr id="22" name="TextBox 21"/>
          <p:cNvSpPr txBox="1"/>
          <p:nvPr/>
        </p:nvSpPr>
        <p:spPr>
          <a:xfrm>
            <a:off x="2029967" y="2103120"/>
            <a:ext cx="371246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Critical / Major / Minor</a:t>
            </a:r>
          </a:p>
        </p:txBody>
      </p:sp>
      <p:sp>
        <p:nvSpPr>
          <p:cNvPr id="23" name="TextBox 22"/>
          <p:cNvSpPr txBox="1"/>
          <p:nvPr/>
        </p:nvSpPr>
        <p:spPr>
          <a:xfrm>
            <a:off x="5870448" y="2103120"/>
            <a:ext cx="298094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Severity band</a:t>
            </a:r>
          </a:p>
        </p:txBody>
      </p:sp>
      <p:sp>
        <p:nvSpPr>
          <p:cNvPr id="24" name="Rectangle 23"/>
          <p:cNvSpPr/>
          <p:nvPr/>
        </p:nvSpPr>
        <p:spPr>
          <a:xfrm>
            <a:off x="228600" y="2331720"/>
            <a:ext cx="8686800" cy="274320"/>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92608" y="2377439"/>
            <a:ext cx="1609343"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Due date</a:t>
            </a:r>
          </a:p>
        </p:txBody>
      </p:sp>
      <p:sp>
        <p:nvSpPr>
          <p:cNvPr id="26" name="TextBox 25"/>
          <p:cNvSpPr txBox="1"/>
          <p:nvPr/>
        </p:nvSpPr>
        <p:spPr>
          <a:xfrm>
            <a:off x="2029967" y="2377439"/>
            <a:ext cx="371246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2, 7 or 21 days by severity</a:t>
            </a:r>
          </a:p>
        </p:txBody>
      </p:sp>
      <p:sp>
        <p:nvSpPr>
          <p:cNvPr id="27" name="TextBox 26"/>
          <p:cNvSpPr txBox="1"/>
          <p:nvPr/>
        </p:nvSpPr>
        <p:spPr>
          <a:xfrm>
            <a:off x="5870448" y="2377439"/>
            <a:ext cx="298094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Banding table</a:t>
            </a:r>
          </a:p>
        </p:txBody>
      </p:sp>
      <p:sp>
        <p:nvSpPr>
          <p:cNvPr id="28" name="Rectangle 27"/>
          <p:cNvSpPr/>
          <p:nvPr/>
        </p:nvSpPr>
        <p:spPr>
          <a:xfrm>
            <a:off x="228600" y="2606040"/>
            <a:ext cx="8686800" cy="27432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92608" y="2651760"/>
            <a:ext cx="1609343"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Viewpoint</a:t>
            </a:r>
          </a:p>
        </p:txBody>
      </p:sp>
      <p:sp>
        <p:nvSpPr>
          <p:cNvPr id="30" name="TextBox 29"/>
          <p:cNvSpPr txBox="1"/>
          <p:nvPr/>
        </p:nvSpPr>
        <p:spPr>
          <a:xfrm>
            <a:off x="2029967" y="2651760"/>
            <a:ext cx="371246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Camera and component selection on the clash</a:t>
            </a:r>
          </a:p>
        </p:txBody>
      </p:sp>
      <p:sp>
        <p:nvSpPr>
          <p:cNvPr id="31" name="TextBox 30"/>
          <p:cNvSpPr txBox="1"/>
          <p:nvPr/>
        </p:nvSpPr>
        <p:spPr>
          <a:xfrm>
            <a:off x="5870448" y="2651760"/>
            <a:ext cx="298094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viewpoint.bcfv</a:t>
            </a:r>
          </a:p>
        </p:txBody>
      </p:sp>
      <p:sp>
        <p:nvSpPr>
          <p:cNvPr id="32" name="Rectangle 31"/>
          <p:cNvSpPr/>
          <p:nvPr/>
        </p:nvSpPr>
        <p:spPr>
          <a:xfrm>
            <a:off x="228600" y="2880360"/>
            <a:ext cx="8686800" cy="274320"/>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92608" y="2926080"/>
            <a:ext cx="1609343"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Labels</a:t>
            </a:r>
          </a:p>
        </p:txBody>
      </p:sp>
      <p:sp>
        <p:nvSpPr>
          <p:cNvPr id="34" name="TextBox 33"/>
          <p:cNvSpPr txBox="1"/>
          <p:nvPr/>
        </p:nvSpPr>
        <p:spPr>
          <a:xfrm>
            <a:off x="2029967" y="2926080"/>
            <a:ext cx="371246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blue_halo, seismic_bracing, brace type</a:t>
            </a:r>
          </a:p>
        </p:txBody>
      </p:sp>
      <p:sp>
        <p:nvSpPr>
          <p:cNvPr id="35" name="TextBox 34"/>
          <p:cNvSpPr txBox="1"/>
          <p:nvPr/>
        </p:nvSpPr>
        <p:spPr>
          <a:xfrm>
            <a:off x="5870448" y="2926080"/>
            <a:ext cx="298094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Topic labels</a:t>
            </a:r>
          </a:p>
        </p:txBody>
      </p:sp>
      <p:sp>
        <p:nvSpPr>
          <p:cNvPr id="36" name="TextBox 35"/>
          <p:cNvSpPr txBox="1"/>
          <p:nvPr/>
        </p:nvSpPr>
        <p:spPr>
          <a:xfrm>
            <a:off x="228600" y="3337560"/>
            <a:ext cx="8686800" cy="640080"/>
          </a:xfrm>
          <a:prstGeom prst="rect">
            <a:avLst/>
          </a:prstGeom>
          <a:noFill/>
        </p:spPr>
        <p:txBody>
          <a:bodyPr wrap="square" anchor="t" lIns="0" rIns="0" tIns="0" bIns="0">
            <a:spAutoFit/>
          </a:bodyPr>
          <a:lstStyle/>
          <a:p>
            <a:pPr algn="l">
              <a:lnSpc>
                <a:spcPct val="95000"/>
              </a:lnSpc>
            </a:pPr>
            <a:r>
              <a:rPr sz="1200" b="1">
                <a:solidFill>
                  <a:srgbClr val="1F3864"/>
                </a:solidFill>
                <a:latin typeface="Calibri"/>
              </a:rPr>
              <a:t>37 of 37 archives validated: every part well-formed, every topic folder complete.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A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Comparison to current practice</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The same conflict, found at two different prices</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2785872" cy="301752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234440"/>
            <a:ext cx="2785872" cy="64008"/>
          </a:xfrm>
          <a:prstGeom prst="rect">
            <a:avLst/>
          </a:prstGeom>
          <a:solidFill>
            <a:srgbClr val="A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8328" y="1417320"/>
            <a:ext cx="2566416" cy="420624"/>
          </a:xfrm>
          <a:prstGeom prst="rect">
            <a:avLst/>
          </a:prstGeom>
          <a:noFill/>
        </p:spPr>
        <p:txBody>
          <a:bodyPr wrap="square" anchor="t" lIns="0" rIns="0" tIns="0" bIns="0">
            <a:spAutoFit/>
          </a:bodyPr>
          <a:lstStyle/>
          <a:p>
            <a:pPr algn="l">
              <a:lnSpc>
                <a:spcPct val="100000"/>
              </a:lnSpc>
            </a:pPr>
            <a:r>
              <a:rPr sz="1200" b="1">
                <a:solidFill>
                  <a:srgbClr val="1F3864"/>
                </a:solidFill>
                <a:latin typeface="Calibri"/>
              </a:rPr>
              <a:t>Reactive — today</a:t>
            </a:r>
          </a:p>
        </p:txBody>
      </p:sp>
      <p:sp>
        <p:nvSpPr>
          <p:cNvPr id="11" name="TextBox 10"/>
          <p:cNvSpPr txBox="1"/>
          <p:nvPr/>
        </p:nvSpPr>
        <p:spPr>
          <a:xfrm>
            <a:off x="338328" y="1856232"/>
            <a:ext cx="2566416" cy="2286000"/>
          </a:xfrm>
          <a:prstGeom prst="rect">
            <a:avLst/>
          </a:prstGeom>
          <a:noFill/>
        </p:spPr>
        <p:txBody>
          <a:bodyPr wrap="square" anchor="t" lIns="0" rIns="0" tIns="0" bIns="0">
            <a:spAutoFit/>
          </a:bodyPr>
          <a:lstStyle/>
          <a:p>
            <a:pPr algn="l">
              <a:lnSpc>
                <a:spcPct val="95000"/>
              </a:lnSpc>
            </a:pPr>
            <a:r>
              <a:rPr sz="1050" b="0">
                <a:solidFill>
                  <a:srgbClr val="374151"/>
                </a:solidFill>
                <a:latin typeface="Calibri"/>
              </a:rPr>
              <a:t>Model services at LOD 300. Design supports at LOD 350. Run clash detection. Discover the support has no room. Reroute services that are already coordinated, re-issue, re-review.</a:t>
            </a:r>
          </a:p>
        </p:txBody>
      </p:sp>
      <p:sp>
        <p:nvSpPr>
          <p:cNvPr id="12" name="Rectangle 11"/>
          <p:cNvSpPr/>
          <p:nvPr/>
        </p:nvSpPr>
        <p:spPr>
          <a:xfrm>
            <a:off x="3179064" y="1234440"/>
            <a:ext cx="2785872" cy="301752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179064" y="1234440"/>
            <a:ext cx="2785872" cy="64008"/>
          </a:xfrm>
          <a:prstGeom prst="rect">
            <a:avLst/>
          </a:prstGeom>
          <a:solidFill>
            <a:srgbClr val="1E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88792" y="1417320"/>
            <a:ext cx="2566416" cy="420624"/>
          </a:xfrm>
          <a:prstGeom prst="rect">
            <a:avLst/>
          </a:prstGeom>
          <a:noFill/>
        </p:spPr>
        <p:txBody>
          <a:bodyPr wrap="square" anchor="t" lIns="0" rIns="0" tIns="0" bIns="0">
            <a:spAutoFit/>
          </a:bodyPr>
          <a:lstStyle/>
          <a:p>
            <a:pPr algn="l">
              <a:lnSpc>
                <a:spcPct val="100000"/>
              </a:lnSpc>
            </a:pPr>
            <a:r>
              <a:rPr sz="1200" b="1">
                <a:solidFill>
                  <a:srgbClr val="1F3864"/>
                </a:solidFill>
                <a:latin typeface="Calibri"/>
              </a:rPr>
              <a:t>Proactive — Blue Halo</a:t>
            </a:r>
          </a:p>
        </p:txBody>
      </p:sp>
      <p:sp>
        <p:nvSpPr>
          <p:cNvPr id="15" name="TextBox 14"/>
          <p:cNvSpPr txBox="1"/>
          <p:nvPr/>
        </p:nvSpPr>
        <p:spPr>
          <a:xfrm>
            <a:off x="3288792" y="1856232"/>
            <a:ext cx="2566416" cy="2286000"/>
          </a:xfrm>
          <a:prstGeom prst="rect">
            <a:avLst/>
          </a:prstGeom>
          <a:noFill/>
        </p:spPr>
        <p:txBody>
          <a:bodyPr wrap="square" anchor="t" lIns="0" rIns="0" tIns="0" bIns="0">
            <a:spAutoFit/>
          </a:bodyPr>
          <a:lstStyle/>
          <a:p>
            <a:pPr algn="l">
              <a:lnSpc>
                <a:spcPct val="95000"/>
              </a:lnSpc>
            </a:pPr>
            <a:r>
              <a:rPr sz="1050" b="0">
                <a:solidFill>
                  <a:srgbClr val="374151"/>
                </a:solidFill>
                <a:latin typeface="Calibri"/>
              </a:rPr>
              <a:t>Model services at LOD 300. Compute the support envelope from the jurisdiction rule. Publish it as a reserved volume. Conflicts surface while services are still cheap to move.</a:t>
            </a:r>
          </a:p>
        </p:txBody>
      </p:sp>
      <p:sp>
        <p:nvSpPr>
          <p:cNvPr id="16" name="Rectangle 15"/>
          <p:cNvSpPr/>
          <p:nvPr/>
        </p:nvSpPr>
        <p:spPr>
          <a:xfrm>
            <a:off x="6129528" y="1234440"/>
            <a:ext cx="2785872" cy="301752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9528" y="1234440"/>
            <a:ext cx="2785872" cy="6400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39256" y="1417320"/>
            <a:ext cx="2566416" cy="420624"/>
          </a:xfrm>
          <a:prstGeom prst="rect">
            <a:avLst/>
          </a:prstGeom>
          <a:noFill/>
        </p:spPr>
        <p:txBody>
          <a:bodyPr wrap="square" anchor="t" lIns="0" rIns="0" tIns="0" bIns="0">
            <a:spAutoFit/>
          </a:bodyPr>
          <a:lstStyle/>
          <a:p>
            <a:pPr algn="l">
              <a:lnSpc>
                <a:spcPct val="100000"/>
              </a:lnSpc>
            </a:pPr>
            <a:r>
              <a:rPr sz="1200" b="1">
                <a:solidFill>
                  <a:srgbClr val="1F3864"/>
                </a:solidFill>
                <a:latin typeface="Calibri"/>
              </a:rPr>
              <a:t>What changes</a:t>
            </a:r>
          </a:p>
        </p:txBody>
      </p:sp>
      <p:sp>
        <p:nvSpPr>
          <p:cNvPr id="19" name="TextBox 18"/>
          <p:cNvSpPr txBox="1"/>
          <p:nvPr/>
        </p:nvSpPr>
        <p:spPr>
          <a:xfrm>
            <a:off x="6239256" y="1856232"/>
            <a:ext cx="2566416" cy="2286000"/>
          </a:xfrm>
          <a:prstGeom prst="rect">
            <a:avLst/>
          </a:prstGeom>
          <a:noFill/>
        </p:spPr>
        <p:txBody>
          <a:bodyPr wrap="square" anchor="t" lIns="0" rIns="0" tIns="0" bIns="0">
            <a:spAutoFit/>
          </a:bodyPr>
          <a:lstStyle/>
          <a:p>
            <a:pPr algn="l">
              <a:lnSpc>
                <a:spcPct val="95000"/>
              </a:lnSpc>
            </a:pPr>
            <a:r>
              <a:rPr sz="1050" b="0">
                <a:solidFill>
                  <a:srgbClr val="374151"/>
                </a:solidFill>
                <a:latin typeface="Calibri"/>
              </a:rPr>
              <a:t>Not the conflict — the timing. The same geometric fact is surfaced one design stage earlier, before the coordination effort that makes it expensive to undo.</a:t>
            </a:r>
          </a:p>
        </p:txBody>
      </p:sp>
      <p:sp>
        <p:nvSpPr>
          <p:cNvPr id="20" name="TextBox 19"/>
          <p:cNvSpPr txBox="1"/>
          <p:nvPr/>
        </p:nvSpPr>
        <p:spPr>
          <a:xfrm>
            <a:off x="228600" y="4160520"/>
            <a:ext cx="8686800" cy="640080"/>
          </a:xfrm>
          <a:prstGeom prst="rect">
            <a:avLst/>
          </a:prstGeom>
          <a:noFill/>
        </p:spPr>
        <p:txBody>
          <a:bodyPr wrap="square" anchor="t" lIns="0" rIns="0" tIns="0" bIns="0">
            <a:spAutoFit/>
          </a:bodyPr>
          <a:lstStyle/>
          <a:p>
            <a:pPr algn="l">
              <a:lnSpc>
                <a:spcPct val="95000"/>
              </a:lnSpc>
            </a:pPr>
            <a:r>
              <a:rPr sz="1200" b="1">
                <a:solidFill>
                  <a:srgbClr val="1F3864"/>
                </a:solidFill>
                <a:latin typeface="Calibri"/>
              </a:rPr>
              <a:t>The corpus cannot price this: cost avoidance depends on project commercials the models do not carry. What it does establish is that the detection works at scale.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RQ2 — the spatial component answered</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Can proactive reservation work on real federated models?</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2011680" cy="137160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234440"/>
            <a:ext cx="2011680" cy="73152"/>
          </a:xfrm>
          <a:prstGeom prst="rect">
            <a:avLst/>
          </a:prstGeom>
          <a:solidFill>
            <a:srgbClr val="1E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1399032"/>
            <a:ext cx="1828800" cy="713232"/>
          </a:xfrm>
          <a:prstGeom prst="rect">
            <a:avLst/>
          </a:prstGeom>
          <a:noFill/>
        </p:spPr>
        <p:txBody>
          <a:bodyPr wrap="square" anchor="t" lIns="0" rIns="0" tIns="0" bIns="0">
            <a:spAutoFit/>
          </a:bodyPr>
          <a:lstStyle/>
          <a:p>
            <a:pPr algn="l">
              <a:lnSpc>
                <a:spcPct val="100000"/>
              </a:lnSpc>
            </a:pPr>
            <a:r>
              <a:rPr sz="3600" b="1">
                <a:solidFill>
                  <a:srgbClr val="1E7A4B"/>
                </a:solidFill>
                <a:latin typeface="Calibri"/>
              </a:rPr>
              <a:t>YES</a:t>
            </a:r>
          </a:p>
        </p:txBody>
      </p:sp>
      <p:sp>
        <p:nvSpPr>
          <p:cNvPr id="11" name="TextBox 10"/>
          <p:cNvSpPr txBox="1"/>
          <p:nvPr/>
        </p:nvSpPr>
        <p:spPr>
          <a:xfrm>
            <a:off x="320040" y="2112264"/>
            <a:ext cx="1828800" cy="438912"/>
          </a:xfrm>
          <a:prstGeom prst="rect">
            <a:avLst/>
          </a:prstGeom>
          <a:noFill/>
        </p:spPr>
        <p:txBody>
          <a:bodyPr wrap="square" anchor="t" lIns="0" rIns="0" tIns="0" bIns="0">
            <a:spAutoFit/>
          </a:bodyPr>
          <a:lstStyle/>
          <a:p>
            <a:pPr algn="l">
              <a:lnSpc>
                <a:spcPct val="95000"/>
              </a:lnSpc>
            </a:pPr>
            <a:r>
              <a:rPr sz="1100" b="0">
                <a:solidFill>
                  <a:srgbClr val="8896A6"/>
                </a:solidFill>
                <a:latin typeface="Calibri"/>
              </a:rPr>
              <a:t>demonstrated across
37 models</a:t>
            </a:r>
          </a:p>
        </p:txBody>
      </p:sp>
      <p:sp>
        <p:nvSpPr>
          <p:cNvPr id="12" name="Rectangle 11"/>
          <p:cNvSpPr/>
          <p:nvPr/>
        </p:nvSpPr>
        <p:spPr>
          <a:xfrm>
            <a:off x="2423160" y="1234440"/>
            <a:ext cx="2011680" cy="137160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423160" y="1234440"/>
            <a:ext cx="2011680" cy="73152"/>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14600" y="1399032"/>
            <a:ext cx="1828800" cy="713232"/>
          </a:xfrm>
          <a:prstGeom prst="rect">
            <a:avLst/>
          </a:prstGeom>
          <a:noFill/>
        </p:spPr>
        <p:txBody>
          <a:bodyPr wrap="square" anchor="t" lIns="0" rIns="0" tIns="0" bIns="0">
            <a:spAutoFit/>
          </a:bodyPr>
          <a:lstStyle/>
          <a:p>
            <a:pPr algn="l">
              <a:lnSpc>
                <a:spcPct val="100000"/>
              </a:lnSpc>
            </a:pPr>
            <a:r>
              <a:rPr sz="3600" b="1">
                <a:solidFill>
                  <a:srgbClr val="00B4D8"/>
                </a:solidFill>
                <a:latin typeface="Calibri"/>
              </a:rPr>
              <a:t>100%</a:t>
            </a:r>
          </a:p>
        </p:txBody>
      </p:sp>
      <p:sp>
        <p:nvSpPr>
          <p:cNvPr id="15" name="TextBox 14"/>
          <p:cNvSpPr txBox="1"/>
          <p:nvPr/>
        </p:nvSpPr>
        <p:spPr>
          <a:xfrm>
            <a:off x="2514600" y="2112264"/>
            <a:ext cx="1828800" cy="438912"/>
          </a:xfrm>
          <a:prstGeom prst="rect">
            <a:avLst/>
          </a:prstGeom>
          <a:noFill/>
        </p:spPr>
        <p:txBody>
          <a:bodyPr wrap="square" anchor="t" lIns="0" rIns="0" tIns="0" bIns="0">
            <a:spAutoFit/>
          </a:bodyPr>
          <a:lstStyle/>
          <a:p>
            <a:pPr algn="l">
              <a:lnSpc>
                <a:spcPct val="95000"/>
              </a:lnSpc>
            </a:pPr>
            <a:r>
              <a:rPr sz="1100" b="0">
                <a:solidFill>
                  <a:srgbClr val="8896A6"/>
                </a:solidFill>
                <a:latin typeface="Calibri"/>
              </a:rPr>
              <a:t>geometry resolution
no fallback needed</a:t>
            </a:r>
          </a:p>
        </p:txBody>
      </p:sp>
      <p:sp>
        <p:nvSpPr>
          <p:cNvPr id="16" name="Rectangle 15"/>
          <p:cNvSpPr/>
          <p:nvPr/>
        </p:nvSpPr>
        <p:spPr>
          <a:xfrm>
            <a:off x="4617720" y="1234440"/>
            <a:ext cx="2011680" cy="137160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17720" y="1234440"/>
            <a:ext cx="2011680" cy="73152"/>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09160" y="1399032"/>
            <a:ext cx="1828800" cy="713232"/>
          </a:xfrm>
          <a:prstGeom prst="rect">
            <a:avLst/>
          </a:prstGeom>
          <a:noFill/>
        </p:spPr>
        <p:txBody>
          <a:bodyPr wrap="square" anchor="t" lIns="0" rIns="0" tIns="0" bIns="0">
            <a:spAutoFit/>
          </a:bodyPr>
          <a:lstStyle/>
          <a:p>
            <a:pPr algn="l">
              <a:lnSpc>
                <a:spcPct val="100000"/>
              </a:lnSpc>
            </a:pPr>
            <a:r>
              <a:rPr sz="3600" b="1">
                <a:solidFill>
                  <a:srgbClr val="2E75B6"/>
                </a:solidFill>
                <a:latin typeface="Calibri"/>
              </a:rPr>
              <a:t>0.00% / 0.11%</a:t>
            </a:r>
          </a:p>
        </p:txBody>
      </p:sp>
      <p:sp>
        <p:nvSpPr>
          <p:cNvPr id="19" name="TextBox 18"/>
          <p:cNvSpPr txBox="1"/>
          <p:nvPr/>
        </p:nvSpPr>
        <p:spPr>
          <a:xfrm>
            <a:off x="4709160" y="2112264"/>
            <a:ext cx="1828800" cy="438912"/>
          </a:xfrm>
          <a:prstGeom prst="rect">
            <a:avLst/>
          </a:prstGeom>
          <a:noFill/>
        </p:spPr>
        <p:txBody>
          <a:bodyPr wrap="square" anchor="t" lIns="0" rIns="0" tIns="0" bIns="0">
            <a:spAutoFit/>
          </a:bodyPr>
          <a:lstStyle/>
          <a:p>
            <a:pPr algn="l">
              <a:lnSpc>
                <a:spcPct val="95000"/>
              </a:lnSpc>
            </a:pPr>
            <a:r>
              <a:rPr sz="1100" b="0">
                <a:solidFill>
                  <a:srgbClr val="8896A6"/>
                </a:solidFill>
                <a:latin typeface="Calibri"/>
              </a:rPr>
              <a:t>schema twin
deltas</a:t>
            </a:r>
          </a:p>
        </p:txBody>
      </p:sp>
      <p:sp>
        <p:nvSpPr>
          <p:cNvPr id="20" name="Rectangle 19"/>
          <p:cNvSpPr/>
          <p:nvPr/>
        </p:nvSpPr>
        <p:spPr>
          <a:xfrm>
            <a:off x="6812280" y="1234440"/>
            <a:ext cx="2011680" cy="137160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812280" y="1234440"/>
            <a:ext cx="2011680" cy="7315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03720" y="1399032"/>
            <a:ext cx="1828800" cy="713232"/>
          </a:xfrm>
          <a:prstGeom prst="rect">
            <a:avLst/>
          </a:prstGeom>
          <a:noFill/>
        </p:spPr>
        <p:txBody>
          <a:bodyPr wrap="square" anchor="t" lIns="0" rIns="0" tIns="0" bIns="0">
            <a:spAutoFit/>
          </a:bodyPr>
          <a:lstStyle/>
          <a:p>
            <a:pPr algn="l">
              <a:lnSpc>
                <a:spcPct val="100000"/>
              </a:lnSpc>
            </a:pPr>
            <a:r>
              <a:rPr sz="3600" b="1">
                <a:solidFill>
                  <a:srgbClr val="1F3864"/>
                </a:solidFill>
                <a:latin typeface="Calibri"/>
              </a:rPr>
              <a:t>223,516</a:t>
            </a:r>
          </a:p>
        </p:txBody>
      </p:sp>
      <p:sp>
        <p:nvSpPr>
          <p:cNvPr id="23" name="TextBox 22"/>
          <p:cNvSpPr txBox="1"/>
          <p:nvPr/>
        </p:nvSpPr>
        <p:spPr>
          <a:xfrm>
            <a:off x="6903720" y="2112264"/>
            <a:ext cx="1828800" cy="438912"/>
          </a:xfrm>
          <a:prstGeom prst="rect">
            <a:avLst/>
          </a:prstGeom>
          <a:noFill/>
        </p:spPr>
        <p:txBody>
          <a:bodyPr wrap="square" anchor="t" lIns="0" rIns="0" tIns="0" bIns="0">
            <a:spAutoFit/>
          </a:bodyPr>
          <a:lstStyle/>
          <a:p>
            <a:pPr algn="l">
              <a:lnSpc>
                <a:spcPct val="95000"/>
              </a:lnSpc>
            </a:pPr>
            <a:r>
              <a:rPr sz="1100" b="0">
                <a:solidFill>
                  <a:srgbClr val="8896A6"/>
                </a:solidFill>
                <a:latin typeface="Calibri"/>
              </a:rPr>
              <a:t>clashes detected
and exported</a:t>
            </a:r>
          </a:p>
        </p:txBody>
      </p:sp>
      <p:sp>
        <p:nvSpPr>
          <p:cNvPr id="24" name="Rectangle 23"/>
          <p:cNvSpPr/>
          <p:nvPr/>
        </p:nvSpPr>
        <p:spPr>
          <a:xfrm>
            <a:off x="228600" y="2788920"/>
            <a:ext cx="8686800" cy="100584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28600" y="2788920"/>
            <a:ext cx="64008" cy="100584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56616" y="288036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What the evidence supports</a:t>
            </a:r>
          </a:p>
        </p:txBody>
      </p:sp>
      <p:sp>
        <p:nvSpPr>
          <p:cNvPr id="27" name="TextBox 26"/>
          <p:cNvSpPr txBox="1"/>
          <p:nvPr/>
        </p:nvSpPr>
        <p:spPr>
          <a:xfrm>
            <a:off x="356616" y="3154679"/>
            <a:ext cx="8485632" cy="566928"/>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Halo generation and clash detection are deterministic, schema-independent and scale to the largest models in the corpus. What the corpus cannot yet support is brace-family differentiation, because the SB-001 config does not distinguish clearance by hardware. The method is validated; that particular comparison is not.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Key findings</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What the corpus established</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234440"/>
            <a:ext cx="64008" cy="804672"/>
          </a:xfrm>
          <a:prstGeom prst="rect">
            <a:avLst/>
          </a:prstGeom>
          <a:solidFill>
            <a:srgbClr val="1E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 y="132588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Geometry is not the obstacle</a:t>
            </a:r>
          </a:p>
        </p:txBody>
      </p:sp>
      <p:sp>
        <p:nvSpPr>
          <p:cNvPr id="11" name="TextBox 10"/>
          <p:cNvSpPr txBox="1"/>
          <p:nvPr/>
        </p:nvSpPr>
        <p:spPr>
          <a:xfrm>
            <a:off x="356616" y="16002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100% resolution across both IFC schemas and three authoring toolchains, using the full geometry iterator rather than a vertex shortcut.</a:t>
            </a:r>
          </a:p>
        </p:txBody>
      </p:sp>
      <p:sp>
        <p:nvSpPr>
          <p:cNvPr id="12" name="Rectangle 11"/>
          <p:cNvSpPr/>
          <p:nvPr/>
        </p:nvSpPr>
        <p:spPr>
          <a:xfrm>
            <a:off x="228600" y="2148840"/>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28600" y="2148840"/>
            <a:ext cx="64008" cy="804672"/>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6616" y="224028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The result is schema-independent</a:t>
            </a:r>
          </a:p>
        </p:txBody>
      </p:sp>
      <p:sp>
        <p:nvSpPr>
          <p:cNvPr id="15" name="TextBox 14"/>
          <p:cNvSpPr txBox="1"/>
          <p:nvPr/>
        </p:nvSpPr>
        <p:spPr>
          <a:xfrm>
            <a:off x="356616" y="25146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Same-building twins in IFC2x3 and IFC4 produced identical and near-identical clash counts — 0.00% and 0.11% apart.</a:t>
            </a:r>
          </a:p>
        </p:txBody>
      </p:sp>
      <p:sp>
        <p:nvSpPr>
          <p:cNvPr id="16" name="Rectangle 15"/>
          <p:cNvSpPr/>
          <p:nvPr/>
        </p:nvSpPr>
        <p:spPr>
          <a:xfrm>
            <a:off x="228600" y="3063240"/>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28600" y="3063240"/>
            <a:ext cx="64008" cy="804672"/>
          </a:xfrm>
          <a:prstGeom prst="rect">
            <a:avLst/>
          </a:prstGeom>
          <a:solidFill>
            <a:srgbClr val="A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6616" y="315468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Clearance choice dominates the outcome</a:t>
            </a:r>
          </a:p>
        </p:txBody>
      </p:sp>
      <p:sp>
        <p:nvSpPr>
          <p:cNvPr id="19" name="TextBox 18"/>
          <p:cNvSpPr txBox="1"/>
          <p:nvPr/>
        </p:nvSpPr>
        <p:spPr>
          <a:xfrm>
            <a:off x="356616" y="34290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A 2× clearance change moves total clashes by 2× and Critical count in the opposite direction. The clearance value is the most consequential input.</a:t>
            </a:r>
          </a:p>
        </p:txBody>
      </p:sp>
      <p:sp>
        <p:nvSpPr>
          <p:cNvPr id="20" name="Rectangle 19"/>
          <p:cNvSpPr/>
          <p:nvPr/>
        </p:nvSpPr>
        <p:spPr>
          <a:xfrm>
            <a:off x="228600" y="3977639"/>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28600" y="3977639"/>
            <a:ext cx="64008" cy="80467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6616" y="4069079"/>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Severity needs a standards basis</a:t>
            </a:r>
          </a:p>
        </p:txBody>
      </p:sp>
      <p:sp>
        <p:nvSpPr>
          <p:cNvPr id="23" name="TextBox 22"/>
          <p:cNvSpPr txBox="1"/>
          <p:nvPr/>
        </p:nvSpPr>
        <p:spPr>
          <a:xfrm>
            <a:off x="356616" y="43434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Overlap ratio is defensible as triage and indefensible as a verdict. R4 addresses it.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5138928"/>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737360"/>
            <a:ext cx="8412480" cy="822960"/>
          </a:xfrm>
          <a:prstGeom prst="rect">
            <a:avLst/>
          </a:prstGeom>
          <a:noFill/>
        </p:spPr>
        <p:txBody>
          <a:bodyPr wrap="square" anchor="t" lIns="0" rIns="0" tIns="0" bIns="0">
            <a:spAutoFit/>
          </a:bodyPr>
          <a:lstStyle/>
          <a:p>
            <a:pPr algn="l">
              <a:lnSpc>
                <a:spcPct val="100000"/>
              </a:lnSpc>
            </a:pPr>
            <a:r>
              <a:rPr sz="4400" b="1">
                <a:solidFill>
                  <a:srgbClr val="FFFFFF"/>
                </a:solidFill>
                <a:latin typeface="Calibri"/>
              </a:rPr>
              <a:t>Blue Halo Clearance Algorithm</a:t>
            </a:r>
          </a:p>
        </p:txBody>
      </p:sp>
      <p:sp>
        <p:nvSpPr>
          <p:cNvPr id="5" name="Rectangle 4"/>
          <p:cNvSpPr/>
          <p:nvPr/>
        </p:nvSpPr>
        <p:spPr>
          <a:xfrm>
            <a:off x="365760" y="2651760"/>
            <a:ext cx="4114800" cy="18288"/>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834640"/>
            <a:ext cx="8412480" cy="457200"/>
          </a:xfrm>
          <a:prstGeom prst="rect">
            <a:avLst/>
          </a:prstGeom>
          <a:noFill/>
        </p:spPr>
        <p:txBody>
          <a:bodyPr wrap="square" anchor="t" lIns="0" rIns="0" tIns="0" bIns="0">
            <a:spAutoFit/>
          </a:bodyPr>
          <a:lstStyle/>
          <a:p>
            <a:pPr algn="l">
              <a:lnSpc>
                <a:spcPct val="100000"/>
              </a:lnSpc>
            </a:pPr>
            <a:r>
              <a:rPr sz="2200" b="0">
                <a:solidFill>
                  <a:srgbClr val="00B4D8"/>
                </a:solidFill>
                <a:latin typeface="Calibri"/>
              </a:rPr>
              <a:t>Questions?</a:t>
            </a:r>
          </a:p>
        </p:txBody>
      </p:sp>
      <p:sp>
        <p:nvSpPr>
          <p:cNvPr id="7" name="TextBox 6"/>
          <p:cNvSpPr txBox="1"/>
          <p:nvPr/>
        </p:nvSpPr>
        <p:spPr>
          <a:xfrm>
            <a:off x="228600" y="4416552"/>
            <a:ext cx="8686800" cy="228600"/>
          </a:xfrm>
          <a:prstGeom prst="rect">
            <a:avLst/>
          </a:prstGeom>
          <a:noFill/>
        </p:spPr>
        <p:txBody>
          <a:bodyPr wrap="square" anchor="t" lIns="0" rIns="0" tIns="0" bIns="0">
            <a:spAutoFit/>
          </a:bodyPr>
          <a:lstStyle/>
          <a:p>
            <a:pPr algn="l">
              <a:lnSpc>
                <a:spcPct val="100000"/>
              </a:lnSpc>
            </a:pPr>
            <a:r>
              <a:rPr sz="900" b="0">
                <a:solidFill>
                  <a:srgbClr val="8896A6"/>
                </a:solidFill>
                <a:latin typeface="Calibri"/>
              </a:rPr>
              <a:t>BIMGUARD AI  |  Final Master Project  |  Zigurat Global Institute of Technology  |  Group 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BIMGUARD AI — Final Master Project</dc:title>
  <dc:subject>Automated BIM Corrosion Compliance Checker</dc:subject>
  <dc:creator>Group 5 — Zigurat Global Institute of Technology</dc:creator>
  <cp:lastModifiedBy>Group 5 — Zigurat Global Institute of Technology</cp:lastModifiedBy>
  <cp:revision>1</cp:revision>
  <dcterms:created xsi:type="dcterms:W3CDTF">2026-04-08T17:11:49Z</dcterms:created>
  <dcterms:modified xsi:type="dcterms:W3CDTF">2026-04-08T17:11:49Z</dcterms:modified>
</cp:coreProperties>
</file>