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 id="276" r:id="rId4"/>
    <p:sldId id="277" r:id="rId3"/>
    <p:sldId id="278" r:id="rId2"/>
    <p:sldId id="279" r:id="rId30"/>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822960"/>
            <a:ext cx="8412480" cy="1097280"/>
          </a:xfrm>
          <a:prstGeom prst="rect">
            <a:avLst/>
          </a:prstGeom>
          <a:noFill/>
        </p:spPr>
        <p:txBody>
          <a:bodyPr wrap="square" anchor="t" lIns="0" rIns="0" tIns="0" bIns="0">
            <a:spAutoFit/>
          </a:bodyPr>
          <a:lstStyle/>
          <a:p>
            <a:pPr algn="l">
              <a:lnSpc>
                <a:spcPct val="100000"/>
              </a:lnSpc>
            </a:pPr>
            <a:r>
              <a:rPr sz="5400" b="1">
                <a:solidFill>
                  <a:srgbClr val="FFFFFF"/>
                </a:solidFill>
                <a:latin typeface="Calibri"/>
              </a:rPr>
              <a:t>BIMGUARD AI</a:t>
            </a:r>
          </a:p>
        </p:txBody>
      </p:sp>
      <p:sp>
        <p:nvSpPr>
          <p:cNvPr id="5" name="TextBox 4"/>
          <p:cNvSpPr txBox="1"/>
          <p:nvPr/>
        </p:nvSpPr>
        <p:spPr>
          <a:xfrm>
            <a:off x="365760" y="1920240"/>
            <a:ext cx="8412480" cy="502920"/>
          </a:xfrm>
          <a:prstGeom prst="rect">
            <a:avLst/>
          </a:prstGeom>
          <a:noFill/>
        </p:spPr>
        <p:txBody>
          <a:bodyPr wrap="square" anchor="t" lIns="0" rIns="0" tIns="0" bIns="0">
            <a:spAutoFit/>
          </a:bodyPr>
          <a:lstStyle/>
          <a:p>
            <a:pPr algn="l">
              <a:lnSpc>
                <a:spcPct val="100000"/>
              </a:lnSpc>
            </a:pPr>
            <a:r>
              <a:rPr sz="2200" b="0">
                <a:solidFill>
                  <a:srgbClr val="00B4D8"/>
                </a:solidFill>
                <a:latin typeface="Calibri"/>
              </a:rPr>
              <a:t>Automated OpenBIM Compliance Across Disciplines</a:t>
            </a:r>
          </a:p>
        </p:txBody>
      </p:sp>
      <p:sp>
        <p:nvSpPr>
          <p:cNvPr id="6" name="TextBox 5"/>
          <p:cNvSpPr txBox="1"/>
          <p:nvPr/>
        </p:nvSpPr>
        <p:spPr>
          <a:xfrm>
            <a:off x="365760" y="2514600"/>
            <a:ext cx="8412480" cy="365760"/>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OpenBIM  ·  IFC ISO 16739-1  ·  BCF 2.1  ·  ISO 19650  ·  Building Safety Act 2022</a:t>
            </a:r>
          </a:p>
        </p:txBody>
      </p:sp>
      <p:sp>
        <p:nvSpPr>
          <p:cNvPr id="7" name="Rectangle 6"/>
          <p:cNvSpPr/>
          <p:nvPr/>
        </p:nvSpPr>
        <p:spPr>
          <a:xfrm>
            <a:off x="365760" y="2944368"/>
            <a:ext cx="4114800" cy="1828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3108960"/>
            <a:ext cx="8412480" cy="548640"/>
          </a:xfrm>
          <a:prstGeom prst="rect">
            <a:avLst/>
          </a:prstGeom>
          <a:noFill/>
        </p:spPr>
        <p:txBody>
          <a:bodyPr wrap="square" anchor="t" lIns="0" rIns="0" tIns="0" bIns="0">
            <a:spAutoFit/>
          </a:bodyPr>
          <a:lstStyle/>
          <a:p>
            <a:pPr algn="l">
              <a:lnSpc>
                <a:spcPct val="100000"/>
              </a:lnSpc>
            </a:pPr>
            <a:r>
              <a:rPr sz="1200" b="0">
                <a:solidFill>
                  <a:srgbClr val="FFFFFF"/>
                </a:solidFill>
                <a:latin typeface="Calibri"/>
              </a:rPr>
              <a:t>Five corrosion engines  ·  One spatial engine  ·  Validated across 37 models from 8 repositories</a:t>
            </a:r>
          </a:p>
        </p:txBody>
      </p:sp>
      <p:sp>
        <p:nvSpPr>
          <p:cNvPr id="9" name="TextBox 8"/>
          <p:cNvSpPr txBox="1"/>
          <p:nvPr/>
        </p:nvSpPr>
        <p:spPr>
          <a:xfrm>
            <a:off x="228600" y="4416552"/>
            <a:ext cx="8686800" cy="22860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BIMGUARD AI  |  Final Master Project  |  Zigurat Global Institute of Technology  |  Group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The problem BIM cannot currently solve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Corrosion is predictable, preventable, and unchecked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1F3864"/>
                </a:solidFill>
                <a:latin typeface="Calibri"/>
              </a:rPr>
              <a:t>3.4%</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of global GDP lost to
corrosion annually</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6–10×</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cost multiplier: field
versus design-stage fix</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0</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existing BIM tools that
check corrosion in IFC</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854F0B"/>
                </a:solidFill>
                <a:latin typeface="Calibri"/>
              </a:rPr>
              <a:t>0 pts</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Golden Thread evidence
without this work</a:t>
            </a:r>
          </a:p>
        </p:txBody>
      </p:sp>
      <p:sp>
        <p:nvSpPr>
          <p:cNvPr id="24" name="TextBox 23"/>
          <p:cNvSpPr txBox="1"/>
          <p:nvPr/>
        </p:nvSpPr>
        <p:spPr>
          <a:xfrm>
            <a:off x="228600" y="278892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Clash detection resolves geometry. Two touching elements of incompatible material, or a stainless grade wrong for its environment, produce a clash-free model and a failure in service.</a:t>
            </a:r>
          </a:p>
        </p:txBody>
      </p:sp>
      <p:sp>
        <p:nvSpPr>
          <p:cNvPr id="25" name="TextBox 24"/>
          <p:cNvSpPr txBox="1"/>
          <p:nvPr/>
        </p:nvSpPr>
        <p:spPr>
          <a:xfrm>
            <a:off x="228600" y="365760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BIMGUARD AI closes that gap using data already present in the model at LOD 300 — no additional modelling effort required.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Three research questions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academic scope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102412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10241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RQ1  —  Detection from existing IFC data</a:t>
            </a:r>
          </a:p>
        </p:txBody>
      </p:sp>
      <p:sp>
        <p:nvSpPr>
          <p:cNvPr id="11" name="TextBox 10"/>
          <p:cNvSpPr txBox="1"/>
          <p:nvPr/>
        </p:nvSpPr>
        <p:spPr>
          <a:xfrm>
            <a:off x="356616" y="1600200"/>
            <a:ext cx="8485632" cy="585216"/>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Can corrosion risk in MEP services be reliably identified from material, spatial and zone metadata already present at LOD 300?</a:t>
            </a:r>
          </a:p>
        </p:txBody>
      </p:sp>
      <p:sp>
        <p:nvSpPr>
          <p:cNvPr id="12" name="Rectangle 11"/>
          <p:cNvSpPr/>
          <p:nvPr/>
        </p:nvSpPr>
        <p:spPr>
          <a:xfrm>
            <a:off x="228600" y="2395728"/>
            <a:ext cx="8686800" cy="102412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395728"/>
            <a:ext cx="64008" cy="10241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487168"/>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RQ2  —  Simultaneous multi-mechanism checking</a:t>
            </a:r>
          </a:p>
        </p:txBody>
      </p:sp>
      <p:sp>
        <p:nvSpPr>
          <p:cNvPr id="15" name="TextBox 14"/>
          <p:cNvSpPr txBox="1"/>
          <p:nvPr/>
        </p:nvSpPr>
        <p:spPr>
          <a:xfrm>
            <a:off x="356616" y="2761488"/>
            <a:ext cx="8485632" cy="585216"/>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Can several mechanisms be evaluated in one pass, each reporting failures the others cannot see, rather than collapsing into a single score?</a:t>
            </a:r>
          </a:p>
        </p:txBody>
      </p:sp>
      <p:sp>
        <p:nvSpPr>
          <p:cNvPr id="16" name="Rectangle 15"/>
          <p:cNvSpPr/>
          <p:nvPr/>
        </p:nvSpPr>
        <p:spPr>
          <a:xfrm>
            <a:off x="228600" y="3557016"/>
            <a:ext cx="8686800" cy="102412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557016"/>
            <a:ext cx="64008" cy="10241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648456"/>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RQ3  —  OpenBIM cross-platform deployment</a:t>
            </a:r>
          </a:p>
        </p:txBody>
      </p:sp>
      <p:sp>
        <p:nvSpPr>
          <p:cNvPr id="19" name="TextBox 18"/>
          <p:cNvSpPr txBox="1"/>
          <p:nvPr/>
        </p:nvSpPr>
        <p:spPr>
          <a:xfrm>
            <a:off x="356616" y="3922776"/>
            <a:ext cx="8485632" cy="585216"/>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Can a checker operating purely on IFC input and BCF output work across authoring tools with no vendor plugin or proprietary API?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The compliance pipeline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Five stages, each failing independently and saying why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30175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512063" cy="228600"/>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Stage</a:t>
            </a:r>
          </a:p>
        </p:txBody>
      </p:sp>
      <p:sp>
        <p:nvSpPr>
          <p:cNvPr id="10" name="TextBox 9"/>
          <p:cNvSpPr txBox="1"/>
          <p:nvPr/>
        </p:nvSpPr>
        <p:spPr>
          <a:xfrm>
            <a:off x="932688" y="1280160"/>
            <a:ext cx="4992624" cy="228600"/>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Function</a:t>
            </a:r>
          </a:p>
        </p:txBody>
      </p:sp>
      <p:sp>
        <p:nvSpPr>
          <p:cNvPr id="11" name="TextBox 10"/>
          <p:cNvSpPr txBox="1"/>
          <p:nvPr/>
        </p:nvSpPr>
        <p:spPr>
          <a:xfrm>
            <a:off x="6053328" y="1280160"/>
            <a:ext cx="2798064" cy="228600"/>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Status</a:t>
            </a:r>
          </a:p>
        </p:txBody>
      </p:sp>
      <p:sp>
        <p:nvSpPr>
          <p:cNvPr id="12" name="Rectangle 11"/>
          <p:cNvSpPr/>
          <p:nvPr/>
        </p:nvSpPr>
        <p:spPr>
          <a:xfrm>
            <a:off x="228600" y="1536192"/>
            <a:ext cx="8686800" cy="30175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81912"/>
            <a:ext cx="512063"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a:t>
            </a:r>
          </a:p>
        </p:txBody>
      </p:sp>
      <p:sp>
        <p:nvSpPr>
          <p:cNvPr id="14" name="TextBox 13"/>
          <p:cNvSpPr txBox="1"/>
          <p:nvPr/>
        </p:nvSpPr>
        <p:spPr>
          <a:xfrm>
            <a:off x="932688" y="1581912"/>
            <a:ext cx="4992624"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Geometry normalisation and spatial filter</a:t>
            </a:r>
          </a:p>
        </p:txBody>
      </p:sp>
      <p:sp>
        <p:nvSpPr>
          <p:cNvPr id="15" name="TextBox 14"/>
          <p:cNvSpPr txBox="1"/>
          <p:nvPr/>
        </p:nvSpPr>
        <p:spPr>
          <a:xfrm>
            <a:off x="6053328" y="1581912"/>
            <a:ext cx="2798064" cy="228600"/>
          </a:xfrm>
          <a:prstGeom prst="rect">
            <a:avLst/>
          </a:prstGeom>
          <a:noFill/>
        </p:spPr>
        <p:txBody>
          <a:bodyPr wrap="square" anchor="t" lIns="0" rIns="0" tIns="0" bIns="0">
            <a:spAutoFit/>
          </a:bodyPr>
          <a:lstStyle/>
          <a:p>
            <a:pPr algn="l">
              <a:lnSpc>
                <a:spcPct val="100000"/>
              </a:lnSpc>
            </a:pPr>
            <a:r>
              <a:rPr sz="1100" b="0">
                <a:solidFill>
                  <a:srgbClr val="1E7A4B"/>
                </a:solidFill>
                <a:latin typeface="Calibri"/>
              </a:rPr>
              <a:t>Implemented, 100% resolution</a:t>
            </a:r>
          </a:p>
        </p:txBody>
      </p:sp>
      <p:sp>
        <p:nvSpPr>
          <p:cNvPr id="16" name="Rectangle 15"/>
          <p:cNvSpPr/>
          <p:nvPr/>
        </p:nvSpPr>
        <p:spPr>
          <a:xfrm>
            <a:off x="228600" y="1837944"/>
            <a:ext cx="8686800" cy="301752"/>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83664"/>
            <a:ext cx="512063"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a:t>
            </a:r>
          </a:p>
        </p:txBody>
      </p:sp>
      <p:sp>
        <p:nvSpPr>
          <p:cNvPr id="18" name="TextBox 17"/>
          <p:cNvSpPr txBox="1"/>
          <p:nvPr/>
        </p:nvSpPr>
        <p:spPr>
          <a:xfrm>
            <a:off x="932688" y="1883664"/>
            <a:ext cx="4992624"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Blue Halo clearance envelope (LOD 350 reservation)</a:t>
            </a:r>
          </a:p>
        </p:txBody>
      </p:sp>
      <p:sp>
        <p:nvSpPr>
          <p:cNvPr id="19" name="TextBox 18"/>
          <p:cNvSpPr txBox="1"/>
          <p:nvPr/>
        </p:nvSpPr>
        <p:spPr>
          <a:xfrm>
            <a:off x="6053328" y="1883664"/>
            <a:ext cx="2798064" cy="228600"/>
          </a:xfrm>
          <a:prstGeom prst="rect">
            <a:avLst/>
          </a:prstGeom>
          <a:noFill/>
        </p:spPr>
        <p:txBody>
          <a:bodyPr wrap="square" anchor="t" lIns="0" rIns="0" tIns="0" bIns="0">
            <a:spAutoFit/>
          </a:bodyPr>
          <a:lstStyle/>
          <a:p>
            <a:pPr algn="l">
              <a:lnSpc>
                <a:spcPct val="100000"/>
              </a:lnSpc>
            </a:pPr>
            <a:r>
              <a:rPr sz="1100" b="0">
                <a:solidFill>
                  <a:srgbClr val="1E7A4B"/>
                </a:solidFill>
                <a:latin typeface="Calibri"/>
              </a:rPr>
              <a:t>Implemented, validated</a:t>
            </a:r>
          </a:p>
        </p:txBody>
      </p:sp>
      <p:sp>
        <p:nvSpPr>
          <p:cNvPr id="20" name="Rectangle 19"/>
          <p:cNvSpPr/>
          <p:nvPr/>
        </p:nvSpPr>
        <p:spPr>
          <a:xfrm>
            <a:off x="228600" y="2139696"/>
            <a:ext cx="8686800" cy="30175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85416"/>
            <a:ext cx="512063"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a:t>
            </a:r>
          </a:p>
        </p:txBody>
      </p:sp>
      <p:sp>
        <p:nvSpPr>
          <p:cNvPr id="22" name="TextBox 21"/>
          <p:cNvSpPr txBox="1"/>
          <p:nvPr/>
        </p:nvSpPr>
        <p:spPr>
          <a:xfrm>
            <a:off x="932688" y="2185416"/>
            <a:ext cx="4992624"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Corrosion engines: GC-001, CC-001, MC-001, MM-001, XM-001</a:t>
            </a:r>
          </a:p>
        </p:txBody>
      </p:sp>
      <p:sp>
        <p:nvSpPr>
          <p:cNvPr id="23" name="TextBox 22"/>
          <p:cNvSpPr txBox="1"/>
          <p:nvPr/>
        </p:nvSpPr>
        <p:spPr>
          <a:xfrm>
            <a:off x="6053328" y="2185416"/>
            <a:ext cx="2798064" cy="228600"/>
          </a:xfrm>
          <a:prstGeom prst="rect">
            <a:avLst/>
          </a:prstGeom>
          <a:noFill/>
        </p:spPr>
        <p:txBody>
          <a:bodyPr wrap="square" anchor="t" lIns="0" rIns="0" tIns="0" bIns="0">
            <a:spAutoFit/>
          </a:bodyPr>
          <a:lstStyle/>
          <a:p>
            <a:pPr algn="l">
              <a:lnSpc>
                <a:spcPct val="100000"/>
              </a:lnSpc>
            </a:pPr>
            <a:r>
              <a:rPr sz="1100" b="0">
                <a:solidFill>
                  <a:srgbClr val="854F0B"/>
                </a:solidFill>
                <a:latin typeface="Calibri"/>
              </a:rPr>
              <a:t>3 of 5 execute; 2 not wired</a:t>
            </a:r>
          </a:p>
        </p:txBody>
      </p:sp>
      <p:sp>
        <p:nvSpPr>
          <p:cNvPr id="24" name="Rectangle 23"/>
          <p:cNvSpPr/>
          <p:nvPr/>
        </p:nvSpPr>
        <p:spPr>
          <a:xfrm>
            <a:off x="228600" y="2441448"/>
            <a:ext cx="8686800" cy="301752"/>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487168"/>
            <a:ext cx="512063"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a:t>
            </a:r>
          </a:p>
        </p:txBody>
      </p:sp>
      <p:sp>
        <p:nvSpPr>
          <p:cNvPr id="26" name="TextBox 25"/>
          <p:cNvSpPr txBox="1"/>
          <p:nvPr/>
        </p:nvSpPr>
        <p:spPr>
          <a:xfrm>
            <a:off x="932688" y="2487168"/>
            <a:ext cx="4992624"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Resolution hierarchy and mitigation ranking</a:t>
            </a:r>
          </a:p>
        </p:txBody>
      </p:sp>
      <p:sp>
        <p:nvSpPr>
          <p:cNvPr id="27" name="TextBox 26"/>
          <p:cNvSpPr txBox="1"/>
          <p:nvPr/>
        </p:nvSpPr>
        <p:spPr>
          <a:xfrm>
            <a:off x="6053328" y="2487168"/>
            <a:ext cx="2798064" cy="228600"/>
          </a:xfrm>
          <a:prstGeom prst="rect">
            <a:avLst/>
          </a:prstGeom>
          <a:noFill/>
        </p:spPr>
        <p:txBody>
          <a:bodyPr wrap="square" anchor="t" lIns="0" rIns="0" tIns="0" bIns="0">
            <a:spAutoFit/>
          </a:bodyPr>
          <a:lstStyle/>
          <a:p>
            <a:pPr algn="l">
              <a:lnSpc>
                <a:spcPct val="100000"/>
              </a:lnSpc>
            </a:pPr>
            <a:r>
              <a:rPr sz="1100" b="0">
                <a:solidFill>
                  <a:srgbClr val="854F0B"/>
                </a:solidFill>
                <a:latin typeface="Calibri"/>
              </a:rPr>
              <a:t>Designed</a:t>
            </a:r>
          </a:p>
        </p:txBody>
      </p:sp>
      <p:sp>
        <p:nvSpPr>
          <p:cNvPr id="28" name="Rectangle 27"/>
          <p:cNvSpPr/>
          <p:nvPr/>
        </p:nvSpPr>
        <p:spPr>
          <a:xfrm>
            <a:off x="228600" y="2743200"/>
            <a:ext cx="8686800" cy="30175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788920"/>
            <a:ext cx="512063"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5</a:t>
            </a:r>
          </a:p>
        </p:txBody>
      </p:sp>
      <p:sp>
        <p:nvSpPr>
          <p:cNvPr id="30" name="TextBox 29"/>
          <p:cNvSpPr txBox="1"/>
          <p:nvPr/>
        </p:nvSpPr>
        <p:spPr>
          <a:xfrm>
            <a:off x="932688" y="2788920"/>
            <a:ext cx="4992624" cy="228600"/>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Reporting: BCF 2.1, Pset write-back, ISO 19650 status</a:t>
            </a:r>
          </a:p>
        </p:txBody>
      </p:sp>
      <p:sp>
        <p:nvSpPr>
          <p:cNvPr id="31" name="TextBox 30"/>
          <p:cNvSpPr txBox="1"/>
          <p:nvPr/>
        </p:nvSpPr>
        <p:spPr>
          <a:xfrm>
            <a:off x="6053328" y="2788920"/>
            <a:ext cx="2798064" cy="228600"/>
          </a:xfrm>
          <a:prstGeom prst="rect">
            <a:avLst/>
          </a:prstGeom>
          <a:noFill/>
        </p:spPr>
        <p:txBody>
          <a:bodyPr wrap="square" anchor="t" lIns="0" rIns="0" tIns="0" bIns="0">
            <a:spAutoFit/>
          </a:bodyPr>
          <a:lstStyle/>
          <a:p>
            <a:pPr algn="l">
              <a:lnSpc>
                <a:spcPct val="100000"/>
              </a:lnSpc>
            </a:pPr>
            <a:r>
              <a:rPr sz="1100" b="0">
                <a:solidFill>
                  <a:srgbClr val="1E7A4B"/>
                </a:solidFill>
                <a:latin typeface="Calibri"/>
              </a:rPr>
              <a:t>Implemented, 37/37 valid</a:t>
            </a:r>
          </a:p>
        </p:txBody>
      </p:sp>
      <p:sp>
        <p:nvSpPr>
          <p:cNvPr id="32" name="TextBox 31"/>
          <p:cNvSpPr txBox="1"/>
          <p:nvPr/>
        </p:nvSpPr>
        <p:spPr>
          <a:xfrm>
            <a:off x="228600" y="301752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The architectural ruleset (AR-001 – AR-006) is specified as a sixth family and is not implemented; it is presented separately as design scope.</a:t>
            </a:r>
          </a:p>
        </p:txBody>
      </p:sp>
      <p:sp>
        <p:nvSpPr>
          <p:cNvPr id="33" name="TextBox 32"/>
          <p:cNvSpPr txBox="1"/>
          <p:nvPr/>
        </p:nvSpPr>
        <p:spPr>
          <a:xfrm>
            <a:off x="228600" y="3749039"/>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Stage 3's status is stated in thesis §13.9: the MM-001 and XM-001 packs are approved but not wired into the comparator.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Engine A — GC-001 galvanic corrosion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Material incompatibility at a joint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80160"/>
            <a:ext cx="8686800" cy="65836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44751"/>
            <a:ext cx="8503920" cy="384048"/>
          </a:xfrm>
          <a:prstGeom prst="rect">
            <a:avLst/>
          </a:prstGeom>
          <a:noFill/>
        </p:spPr>
        <p:txBody>
          <a:bodyPr wrap="square" anchor="t" lIns="0" rIns="0" tIns="0" bIns="0">
            <a:spAutoFit/>
          </a:bodyPr>
          <a:lstStyle/>
          <a:p>
            <a:pPr algn="ctr">
              <a:lnSpc>
                <a:spcPct val="100000"/>
              </a:lnSpc>
            </a:pPr>
            <a:r>
              <a:rPr sz="1800" b="1">
                <a:solidFill>
                  <a:srgbClr val="1F3864"/>
                </a:solidFill>
                <a:latin typeface="Calibri"/>
              </a:rPr>
              <a:t>Score  =  (0.50 × voltage)  +  (0.30 × area ratio)  +  (0.20 × environment)</a:t>
            </a:r>
          </a:p>
        </p:txBody>
      </p:sp>
      <p:sp>
        <p:nvSpPr>
          <p:cNvPr id="10" name="Rectangle 9"/>
          <p:cNvSpPr/>
          <p:nvPr/>
        </p:nvSpPr>
        <p:spPr>
          <a:xfrm>
            <a:off x="228600" y="2148840"/>
            <a:ext cx="2785872" cy="132588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2148840"/>
            <a:ext cx="2785872"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 y="23317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Specified</a:t>
            </a:r>
          </a:p>
        </p:txBody>
      </p:sp>
      <p:sp>
        <p:nvSpPr>
          <p:cNvPr id="13" name="TextBox 12"/>
          <p:cNvSpPr txBox="1"/>
          <p:nvPr/>
        </p:nvSpPr>
        <p:spPr>
          <a:xfrm>
            <a:off x="338328" y="2770632"/>
            <a:ext cx="2566416" cy="594359"/>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22-material electrochemical series, 7 environment classes, PREN adequacy for stainless grades. Thresholds from NASA-STD-6012, WorldStainless and IMOA.</a:t>
            </a:r>
          </a:p>
        </p:txBody>
      </p:sp>
      <p:sp>
        <p:nvSpPr>
          <p:cNvPr id="14" name="Rectangle 13"/>
          <p:cNvSpPr/>
          <p:nvPr/>
        </p:nvSpPr>
        <p:spPr>
          <a:xfrm>
            <a:off x="3179064" y="2148840"/>
            <a:ext cx="2785872" cy="132588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79064" y="2148840"/>
            <a:ext cx="2785872" cy="6400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8792" y="23317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Implemented</a:t>
            </a:r>
          </a:p>
        </p:txBody>
      </p:sp>
      <p:sp>
        <p:nvSpPr>
          <p:cNvPr id="17" name="TextBox 16"/>
          <p:cNvSpPr txBox="1"/>
          <p:nvPr/>
        </p:nvSpPr>
        <p:spPr>
          <a:xfrm>
            <a:off x="3288792" y="2770632"/>
            <a:ext cx="2566416" cy="594359"/>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Executes on all 37 models. Produces bands and writes BCF topics and Pset_CorrosionRisk.</a:t>
            </a:r>
          </a:p>
        </p:txBody>
      </p:sp>
      <p:sp>
        <p:nvSpPr>
          <p:cNvPr id="18" name="Rectangle 17"/>
          <p:cNvSpPr/>
          <p:nvPr/>
        </p:nvSpPr>
        <p:spPr>
          <a:xfrm>
            <a:off x="6129528" y="2148840"/>
            <a:ext cx="2785872" cy="132588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9528" y="2148840"/>
            <a:ext cx="2785872" cy="6400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9256" y="23317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Measured</a:t>
            </a:r>
          </a:p>
        </p:txBody>
      </p:sp>
      <p:sp>
        <p:nvSpPr>
          <p:cNvPr id="21" name="TextBox 20"/>
          <p:cNvSpPr txBox="1"/>
          <p:nvPr/>
        </p:nvSpPr>
        <p:spPr>
          <a:xfrm>
            <a:off x="6239256" y="2770632"/>
            <a:ext cx="2566416" cy="594359"/>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0 of 116,006 elements flagged. Required inputs present on 8 elements — 0.007% coverage.</a:t>
            </a:r>
          </a:p>
        </p:txBody>
      </p:sp>
      <p:sp>
        <p:nvSpPr>
          <p:cNvPr id="22" name="TextBox 21"/>
          <p:cNvSpPr txBox="1"/>
          <p:nvPr/>
        </p:nvSpPr>
        <p:spPr>
          <a:xfrm>
            <a:off x="228600" y="361188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The single-element entry point pairs each element with itself, so no couple is ever formed. Recorded as a specification-against-implementation gap.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Engine B — CC-001 crevice corrosion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Geometry the galvanic check cannot see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80160"/>
            <a:ext cx="8686800" cy="65836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44751"/>
            <a:ext cx="8503920" cy="384048"/>
          </a:xfrm>
          <a:prstGeom prst="rect">
            <a:avLst/>
          </a:prstGeom>
          <a:noFill/>
        </p:spPr>
        <p:txBody>
          <a:bodyPr wrap="square" anchor="t" lIns="0" rIns="0" tIns="0" bIns="0">
            <a:spAutoFit/>
          </a:bodyPr>
          <a:lstStyle/>
          <a:p>
            <a:pPr algn="ctr">
              <a:lnSpc>
                <a:spcPct val="100000"/>
              </a:lnSpc>
            </a:pPr>
            <a:r>
              <a:rPr sz="1800" b="1">
                <a:solidFill>
                  <a:srgbClr val="1F3864"/>
                </a:solidFill>
                <a:latin typeface="Calibri"/>
              </a:rPr>
              <a:t>Score  =  (0.35 × geometry)  +  (0.40 × CCT margin)  +  (0.25 × environment)</a:t>
            </a:r>
          </a:p>
        </p:txBody>
      </p:sp>
      <p:sp>
        <p:nvSpPr>
          <p:cNvPr id="10" name="Rectangle 9"/>
          <p:cNvSpPr/>
          <p:nvPr/>
        </p:nvSpPr>
        <p:spPr>
          <a:xfrm>
            <a:off x="228600" y="2148840"/>
            <a:ext cx="2785872" cy="132588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2148840"/>
            <a:ext cx="2785872"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 y="23317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Specified</a:t>
            </a:r>
          </a:p>
        </p:txBody>
      </p:sp>
      <p:sp>
        <p:nvSpPr>
          <p:cNvPr id="13" name="TextBox 12"/>
          <p:cNvSpPr txBox="1"/>
          <p:nvPr/>
        </p:nvSpPr>
        <p:spPr>
          <a:xfrm>
            <a:off x="338328" y="2770632"/>
            <a:ext cx="2566416" cy="594359"/>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Crevice Corrosion Temperature table from SS304 to Titanium Gr 2; 14-type joint geometry library from butt weld to threaded connection — seeded but never executed: every joint scores JT-014 Unknown (Tight).</a:t>
            </a:r>
          </a:p>
        </p:txBody>
      </p:sp>
      <p:sp>
        <p:nvSpPr>
          <p:cNvPr id="14" name="Rectangle 13"/>
          <p:cNvSpPr/>
          <p:nvPr/>
        </p:nvSpPr>
        <p:spPr>
          <a:xfrm>
            <a:off x="3179064" y="2148840"/>
            <a:ext cx="2785872" cy="132588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79064" y="2148840"/>
            <a:ext cx="2785872" cy="6400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8792" y="23317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Implemented</a:t>
            </a:r>
          </a:p>
        </p:txBody>
      </p:sp>
      <p:sp>
        <p:nvSpPr>
          <p:cNvPr id="17" name="TextBox 16"/>
          <p:cNvSpPr txBox="1"/>
          <p:nvPr/>
        </p:nvSpPr>
        <p:spPr>
          <a:xfrm>
            <a:off x="3288792" y="2770632"/>
            <a:ext cx="2566416" cy="594359"/>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Executes on all 37 models and emits its own BCF topics, independent of GC-001.</a:t>
            </a:r>
          </a:p>
        </p:txBody>
      </p:sp>
      <p:sp>
        <p:nvSpPr>
          <p:cNvPr id="18" name="Rectangle 17"/>
          <p:cNvSpPr/>
          <p:nvPr/>
        </p:nvSpPr>
        <p:spPr>
          <a:xfrm>
            <a:off x="6129528" y="2148840"/>
            <a:ext cx="2785872" cy="132588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9528" y="2148840"/>
            <a:ext cx="2785872" cy="6400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9256" y="23317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Measured</a:t>
            </a:r>
          </a:p>
        </p:txBody>
      </p:sp>
      <p:sp>
        <p:nvSpPr>
          <p:cNvPr id="21" name="TextBox 20"/>
          <p:cNvSpPr txBox="1"/>
          <p:nvPr/>
        </p:nvSpPr>
        <p:spPr>
          <a:xfrm>
            <a:off x="6239256" y="2770632"/>
            <a:ext cx="2566416" cy="594359"/>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116,006 of 116,006 flagged — 100%. Band floor is Medium; an absent material scores High.</a:t>
            </a:r>
          </a:p>
        </p:txBody>
      </p:sp>
      <p:sp>
        <p:nvSpPr>
          <p:cNvPr id="22" name="TextBox 21"/>
          <p:cNvSpPr txBox="1"/>
          <p:nvPr/>
        </p:nvSpPr>
        <p:spPr>
          <a:xfrm>
            <a:off x="228600" y="361188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A 100% flag rate with 0% input coverage is the same fact twice: the coercer substitutes a default and the engine scores the default, uniformly.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Engine C — Blue Halo spatial reservation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engine the corpus validates cleanly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49,736</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MEP elements
100% geometry</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223,516</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clashes detected
and exported</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37 / 37</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BCF archives
fully valid</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1F3864"/>
                </a:solidFill>
                <a:latin typeface="Calibri"/>
              </a:rPr>
              <a:t>0.00%</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schema twin
delta</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Why this one holds up</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Blue Halo depends on geometry, which real exports reliably carry, rather than on semantic property data, which they do not. Every MEP element resolved. Same-building twins in IFC2x3 and IFC4 produced identical and near-identical clash counts, so the result is schema-independent.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Engines D and E — MM-001 and XM-001</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Approved specification, not wired to the comparator</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What is approved</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MM-001 holds a 12-material by 8-media compatibility matrix; XM-001 scores the galvanic couple at a joint between dissimilar modelled elements. Both packs are reviewed at v1.0 with recorded amendments.</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What executes</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Neither. load_rule_pack() rejects the approved packs because the shipped comparators validate an earlier schema — MM-001 on compatibility_matrix, media, environments and materials; XM-001 on couples, materials and environment_thresholds.</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Corroborated independently</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unit suites fail at fixture setup for the same reason: 3 of 29 MM-001 tests and 1 of 39 XM-001 tests execute. The validation sweep and the test suite reached the same conclusion by different routes.</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Recorded, not concealed</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Thesis §13.9 and Table 13.13 state this term by term: 'no claim in this chapter should be read as asserting' that the wiring exists.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When mechanisms disagree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Why separate engines rather than one score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0.00</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GC-001 band
no couple exists</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0.89</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CC-001 band
chloride at the gasket</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854F0B"/>
                </a:solidFill>
                <a:latin typeface="Calibri"/>
              </a:rPr>
              <a:t>E7</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pool plant
1.8× multiplier</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CRITICAL</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combined band
higher of the two</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SS316 flange in a pool plant room</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 single material, so no galvanic couple and nothing for GC-001 to report. Under the gasket face, chloride concentrates in the crevice at E7 and CC-001 scores it Critical. One element, one engine correctly silent, the other decisive. A single combined score would have averaged the finding away.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Validation at corpus scale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37 models, 8 repositories, two IFC schemas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651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24942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Measure</a:t>
            </a:r>
          </a:p>
        </p:txBody>
      </p:sp>
      <p:sp>
        <p:nvSpPr>
          <p:cNvPr id="10" name="TextBox 9"/>
          <p:cNvSpPr txBox="1"/>
          <p:nvPr/>
        </p:nvSpPr>
        <p:spPr>
          <a:xfrm>
            <a:off x="2670048" y="1280160"/>
            <a:ext cx="1975103"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Result</a:t>
            </a:r>
          </a:p>
        </p:txBody>
      </p:sp>
      <p:sp>
        <p:nvSpPr>
          <p:cNvPr id="11" name="TextBox 10"/>
          <p:cNvSpPr txBox="1"/>
          <p:nvPr/>
        </p:nvSpPr>
        <p:spPr>
          <a:xfrm>
            <a:off x="4773168" y="1280160"/>
            <a:ext cx="407822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Note</a:t>
            </a:r>
          </a:p>
        </p:txBody>
      </p:sp>
      <p:sp>
        <p:nvSpPr>
          <p:cNvPr id="12" name="Rectangle 11"/>
          <p:cNvSpPr/>
          <p:nvPr/>
        </p:nvSpPr>
        <p:spPr>
          <a:xfrm>
            <a:off x="228600" y="1499616"/>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45336"/>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Models processed</a:t>
            </a:r>
          </a:p>
        </p:txBody>
      </p:sp>
      <p:sp>
        <p:nvSpPr>
          <p:cNvPr id="14" name="TextBox 13"/>
          <p:cNvSpPr txBox="1"/>
          <p:nvPr/>
        </p:nvSpPr>
        <p:spPr>
          <a:xfrm>
            <a:off x="2670048" y="1545336"/>
            <a:ext cx="197510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37 of 38</a:t>
            </a:r>
          </a:p>
        </p:txBody>
      </p:sp>
      <p:sp>
        <p:nvSpPr>
          <p:cNvPr id="15" name="TextBox 14"/>
          <p:cNvSpPr txBox="1"/>
          <p:nvPr/>
        </p:nvSpPr>
        <p:spPr>
          <a:xfrm>
            <a:off x="4773168" y="1545336"/>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One IFC2X2_FINAL, unsupported by IfcOpenShell</a:t>
            </a:r>
          </a:p>
        </p:txBody>
      </p:sp>
      <p:sp>
        <p:nvSpPr>
          <p:cNvPr id="16" name="Rectangle 15"/>
          <p:cNvSpPr/>
          <p:nvPr/>
        </p:nvSpPr>
        <p:spPr>
          <a:xfrm>
            <a:off x="228600" y="1764792"/>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10512"/>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MEP elements</a:t>
            </a:r>
          </a:p>
        </p:txBody>
      </p:sp>
      <p:sp>
        <p:nvSpPr>
          <p:cNvPr id="18" name="TextBox 17"/>
          <p:cNvSpPr txBox="1"/>
          <p:nvPr/>
        </p:nvSpPr>
        <p:spPr>
          <a:xfrm>
            <a:off x="2670048" y="1810512"/>
            <a:ext cx="197510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49,736</a:t>
            </a:r>
          </a:p>
        </p:txBody>
      </p:sp>
      <p:sp>
        <p:nvSpPr>
          <p:cNvPr id="19" name="TextBox 18"/>
          <p:cNvSpPr txBox="1"/>
          <p:nvPr/>
        </p:nvSpPr>
        <p:spPr>
          <a:xfrm>
            <a:off x="4773168" y="1810512"/>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100% geometry resolution</a:t>
            </a:r>
          </a:p>
        </p:txBody>
      </p:sp>
      <p:sp>
        <p:nvSpPr>
          <p:cNvPr id="20" name="Rectangle 19"/>
          <p:cNvSpPr/>
          <p:nvPr/>
        </p:nvSpPr>
        <p:spPr>
          <a:xfrm>
            <a:off x="228600" y="2029968"/>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075688"/>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Structural elements</a:t>
            </a:r>
          </a:p>
        </p:txBody>
      </p:sp>
      <p:sp>
        <p:nvSpPr>
          <p:cNvPr id="22" name="TextBox 21"/>
          <p:cNvSpPr txBox="1"/>
          <p:nvPr/>
        </p:nvSpPr>
        <p:spPr>
          <a:xfrm>
            <a:off x="2670048" y="2075688"/>
            <a:ext cx="197510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26,970</a:t>
            </a:r>
          </a:p>
        </p:txBody>
      </p:sp>
      <p:sp>
        <p:nvSpPr>
          <p:cNvPr id="23" name="TextBox 22"/>
          <p:cNvSpPr txBox="1"/>
          <p:nvPr/>
        </p:nvSpPr>
        <p:spPr>
          <a:xfrm>
            <a:off x="4773168" y="2075688"/>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26,808 resolved (99.4%)</a:t>
            </a:r>
          </a:p>
        </p:txBody>
      </p:sp>
      <p:sp>
        <p:nvSpPr>
          <p:cNvPr id="24" name="Rectangle 23"/>
          <p:cNvSpPr/>
          <p:nvPr/>
        </p:nvSpPr>
        <p:spPr>
          <a:xfrm>
            <a:off x="228600" y="2295144"/>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340863"/>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Clashes detected</a:t>
            </a:r>
          </a:p>
        </p:txBody>
      </p:sp>
      <p:sp>
        <p:nvSpPr>
          <p:cNvPr id="26" name="TextBox 25"/>
          <p:cNvSpPr txBox="1"/>
          <p:nvPr/>
        </p:nvSpPr>
        <p:spPr>
          <a:xfrm>
            <a:off x="2670048" y="2340863"/>
            <a:ext cx="197510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223,516</a:t>
            </a:r>
          </a:p>
        </p:txBody>
      </p:sp>
      <p:sp>
        <p:nvSpPr>
          <p:cNvPr id="27" name="TextBox 26"/>
          <p:cNvSpPr txBox="1"/>
          <p:nvPr/>
        </p:nvSpPr>
        <p:spPr>
          <a:xfrm>
            <a:off x="4773168" y="2340863"/>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211,581 minor / 6,699 major / 5,236 critical</a:t>
            </a:r>
          </a:p>
        </p:txBody>
      </p:sp>
      <p:sp>
        <p:nvSpPr>
          <p:cNvPr id="28" name="Rectangle 27"/>
          <p:cNvSpPr/>
          <p:nvPr/>
        </p:nvSpPr>
        <p:spPr>
          <a:xfrm>
            <a:off x="228600" y="2560320"/>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06039"/>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Piping elements scored</a:t>
            </a:r>
          </a:p>
        </p:txBody>
      </p:sp>
      <p:sp>
        <p:nvSpPr>
          <p:cNvPr id="30" name="TextBox 29"/>
          <p:cNvSpPr txBox="1"/>
          <p:nvPr/>
        </p:nvSpPr>
        <p:spPr>
          <a:xfrm>
            <a:off x="2670048" y="2606039"/>
            <a:ext cx="197510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116,006</a:t>
            </a:r>
          </a:p>
        </p:txBody>
      </p:sp>
      <p:sp>
        <p:nvSpPr>
          <p:cNvPr id="31" name="TextBox 30"/>
          <p:cNvSpPr txBox="1"/>
          <p:nvPr/>
        </p:nvSpPr>
        <p:spPr>
          <a:xfrm>
            <a:off x="4773168" y="2606039"/>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38,012 carry material text</a:t>
            </a:r>
          </a:p>
        </p:txBody>
      </p:sp>
      <p:sp>
        <p:nvSpPr>
          <p:cNvPr id="32" name="Rectangle 31"/>
          <p:cNvSpPr/>
          <p:nvPr/>
        </p:nvSpPr>
        <p:spPr>
          <a:xfrm>
            <a:off x="228600" y="2825496"/>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871215"/>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Scoreable material</a:t>
            </a:r>
          </a:p>
        </p:txBody>
      </p:sp>
      <p:sp>
        <p:nvSpPr>
          <p:cNvPr id="34" name="TextBox 33"/>
          <p:cNvSpPr txBox="1"/>
          <p:nvPr/>
        </p:nvSpPr>
        <p:spPr>
          <a:xfrm>
            <a:off x="2670048" y="2871215"/>
            <a:ext cx="1975103" cy="192023"/>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2,403 (2.07%)</a:t>
            </a:r>
          </a:p>
        </p:txBody>
      </p:sp>
      <p:sp>
        <p:nvSpPr>
          <p:cNvPr id="35" name="TextBox 34"/>
          <p:cNvSpPr txBox="1"/>
          <p:nvPr/>
        </p:nvSpPr>
        <p:spPr>
          <a:xfrm>
            <a:off x="4773168" y="2871215"/>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Normalise to a canonical key</a:t>
            </a:r>
          </a:p>
        </p:txBody>
      </p:sp>
      <p:sp>
        <p:nvSpPr>
          <p:cNvPr id="36" name="Rectangle 35"/>
          <p:cNvSpPr/>
          <p:nvPr/>
        </p:nvSpPr>
        <p:spPr>
          <a:xfrm>
            <a:off x="228600" y="3090672"/>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2608" y="3136391"/>
            <a:ext cx="22494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BCF archives valid</a:t>
            </a:r>
          </a:p>
        </p:txBody>
      </p:sp>
      <p:sp>
        <p:nvSpPr>
          <p:cNvPr id="38" name="TextBox 37"/>
          <p:cNvSpPr txBox="1"/>
          <p:nvPr/>
        </p:nvSpPr>
        <p:spPr>
          <a:xfrm>
            <a:off x="2670048" y="3136391"/>
            <a:ext cx="197510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37 of 37</a:t>
            </a:r>
          </a:p>
        </p:txBody>
      </p:sp>
      <p:sp>
        <p:nvSpPr>
          <p:cNvPr id="39" name="TextBox 38"/>
          <p:cNvSpPr txBox="1"/>
          <p:nvPr/>
        </p:nvSpPr>
        <p:spPr>
          <a:xfrm>
            <a:off x="4773168" y="3136391"/>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Every XML part parsed, every topic complete</a:t>
            </a:r>
          </a:p>
        </p:txBody>
      </p:sp>
      <p:sp>
        <p:nvSpPr>
          <p:cNvPr id="40" name="TextBox 39"/>
          <p:cNvSpPr txBox="1"/>
          <p:nvPr/>
        </p:nvSpPr>
        <p:spPr>
          <a:xfrm>
            <a:off x="228600" y="342900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Sweep wall-clock 3,594 s, mean 97 s per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Material text is not material data</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measurement that reframes the result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1F3864"/>
                </a:solidFill>
                <a:latin typeface="Calibri"/>
              </a:rPr>
              <a:t>116,006</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piping elements
scored</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854F0B"/>
                </a:solidFill>
                <a:latin typeface="Calibri"/>
              </a:rPr>
              <a:t>38,012</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carry some
material string</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2,403</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normalise to a
scoreable key</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2.07%</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usable material
coverage</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16× gap</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35,609 elements carry material text the normaliser cannot map, so the engines still receive 'Unknown'. Reporting the 32.8% figure as coverage overstates usable data roughly sixteenfold. This distinction is the single easiest way to misread the corpus, and it is why every engine result is published beside its input coverage.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Standards sensitivity</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Clearance choice dominates the outcome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8346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1193888"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Clearance</a:t>
            </a:r>
          </a:p>
        </p:txBody>
      </p:sp>
      <p:sp>
        <p:nvSpPr>
          <p:cNvPr id="10" name="TextBox 9"/>
          <p:cNvSpPr txBox="1"/>
          <p:nvPr/>
        </p:nvSpPr>
        <p:spPr>
          <a:xfrm>
            <a:off x="1614512" y="1280160"/>
            <a:ext cx="2893479"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Jurisdiction</a:t>
            </a:r>
          </a:p>
        </p:txBody>
      </p:sp>
      <p:sp>
        <p:nvSpPr>
          <p:cNvPr id="11" name="TextBox 10"/>
          <p:cNvSpPr txBox="1"/>
          <p:nvPr/>
        </p:nvSpPr>
        <p:spPr>
          <a:xfrm>
            <a:off x="4636008" y="1280160"/>
            <a:ext cx="1571575"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Clashes</a:t>
            </a:r>
          </a:p>
        </p:txBody>
      </p:sp>
      <p:sp>
        <p:nvSpPr>
          <p:cNvPr id="12" name="TextBox 11"/>
          <p:cNvSpPr txBox="1"/>
          <p:nvPr/>
        </p:nvSpPr>
        <p:spPr>
          <a:xfrm>
            <a:off x="6335599" y="1280160"/>
            <a:ext cx="1193888"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Critical</a:t>
            </a:r>
          </a:p>
        </p:txBody>
      </p:sp>
      <p:sp>
        <p:nvSpPr>
          <p:cNvPr id="13" name="TextBox 12"/>
          <p:cNvSpPr txBox="1"/>
          <p:nvPr/>
        </p:nvSpPr>
        <p:spPr>
          <a:xfrm>
            <a:off x="7657503" y="1280160"/>
            <a:ext cx="1193888"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Ratio</a:t>
            </a:r>
          </a:p>
        </p:txBody>
      </p:sp>
      <p:sp>
        <p:nvSpPr>
          <p:cNvPr id="14" name="Rectangle 13"/>
          <p:cNvSpPr/>
          <p:nvPr/>
        </p:nvSpPr>
        <p:spPr>
          <a:xfrm>
            <a:off x="228600" y="1517904"/>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563624"/>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25 mm</a:t>
            </a:r>
          </a:p>
        </p:txBody>
      </p:sp>
      <p:sp>
        <p:nvSpPr>
          <p:cNvPr id="16" name="TextBox 15"/>
          <p:cNvSpPr txBox="1"/>
          <p:nvPr/>
        </p:nvSpPr>
        <p:spPr>
          <a:xfrm>
            <a:off x="1614512" y="1563624"/>
            <a:ext cx="2893479"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17" name="TextBox 16"/>
          <p:cNvSpPr txBox="1"/>
          <p:nvPr/>
        </p:nvSpPr>
        <p:spPr>
          <a:xfrm>
            <a:off x="4636008" y="1563624"/>
            <a:ext cx="1571575"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30,332</a:t>
            </a:r>
          </a:p>
        </p:txBody>
      </p:sp>
      <p:sp>
        <p:nvSpPr>
          <p:cNvPr id="18" name="TextBox 17"/>
          <p:cNvSpPr txBox="1"/>
          <p:nvPr/>
        </p:nvSpPr>
        <p:spPr>
          <a:xfrm>
            <a:off x="6335599" y="1563624"/>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148</a:t>
            </a:r>
          </a:p>
        </p:txBody>
      </p:sp>
      <p:sp>
        <p:nvSpPr>
          <p:cNvPr id="19" name="TextBox 18"/>
          <p:cNvSpPr txBox="1"/>
          <p:nvPr/>
        </p:nvSpPr>
        <p:spPr>
          <a:xfrm>
            <a:off x="7657503" y="1563624"/>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0.29×</a:t>
            </a:r>
          </a:p>
        </p:txBody>
      </p:sp>
      <p:sp>
        <p:nvSpPr>
          <p:cNvPr id="20" name="Rectangle 19"/>
          <p:cNvSpPr/>
          <p:nvPr/>
        </p:nvSpPr>
        <p:spPr>
          <a:xfrm>
            <a:off x="228600" y="1801368"/>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1847088"/>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100 mm</a:t>
            </a:r>
          </a:p>
        </p:txBody>
      </p:sp>
      <p:sp>
        <p:nvSpPr>
          <p:cNvPr id="22" name="TextBox 21"/>
          <p:cNvSpPr txBox="1"/>
          <p:nvPr/>
        </p:nvSpPr>
        <p:spPr>
          <a:xfrm>
            <a:off x="1614512" y="1847088"/>
            <a:ext cx="2893479"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23" name="TextBox 22"/>
          <p:cNvSpPr txBox="1"/>
          <p:nvPr/>
        </p:nvSpPr>
        <p:spPr>
          <a:xfrm>
            <a:off x="4636008" y="1847088"/>
            <a:ext cx="1571575"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69,307</a:t>
            </a:r>
          </a:p>
        </p:txBody>
      </p:sp>
      <p:sp>
        <p:nvSpPr>
          <p:cNvPr id="24" name="TextBox 23"/>
          <p:cNvSpPr txBox="1"/>
          <p:nvPr/>
        </p:nvSpPr>
        <p:spPr>
          <a:xfrm>
            <a:off x="6335599" y="1847088"/>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38</a:t>
            </a:r>
          </a:p>
        </p:txBody>
      </p:sp>
      <p:sp>
        <p:nvSpPr>
          <p:cNvPr id="25" name="TextBox 24"/>
          <p:cNvSpPr txBox="1"/>
          <p:nvPr/>
        </p:nvSpPr>
        <p:spPr>
          <a:xfrm>
            <a:off x="7657503" y="1847088"/>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0.67×</a:t>
            </a:r>
          </a:p>
        </p:txBody>
      </p:sp>
      <p:sp>
        <p:nvSpPr>
          <p:cNvPr id="26" name="Rectangle 25"/>
          <p:cNvSpPr/>
          <p:nvPr/>
        </p:nvSpPr>
        <p:spPr>
          <a:xfrm>
            <a:off x="228600" y="2084832"/>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2130552"/>
            <a:ext cx="1193888"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200 mm</a:t>
            </a:r>
          </a:p>
        </p:txBody>
      </p:sp>
      <p:sp>
        <p:nvSpPr>
          <p:cNvPr id="28" name="TextBox 27"/>
          <p:cNvSpPr txBox="1"/>
          <p:nvPr/>
        </p:nvSpPr>
        <p:spPr>
          <a:xfrm>
            <a:off x="1614512" y="2130552"/>
            <a:ext cx="2893479"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SB-001 authored calibration¹</a:t>
            </a:r>
          </a:p>
        </p:txBody>
      </p:sp>
      <p:sp>
        <p:nvSpPr>
          <p:cNvPr id="29" name="TextBox 28"/>
          <p:cNvSpPr txBox="1"/>
          <p:nvPr/>
        </p:nvSpPr>
        <p:spPr>
          <a:xfrm>
            <a:off x="4636008" y="2130552"/>
            <a:ext cx="1571575"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104,144</a:t>
            </a:r>
          </a:p>
        </p:txBody>
      </p:sp>
      <p:sp>
        <p:nvSpPr>
          <p:cNvPr id="30" name="TextBox 29"/>
          <p:cNvSpPr txBox="1"/>
          <p:nvPr/>
        </p:nvSpPr>
        <p:spPr>
          <a:xfrm>
            <a:off x="6335599" y="2130552"/>
            <a:ext cx="1193888"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31</a:t>
            </a:r>
          </a:p>
        </p:txBody>
      </p:sp>
      <p:sp>
        <p:nvSpPr>
          <p:cNvPr id="31" name="TextBox 30"/>
          <p:cNvSpPr txBox="1"/>
          <p:nvPr/>
        </p:nvSpPr>
        <p:spPr>
          <a:xfrm>
            <a:off x="7657503" y="2130552"/>
            <a:ext cx="1193888" cy="210311"/>
          </a:xfrm>
          <a:prstGeom prst="rect">
            <a:avLst/>
          </a:prstGeom>
          <a:noFill/>
        </p:spPr>
        <p:txBody>
          <a:bodyPr wrap="square" anchor="t" lIns="0" rIns="0" tIns="0" bIns="0">
            <a:spAutoFit/>
          </a:bodyPr>
          <a:lstStyle/>
          <a:p>
            <a:pPr algn="l">
              <a:lnSpc>
                <a:spcPct val="100000"/>
              </a:lnSpc>
            </a:pPr>
            <a:r>
              <a:rPr sz="1100" b="1">
                <a:solidFill>
                  <a:srgbClr val="1F3864"/>
                </a:solidFill>
                <a:latin typeface="Calibri"/>
              </a:rPr>
              <a:t>1.00×</a:t>
            </a:r>
          </a:p>
        </p:txBody>
      </p:sp>
      <p:sp>
        <p:nvSpPr>
          <p:cNvPr id="32" name="Rectangle 31"/>
          <p:cNvSpPr/>
          <p:nvPr/>
        </p:nvSpPr>
        <p:spPr>
          <a:xfrm>
            <a:off x="228600" y="2368296"/>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414015"/>
            <a:ext cx="1193888"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457.2 mm</a:t>
            </a:r>
          </a:p>
        </p:txBody>
      </p:sp>
      <p:sp>
        <p:nvSpPr>
          <p:cNvPr id="34" name="TextBox 33"/>
          <p:cNvSpPr txBox="1"/>
          <p:nvPr/>
        </p:nvSpPr>
        <p:spPr>
          <a:xfrm>
            <a:off x="1614512" y="2414015"/>
            <a:ext cx="2893479"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a:t>
            </a:r>
          </a:p>
        </p:txBody>
      </p:sp>
      <p:sp>
        <p:nvSpPr>
          <p:cNvPr id="35" name="TextBox 34"/>
          <p:cNvSpPr txBox="1"/>
          <p:nvPr/>
        </p:nvSpPr>
        <p:spPr>
          <a:xfrm>
            <a:off x="4636008" y="2414015"/>
            <a:ext cx="1571575"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172,812</a:t>
            </a:r>
          </a:p>
        </p:txBody>
      </p:sp>
      <p:sp>
        <p:nvSpPr>
          <p:cNvPr id="36" name="TextBox 35"/>
          <p:cNvSpPr txBox="1"/>
          <p:nvPr/>
        </p:nvSpPr>
        <p:spPr>
          <a:xfrm>
            <a:off x="6335599" y="2414015"/>
            <a:ext cx="1193888"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16</a:t>
            </a:r>
          </a:p>
        </p:txBody>
      </p:sp>
      <p:sp>
        <p:nvSpPr>
          <p:cNvPr id="37" name="TextBox 36"/>
          <p:cNvSpPr txBox="1"/>
          <p:nvPr/>
        </p:nvSpPr>
        <p:spPr>
          <a:xfrm>
            <a:off x="7657503" y="2414015"/>
            <a:ext cx="1193888"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1.66×</a:t>
            </a:r>
          </a:p>
        </p:txBody>
      </p:sp>
      <p:sp>
        <p:nvSpPr>
          <p:cNvPr id="38" name="Rectangle 37"/>
          <p:cNvSpPr/>
          <p:nvPr/>
        </p:nvSpPr>
        <p:spPr>
          <a:xfrm>
            <a:off x="228600" y="2651760"/>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2697480"/>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600 mm</a:t>
            </a:r>
          </a:p>
        </p:txBody>
      </p:sp>
      <p:sp>
        <p:nvSpPr>
          <p:cNvPr id="40" name="TextBox 39"/>
          <p:cNvSpPr txBox="1"/>
          <p:nvPr/>
        </p:nvSpPr>
        <p:spPr>
          <a:xfrm>
            <a:off x="1614512" y="2697480"/>
            <a:ext cx="2893479"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t>
            </a:r>
          </a:p>
        </p:txBody>
      </p:sp>
      <p:sp>
        <p:nvSpPr>
          <p:cNvPr id="41" name="TextBox 40"/>
          <p:cNvSpPr txBox="1"/>
          <p:nvPr/>
        </p:nvSpPr>
        <p:spPr>
          <a:xfrm>
            <a:off x="4636008" y="2697480"/>
            <a:ext cx="1571575"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212,870</a:t>
            </a:r>
          </a:p>
        </p:txBody>
      </p:sp>
      <p:sp>
        <p:nvSpPr>
          <p:cNvPr id="42" name="TextBox 41"/>
          <p:cNvSpPr txBox="1"/>
          <p:nvPr/>
        </p:nvSpPr>
        <p:spPr>
          <a:xfrm>
            <a:off x="6335599" y="2697480"/>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11</a:t>
            </a:r>
          </a:p>
        </p:txBody>
      </p:sp>
      <p:sp>
        <p:nvSpPr>
          <p:cNvPr id="43" name="TextBox 42"/>
          <p:cNvSpPr txBox="1"/>
          <p:nvPr/>
        </p:nvSpPr>
        <p:spPr>
          <a:xfrm>
            <a:off x="7657503" y="2697480"/>
            <a:ext cx="1193888"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2.04×</a:t>
            </a:r>
          </a:p>
        </p:txBody>
      </p:sp>
      <p:sp>
        <p:nvSpPr>
          <p:cNvPr id="44" name="TextBox 43"/>
          <p:cNvSpPr txBox="1"/>
          <p:nvPr/>
        </p:nvSpPr>
        <p:spPr>
          <a:xfrm>
            <a:off x="228600" y="2953512"/>
            <a:ext cx="8686800" cy="18288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¹ BIMGUARD SB-001 screening calibration (authored thresholds, not code values)</a:t>
            </a:r>
          </a:p>
        </p:txBody>
      </p:sp>
      <p:sp>
        <p:nvSpPr>
          <p:cNvPr id="45" name="TextBox 44"/>
          <p:cNvSpPr txBox="1"/>
          <p:nvPr/>
        </p:nvSpPr>
        <p:spPr>
          <a:xfrm>
            <a:off x="228600" y="315468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Raising the clearance from the 200 mm row to the 457.2 mm row produces 66% more clashes and 48% fewer Critical ones, because severity is an overlap ratio and a larger clearance inflates the denominator. Reproduced on two independent subsets.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Test evidence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runs, and what the failures mean</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8346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61518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Suite</a:t>
            </a:r>
          </a:p>
        </p:txBody>
      </p:sp>
      <p:sp>
        <p:nvSpPr>
          <p:cNvPr id="10" name="TextBox 9"/>
          <p:cNvSpPr txBox="1"/>
          <p:nvPr/>
        </p:nvSpPr>
        <p:spPr>
          <a:xfrm>
            <a:off x="3035808" y="1280160"/>
            <a:ext cx="188366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Result</a:t>
            </a:r>
          </a:p>
        </p:txBody>
      </p:sp>
      <p:sp>
        <p:nvSpPr>
          <p:cNvPr id="11" name="TextBox 10"/>
          <p:cNvSpPr txBox="1"/>
          <p:nvPr/>
        </p:nvSpPr>
        <p:spPr>
          <a:xfrm>
            <a:off x="5047488" y="1280160"/>
            <a:ext cx="380390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Interpretation</a:t>
            </a:r>
          </a:p>
        </p:txBody>
      </p:sp>
      <p:sp>
        <p:nvSpPr>
          <p:cNvPr id="12" name="Rectangle 11"/>
          <p:cNvSpPr/>
          <p:nvPr/>
        </p:nvSpPr>
        <p:spPr>
          <a:xfrm>
            <a:off x="228600" y="1517904"/>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63624"/>
            <a:ext cx="26151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Core suite (tests/)</a:t>
            </a:r>
          </a:p>
        </p:txBody>
      </p:sp>
      <p:sp>
        <p:nvSpPr>
          <p:cNvPr id="14" name="TextBox 13"/>
          <p:cNvSpPr txBox="1"/>
          <p:nvPr/>
        </p:nvSpPr>
        <p:spPr>
          <a:xfrm>
            <a:off x="3035808" y="1563624"/>
            <a:ext cx="18836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289 passed</a:t>
            </a:r>
          </a:p>
        </p:txBody>
      </p:sp>
      <p:sp>
        <p:nvSpPr>
          <p:cNvPr id="15" name="TextBox 14"/>
          <p:cNvSpPr txBox="1"/>
          <p:nvPr/>
        </p:nvSpPr>
        <p:spPr>
          <a:xfrm>
            <a:off x="5047488" y="1563624"/>
            <a:ext cx="380390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Piping, comparators, BCF, registry, environment</a:t>
            </a:r>
          </a:p>
        </p:txBody>
      </p:sp>
      <p:sp>
        <p:nvSpPr>
          <p:cNvPr id="16" name="Rectangle 15"/>
          <p:cNvSpPr/>
          <p:nvPr/>
        </p:nvSpPr>
        <p:spPr>
          <a:xfrm>
            <a:off x="228600" y="1801368"/>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47088"/>
            <a:ext cx="26151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Route suite (tests/test_routes.py)</a:t>
            </a:r>
          </a:p>
        </p:txBody>
      </p:sp>
      <p:sp>
        <p:nvSpPr>
          <p:cNvPr id="18" name="TextBox 17"/>
          <p:cNvSpPr txBox="1"/>
          <p:nvPr/>
        </p:nvSpPr>
        <p:spPr>
          <a:xfrm>
            <a:off x="3035808" y="1847088"/>
            <a:ext cx="18836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44 passed, 4 xfail</a:t>
            </a:r>
          </a:p>
        </p:txBody>
      </p:sp>
      <p:sp>
        <p:nvSpPr>
          <p:cNvPr id="19" name="TextBox 18"/>
          <p:cNvSpPr txBox="1"/>
          <p:nvPr/>
        </p:nvSpPr>
        <p:spPr>
          <a:xfrm>
            <a:off x="5047488" y="1847088"/>
            <a:ext cx="380390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HTTP layer; xfail records 404-vs-200 gaps</a:t>
            </a:r>
          </a:p>
        </p:txBody>
      </p:sp>
      <p:sp>
        <p:nvSpPr>
          <p:cNvPr id="20" name="Rectangle 19"/>
          <p:cNvSpPr/>
          <p:nvPr/>
        </p:nvSpPr>
        <p:spPr>
          <a:xfrm>
            <a:off x="228600" y="2084832"/>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30552"/>
            <a:ext cx="26151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Blue Halo harness</a:t>
            </a:r>
          </a:p>
        </p:txBody>
      </p:sp>
      <p:sp>
        <p:nvSpPr>
          <p:cNvPr id="22" name="TextBox 21"/>
          <p:cNvSpPr txBox="1"/>
          <p:nvPr/>
        </p:nvSpPr>
        <p:spPr>
          <a:xfrm>
            <a:off x="3035808" y="2130552"/>
            <a:ext cx="18836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11 of 11</a:t>
            </a:r>
          </a:p>
        </p:txBody>
      </p:sp>
      <p:sp>
        <p:nvSpPr>
          <p:cNvPr id="23" name="TextBox 22"/>
          <p:cNvSpPr txBox="1"/>
          <p:nvPr/>
        </p:nvSpPr>
        <p:spPr>
          <a:xfrm>
            <a:off x="5047488" y="2130552"/>
            <a:ext cx="380390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Config, geometry, clash, banding, export</a:t>
            </a:r>
          </a:p>
        </p:txBody>
      </p:sp>
      <p:sp>
        <p:nvSpPr>
          <p:cNvPr id="24" name="Rectangle 23"/>
          <p:cNvSpPr/>
          <p:nvPr/>
        </p:nvSpPr>
        <p:spPr>
          <a:xfrm>
            <a:off x="228600" y="2368296"/>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414015"/>
            <a:ext cx="26151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End-to-end IFC pipeline</a:t>
            </a:r>
          </a:p>
        </p:txBody>
      </p:sp>
      <p:sp>
        <p:nvSpPr>
          <p:cNvPr id="26" name="TextBox 25"/>
          <p:cNvSpPr txBox="1"/>
          <p:nvPr/>
        </p:nvSpPr>
        <p:spPr>
          <a:xfrm>
            <a:off x="3035808" y="2414015"/>
            <a:ext cx="18836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8 of 8</a:t>
            </a:r>
          </a:p>
        </p:txBody>
      </p:sp>
      <p:sp>
        <p:nvSpPr>
          <p:cNvPr id="27" name="TextBox 26"/>
          <p:cNvSpPr txBox="1"/>
          <p:nvPr/>
        </p:nvSpPr>
        <p:spPr>
          <a:xfrm>
            <a:off x="5047488" y="2414015"/>
            <a:ext cx="380390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Real IFC through halo, clash, BCF, Pset</a:t>
            </a:r>
          </a:p>
        </p:txBody>
      </p:sp>
      <p:sp>
        <p:nvSpPr>
          <p:cNvPr id="28" name="Rectangle 27"/>
          <p:cNvSpPr/>
          <p:nvPr/>
        </p:nvSpPr>
        <p:spPr>
          <a:xfrm>
            <a:off x="228600" y="2651760"/>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97480"/>
            <a:ext cx="2615184"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MM-001 / XM-001 suites</a:t>
            </a:r>
          </a:p>
        </p:txBody>
      </p:sp>
      <p:sp>
        <p:nvSpPr>
          <p:cNvPr id="30" name="TextBox 29"/>
          <p:cNvSpPr txBox="1"/>
          <p:nvPr/>
        </p:nvSpPr>
        <p:spPr>
          <a:xfrm>
            <a:off x="3035808" y="2697480"/>
            <a:ext cx="1883664" cy="210311"/>
          </a:xfrm>
          <a:prstGeom prst="rect">
            <a:avLst/>
          </a:prstGeom>
          <a:noFill/>
        </p:spPr>
        <p:txBody>
          <a:bodyPr wrap="square" anchor="t" lIns="0" rIns="0" tIns="0" bIns="0">
            <a:spAutoFit/>
          </a:bodyPr>
          <a:lstStyle/>
          <a:p>
            <a:pPr algn="l">
              <a:lnSpc>
                <a:spcPct val="100000"/>
              </a:lnSpc>
            </a:pPr>
            <a:r>
              <a:rPr sz="1100" b="1">
                <a:solidFill>
                  <a:srgbClr val="A32D2D"/>
                </a:solidFill>
                <a:latin typeface="Calibri"/>
              </a:rPr>
              <a:t>69 failures / errors</a:t>
            </a:r>
          </a:p>
        </p:txBody>
      </p:sp>
      <p:sp>
        <p:nvSpPr>
          <p:cNvPr id="31" name="TextBox 30"/>
          <p:cNvSpPr txBox="1"/>
          <p:nvPr/>
        </p:nvSpPr>
        <p:spPr>
          <a:xfrm>
            <a:off x="5047488" y="2697480"/>
            <a:ext cx="3803904" cy="210311"/>
          </a:xfrm>
          <a:prstGeom prst="rect">
            <a:avLst/>
          </a:prstGeom>
          <a:noFill/>
        </p:spPr>
        <p:txBody>
          <a:bodyPr wrap="square" anchor="t" lIns="0" rIns="0" tIns="0" bIns="0">
            <a:spAutoFit/>
          </a:bodyPr>
          <a:lstStyle/>
          <a:p>
            <a:pPr algn="l">
              <a:lnSpc>
                <a:spcPct val="100000"/>
              </a:lnSpc>
            </a:pPr>
            <a:r>
              <a:rPr sz="1100" b="0">
                <a:solidFill>
                  <a:srgbClr val="A32D2D"/>
                </a:solidFill>
                <a:latin typeface="Calibri"/>
              </a:rPr>
              <a:t>Signature mismatch — corroborates §13.9</a:t>
            </a:r>
          </a:p>
        </p:txBody>
      </p:sp>
      <p:sp>
        <p:nvSpPr>
          <p:cNvPr id="32" name="TextBox 31"/>
          <p:cNvSpPr txBox="1"/>
          <p:nvPr/>
        </p:nvSpPr>
        <p:spPr>
          <a:xfrm>
            <a:off x="228600" y="310896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The 69 failures are not noise to be silenced: they are executable evidence for the specification-against-implementation gap the thesis documents, which is why §13.9 can quote exact pass counts.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Technology stack</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Deliberately vendor-neutral</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48256"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Core</a:t>
            </a:r>
          </a:p>
        </p:txBody>
      </p:sp>
      <p:sp>
        <p:nvSpPr>
          <p:cNvPr id="11" name="TextBox 10"/>
          <p:cNvSpPr txBox="1"/>
          <p:nvPr/>
        </p:nvSpPr>
        <p:spPr>
          <a:xfrm>
            <a:off x="338328"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Python 3.12.13, IfcOpenShell 0.8.5, uv-managed dependencies. Geometry through ifcopenshell.geom in world coordinates.</a:t>
            </a:r>
          </a:p>
        </p:txBody>
      </p:sp>
      <p:sp>
        <p:nvSpPr>
          <p:cNvPr id="12" name="Rectangle 11"/>
          <p:cNvSpPr/>
          <p:nvPr/>
        </p:nvSpPr>
        <p:spPr>
          <a:xfrm>
            <a:off x="2441448"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41448" y="1234440"/>
            <a:ext cx="2048256"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51176"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Application</a:t>
            </a:r>
          </a:p>
        </p:txBody>
      </p:sp>
      <p:sp>
        <p:nvSpPr>
          <p:cNvPr id="15" name="TextBox 14"/>
          <p:cNvSpPr txBox="1"/>
          <p:nvPr/>
        </p:nvSpPr>
        <p:spPr>
          <a:xfrm>
            <a:off x="2551176"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FastHTML with MonsterUI, HTMX for partial updates, server-rendered from Python — no template files.</a:t>
            </a:r>
          </a:p>
        </p:txBody>
      </p:sp>
      <p:sp>
        <p:nvSpPr>
          <p:cNvPr id="16" name="Rectangle 15"/>
          <p:cNvSpPr/>
          <p:nvPr/>
        </p:nvSpPr>
        <p:spPr>
          <a:xfrm>
            <a:off x="4654296"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4296" y="1234440"/>
            <a:ext cx="2048256"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Data</a:t>
            </a:r>
          </a:p>
        </p:txBody>
      </p:sp>
      <p:sp>
        <p:nvSpPr>
          <p:cNvPr id="19" name="TextBox 18"/>
          <p:cNvSpPr txBox="1"/>
          <p:nvPr/>
        </p:nvSpPr>
        <p:spPr>
          <a:xfrm>
            <a:off x="4764024"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Supabase Postgres and object storage, with a transparent local materialisation cache.</a:t>
            </a:r>
          </a:p>
        </p:txBody>
      </p:sp>
      <p:sp>
        <p:nvSpPr>
          <p:cNvPr id="20" name="Rectangle 19"/>
          <p:cNvSpPr/>
          <p:nvPr/>
        </p:nvSpPr>
        <p:spPr>
          <a:xfrm>
            <a:off x="6867144"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67144" y="1234440"/>
            <a:ext cx="2048256" cy="6400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76872"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Analytics</a:t>
            </a:r>
          </a:p>
        </p:txBody>
      </p:sp>
      <p:sp>
        <p:nvSpPr>
          <p:cNvPr id="23" name="TextBox 22"/>
          <p:cNvSpPr txBox="1"/>
          <p:nvPr/>
        </p:nvSpPr>
        <p:spPr>
          <a:xfrm>
            <a:off x="6976872"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Power BI PBIP project — TMDL semantic model plus report definition, consuming a versioned CSV contract.</a:t>
            </a:r>
          </a:p>
        </p:txBody>
      </p:sp>
      <p:sp>
        <p:nvSpPr>
          <p:cNvPr id="24" name="TextBox 23"/>
          <p:cNvSpPr txBox="1"/>
          <p:nvPr/>
        </p:nvSpPr>
        <p:spPr>
          <a:xfrm>
            <a:off x="228600" y="416052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No Autodesk API, no proprietary plugin, no authoring-tool dependency anywhere in the compliance path.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OpenBIM as an architectural decision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Why vendor neutrality was not incidental</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IFC in, BCF out</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tool reads ISO 16739-1 and writes BCF 2.1. Both are open, versioned and readable without the tool that produced them.</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Demonstrated across toolchains</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corpus spans Revit, ArchiCAD and Autodesk exports in IFC2x3 and IFC4. Schema twins differed by 0.11% and 0.00%.</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Evidence outlives the tool</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Pset write-back means the finding travels in the model. An auditor needs an IFC reader, not a BIMGUARD licence.</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Portable across jurisdictions</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Clearance and threshold data live in versioned configs, so a new standard is a data addition rather than a code change.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Golden Thread and the Building Safety Act</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Compliance evidence that persists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8346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34086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Requirement</a:t>
            </a:r>
          </a:p>
        </p:txBody>
      </p:sp>
      <p:sp>
        <p:nvSpPr>
          <p:cNvPr id="10" name="TextBox 9"/>
          <p:cNvSpPr txBox="1"/>
          <p:nvPr/>
        </p:nvSpPr>
        <p:spPr>
          <a:xfrm>
            <a:off x="2761488" y="1280160"/>
            <a:ext cx="316382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How it is met</a:t>
            </a:r>
          </a:p>
        </p:txBody>
      </p:sp>
      <p:sp>
        <p:nvSpPr>
          <p:cNvPr id="11" name="TextBox 10"/>
          <p:cNvSpPr txBox="1"/>
          <p:nvPr/>
        </p:nvSpPr>
        <p:spPr>
          <a:xfrm>
            <a:off x="6053328" y="1280160"/>
            <a:ext cx="279806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Artefact</a:t>
            </a:r>
          </a:p>
        </p:txBody>
      </p:sp>
      <p:sp>
        <p:nvSpPr>
          <p:cNvPr id="12" name="Rectangle 11"/>
          <p:cNvSpPr/>
          <p:nvPr/>
        </p:nvSpPr>
        <p:spPr>
          <a:xfrm>
            <a:off x="228600" y="1517904"/>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63624"/>
            <a:ext cx="23408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Auditable decision record</a:t>
            </a:r>
          </a:p>
        </p:txBody>
      </p:sp>
      <p:sp>
        <p:nvSpPr>
          <p:cNvPr id="14" name="TextBox 13"/>
          <p:cNvSpPr txBox="1"/>
          <p:nvPr/>
        </p:nvSpPr>
        <p:spPr>
          <a:xfrm>
            <a:off x="2761488" y="1563624"/>
            <a:ext cx="3163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Every finding names clause, threshold and inference</a:t>
            </a:r>
          </a:p>
        </p:txBody>
      </p:sp>
      <p:sp>
        <p:nvSpPr>
          <p:cNvPr id="15" name="TextBox 14"/>
          <p:cNvSpPr txBox="1"/>
          <p:nvPr/>
        </p:nvSpPr>
        <p:spPr>
          <a:xfrm>
            <a:off x="6053328" y="1563624"/>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BCF topic + Issue citations</a:t>
            </a:r>
          </a:p>
        </p:txBody>
      </p:sp>
      <p:sp>
        <p:nvSpPr>
          <p:cNvPr id="16" name="Rectangle 15"/>
          <p:cNvSpPr/>
          <p:nvPr/>
        </p:nvSpPr>
        <p:spPr>
          <a:xfrm>
            <a:off x="228600" y="1801368"/>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47088"/>
            <a:ext cx="23408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Evidence travels with the asset</a:t>
            </a:r>
          </a:p>
        </p:txBody>
      </p:sp>
      <p:sp>
        <p:nvSpPr>
          <p:cNvPr id="18" name="TextBox 17"/>
          <p:cNvSpPr txBox="1"/>
          <p:nvPr/>
        </p:nvSpPr>
        <p:spPr>
          <a:xfrm>
            <a:off x="2761488" y="1847088"/>
            <a:ext cx="3163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Findings written back to the element</a:t>
            </a:r>
          </a:p>
        </p:txBody>
      </p:sp>
      <p:sp>
        <p:nvSpPr>
          <p:cNvPr id="19" name="TextBox 18"/>
          <p:cNvSpPr txBox="1"/>
          <p:nvPr/>
        </p:nvSpPr>
        <p:spPr>
          <a:xfrm>
            <a:off x="6053328" y="1847088"/>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Pset_CorrosionRisk, Pset_HaloReservation</a:t>
            </a:r>
          </a:p>
        </p:txBody>
      </p:sp>
      <p:sp>
        <p:nvSpPr>
          <p:cNvPr id="20" name="Rectangle 19"/>
          <p:cNvSpPr/>
          <p:nvPr/>
        </p:nvSpPr>
        <p:spPr>
          <a:xfrm>
            <a:off x="228600" y="2084832"/>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30552"/>
            <a:ext cx="23408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Readable without the tool</a:t>
            </a:r>
          </a:p>
        </p:txBody>
      </p:sp>
      <p:sp>
        <p:nvSpPr>
          <p:cNvPr id="22" name="TextBox 21"/>
          <p:cNvSpPr txBox="1"/>
          <p:nvPr/>
        </p:nvSpPr>
        <p:spPr>
          <a:xfrm>
            <a:off x="2761488" y="2130552"/>
            <a:ext cx="3163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Open formats throughout</a:t>
            </a:r>
          </a:p>
        </p:txBody>
      </p:sp>
      <p:sp>
        <p:nvSpPr>
          <p:cNvPr id="23" name="TextBox 22"/>
          <p:cNvSpPr txBox="1"/>
          <p:nvPr/>
        </p:nvSpPr>
        <p:spPr>
          <a:xfrm>
            <a:off x="6053328" y="2130552"/>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 BCF 2.1</a:t>
            </a:r>
          </a:p>
        </p:txBody>
      </p:sp>
      <p:sp>
        <p:nvSpPr>
          <p:cNvPr id="24" name="Rectangle 23"/>
          <p:cNvSpPr/>
          <p:nvPr/>
        </p:nvSpPr>
        <p:spPr>
          <a:xfrm>
            <a:off x="228600" y="2368296"/>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414015"/>
            <a:ext cx="23408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Traceable workflow state</a:t>
            </a:r>
          </a:p>
        </p:txBody>
      </p:sp>
      <p:sp>
        <p:nvSpPr>
          <p:cNvPr id="26" name="TextBox 25"/>
          <p:cNvSpPr txBox="1"/>
          <p:nvPr/>
        </p:nvSpPr>
        <p:spPr>
          <a:xfrm>
            <a:off x="2761488" y="2414015"/>
            <a:ext cx="3163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ISO 19650 status on each container</a:t>
            </a:r>
          </a:p>
        </p:txBody>
      </p:sp>
      <p:sp>
        <p:nvSpPr>
          <p:cNvPr id="27" name="TextBox 26"/>
          <p:cNvSpPr txBox="1"/>
          <p:nvPr/>
        </p:nvSpPr>
        <p:spPr>
          <a:xfrm>
            <a:off x="6053328" y="2414015"/>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S2 / S4 / Status A</a:t>
            </a:r>
          </a:p>
        </p:txBody>
      </p:sp>
      <p:sp>
        <p:nvSpPr>
          <p:cNvPr id="28" name="Rectangle 27"/>
          <p:cNvSpPr/>
          <p:nvPr/>
        </p:nvSpPr>
        <p:spPr>
          <a:xfrm>
            <a:off x="228600" y="2651760"/>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97480"/>
            <a:ext cx="23408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Reproducible</a:t>
            </a:r>
          </a:p>
        </p:txBody>
      </p:sp>
      <p:sp>
        <p:nvSpPr>
          <p:cNvPr id="30" name="TextBox 29"/>
          <p:cNvSpPr txBox="1"/>
          <p:nvPr/>
        </p:nvSpPr>
        <p:spPr>
          <a:xfrm>
            <a:off x="2761488" y="2697480"/>
            <a:ext cx="31638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Harness, configs and corpus are versioned</a:t>
            </a:r>
          </a:p>
        </p:txBody>
      </p:sp>
      <p:sp>
        <p:nvSpPr>
          <p:cNvPr id="31" name="TextBox 30"/>
          <p:cNvSpPr txBox="1"/>
          <p:nvPr/>
        </p:nvSpPr>
        <p:spPr>
          <a:xfrm>
            <a:off x="6053328" y="2697480"/>
            <a:ext cx="279806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Appendix B, validation_sweep_summary.json</a:t>
            </a:r>
          </a:p>
        </p:txBody>
      </p:sp>
      <p:sp>
        <p:nvSpPr>
          <p:cNvPr id="32" name="TextBox 31"/>
          <p:cNvSpPr txBox="1"/>
          <p:nvPr/>
        </p:nvSpPr>
        <p:spPr>
          <a:xfrm>
            <a:off x="228600" y="315468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Reproducibility is the claim most examiners can check directly: the sweep re-runs from a clean clone and regenerates every table and figure in Appendix 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RQ1 — answered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Detection from existing IFC data</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YES</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method demonstrated
and reproducible</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100%</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geometry resolution
49,736 elements</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2.07%</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elements carrying
scoreable material</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37 / 38</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models processed
end to end</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qualified answer</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Where an element carries a mappable material and a resolvable neighbour, risk is detected and scored deterministically from data already in the model. The constraint is the corpus, not the method: real federated models rarely carry the semantic inputs. Measuring that distance is itself a contribution, and it separates a demonstrated method from a deployed 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RQ2 — answered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Simultaneous multi-mechanism checking</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Architecturally — yes</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Engines register independently, share one mechanism-agnostic Issue contract, and emit separate BCF topics. Three execute together on every model in the corpus.</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Demonstrated by non-overlap</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SS316 pool-plant case shows one engine correctly silent while another reports Critical — the behaviour a single combined score would destroy.</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Two of five do not participate</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MM-001 and XM-001 are approved but unwired, so the full five-mechanism claim is not supported by this run.</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Honest form of the answer</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Simultaneous checking works and is demonstrated at three engines. Five is specified, not shown.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RQ3 — answered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OpenBIM cross-platform deployment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YES</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no vendor API
anywhere in the path</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2</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IFC schemas
2x3 and IFC4</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8</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independent source
repositories</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37 / 37</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BCF archives
valid</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What the corpus established</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Models exported from three authoring toolchains, in two schema versions, from eight repositories, processed by one pipeline with no per-tool special-casing. The two same-building schema twins are the strongest control: identical inputs through different exporters produced clash counts 0.00% and 0.11% apart.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Academic contributions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Five, stated at the level the evidence supports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3291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4809744" cy="25603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Contribution</a:t>
            </a:r>
          </a:p>
        </p:txBody>
      </p:sp>
      <p:sp>
        <p:nvSpPr>
          <p:cNvPr id="10" name="TextBox 9"/>
          <p:cNvSpPr txBox="1"/>
          <p:nvPr/>
        </p:nvSpPr>
        <p:spPr>
          <a:xfrm>
            <a:off x="5230368" y="1280160"/>
            <a:ext cx="3621023" cy="25603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Evidence</a:t>
            </a:r>
          </a:p>
        </p:txBody>
      </p:sp>
      <p:sp>
        <p:nvSpPr>
          <p:cNvPr id="11" name="Rectangle 10"/>
          <p:cNvSpPr/>
          <p:nvPr/>
        </p:nvSpPr>
        <p:spPr>
          <a:xfrm>
            <a:off x="228600" y="1563624"/>
            <a:ext cx="8686800" cy="32918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1609344"/>
            <a:ext cx="4809744"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 reproducible method for corrosion assessment from IFC metadata</a:t>
            </a:r>
          </a:p>
        </p:txBody>
      </p:sp>
      <p:sp>
        <p:nvSpPr>
          <p:cNvPr id="13" name="TextBox 12"/>
          <p:cNvSpPr txBox="1"/>
          <p:nvPr/>
        </p:nvSpPr>
        <p:spPr>
          <a:xfrm>
            <a:off x="5230368" y="1609344"/>
            <a:ext cx="3621023"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37-model sweep, regenerable from a clean clone</a:t>
            </a:r>
          </a:p>
        </p:txBody>
      </p:sp>
      <p:sp>
        <p:nvSpPr>
          <p:cNvPr id="14" name="Rectangle 13"/>
          <p:cNvSpPr/>
          <p:nvPr/>
        </p:nvSpPr>
        <p:spPr>
          <a:xfrm>
            <a:off x="228600" y="1892807"/>
            <a:ext cx="8686800" cy="32918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938527"/>
            <a:ext cx="4809744"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Quantification of the semantic data gap in federated models</a:t>
            </a:r>
          </a:p>
        </p:txBody>
      </p:sp>
      <p:sp>
        <p:nvSpPr>
          <p:cNvPr id="16" name="TextBox 15"/>
          <p:cNvSpPr txBox="1"/>
          <p:nvPr/>
        </p:nvSpPr>
        <p:spPr>
          <a:xfrm>
            <a:off x="5230368" y="1938527"/>
            <a:ext cx="3621023"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2.07% scoreable material across 116,006 elements</a:t>
            </a:r>
          </a:p>
        </p:txBody>
      </p:sp>
      <p:sp>
        <p:nvSpPr>
          <p:cNvPr id="17" name="Rectangle 16"/>
          <p:cNvSpPr/>
          <p:nvPr/>
        </p:nvSpPr>
        <p:spPr>
          <a:xfrm>
            <a:off x="228600" y="2221991"/>
            <a:ext cx="8686800" cy="32918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267711"/>
            <a:ext cx="4809744"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Blue Halo: proactive LOD 350 reservation at LOD 300</a:t>
            </a:r>
          </a:p>
        </p:txBody>
      </p:sp>
      <p:sp>
        <p:nvSpPr>
          <p:cNvPr id="19" name="TextBox 18"/>
          <p:cNvSpPr txBox="1"/>
          <p:nvPr/>
        </p:nvSpPr>
        <p:spPr>
          <a:xfrm>
            <a:off x="5230368" y="2267711"/>
            <a:ext cx="3621023"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100% geometry resolution, schema-independent</a:t>
            </a:r>
          </a:p>
        </p:txBody>
      </p:sp>
      <p:sp>
        <p:nvSpPr>
          <p:cNvPr id="20" name="Rectangle 19"/>
          <p:cNvSpPr/>
          <p:nvPr/>
        </p:nvSpPr>
        <p:spPr>
          <a:xfrm>
            <a:off x="228600" y="2551176"/>
            <a:ext cx="8686800" cy="32918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596896"/>
            <a:ext cx="4809744"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White-box auditability as a design constraint</a:t>
            </a:r>
          </a:p>
        </p:txBody>
      </p:sp>
      <p:sp>
        <p:nvSpPr>
          <p:cNvPr id="22" name="TextBox 21"/>
          <p:cNvSpPr txBox="1"/>
          <p:nvPr/>
        </p:nvSpPr>
        <p:spPr>
          <a:xfrm>
            <a:off x="5230368" y="2596896"/>
            <a:ext cx="3621023"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Every finding carries clause, threshold and inference</a:t>
            </a:r>
          </a:p>
        </p:txBody>
      </p:sp>
      <p:sp>
        <p:nvSpPr>
          <p:cNvPr id="23" name="Rectangle 22"/>
          <p:cNvSpPr/>
          <p:nvPr/>
        </p:nvSpPr>
        <p:spPr>
          <a:xfrm>
            <a:off x="228600" y="2880360"/>
            <a:ext cx="8686800" cy="32918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926079"/>
            <a:ext cx="4809744"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 clearance-severity inversion in ratio-based banding</a:t>
            </a:r>
          </a:p>
        </p:txBody>
      </p:sp>
      <p:sp>
        <p:nvSpPr>
          <p:cNvPr id="25" name="TextBox 24"/>
          <p:cNvSpPr txBox="1"/>
          <p:nvPr/>
        </p:nvSpPr>
        <p:spPr>
          <a:xfrm>
            <a:off x="5230368" y="2926079"/>
            <a:ext cx="3621023" cy="25603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1.66× clashes, 0.52× Critical, on two subsets</a:t>
            </a:r>
          </a:p>
        </p:txBody>
      </p:sp>
      <p:sp>
        <p:nvSpPr>
          <p:cNvPr id="26" name="TextBox 25"/>
          <p:cNvSpPr txBox="1"/>
          <p:nvPr/>
        </p:nvSpPr>
        <p:spPr>
          <a:xfrm>
            <a:off x="228600" y="329184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Each is stated as what was measured, not as what was hoped. The gaps — two unwired engines, an unimplemented ARCH ruleset — are documented in §13.9 rather than omitted.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Limitations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Carried openly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Two engines are not wired in</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MM-001 and XM-001 hold approved packs the comparators cannot load. 69 unit failures and 24 unavailable models corroborate the same gap.</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Input availability limits every corrosion result</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At 2.07% scoreable material, flag rates describe the coercers' defaults more than the buildings.</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Clash counts are geometric upper bounds</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AABB intersection over-approximates diagonal and non-convex members.</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Severity banding lacks a standards basis</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An overlap ratio is defensible as triage and not as a verdict; the sensitivity result argues for replacing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Post-FMP roadmap</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Seven enhancements, ordered by dependency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651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512063"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Ref</a:t>
            </a:r>
          </a:p>
        </p:txBody>
      </p:sp>
      <p:sp>
        <p:nvSpPr>
          <p:cNvPr id="10" name="TextBox 9"/>
          <p:cNvSpPr txBox="1"/>
          <p:nvPr/>
        </p:nvSpPr>
        <p:spPr>
          <a:xfrm>
            <a:off x="932688" y="1280160"/>
            <a:ext cx="3621023"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Enhancement</a:t>
            </a:r>
          </a:p>
        </p:txBody>
      </p:sp>
      <p:sp>
        <p:nvSpPr>
          <p:cNvPr id="11" name="TextBox 10"/>
          <p:cNvSpPr txBox="1"/>
          <p:nvPr/>
        </p:nvSpPr>
        <p:spPr>
          <a:xfrm>
            <a:off x="4681728" y="1280160"/>
            <a:ext cx="316382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Why it ranks here</a:t>
            </a:r>
          </a:p>
        </p:txBody>
      </p:sp>
      <p:sp>
        <p:nvSpPr>
          <p:cNvPr id="12" name="TextBox 11"/>
          <p:cNvSpPr txBox="1"/>
          <p:nvPr/>
        </p:nvSpPr>
        <p:spPr>
          <a:xfrm>
            <a:off x="7973568" y="1280160"/>
            <a:ext cx="87782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Target</a:t>
            </a:r>
          </a:p>
        </p:txBody>
      </p:sp>
      <p:sp>
        <p:nvSpPr>
          <p:cNvPr id="13" name="Rectangle 12"/>
          <p:cNvSpPr/>
          <p:nvPr/>
        </p:nvSpPr>
        <p:spPr>
          <a:xfrm>
            <a:off x="228600" y="1499616"/>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545336"/>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R1</a:t>
            </a:r>
          </a:p>
        </p:txBody>
      </p:sp>
      <p:sp>
        <p:nvSpPr>
          <p:cNvPr id="15" name="TextBox 14"/>
          <p:cNvSpPr txBox="1"/>
          <p:nvPr/>
        </p:nvSpPr>
        <p:spPr>
          <a:xfrm>
            <a:off x="932688" y="1545336"/>
            <a:ext cx="362102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Wire MM-001 and XM-001 to the approved packs</a:t>
            </a:r>
          </a:p>
        </p:txBody>
      </p:sp>
      <p:sp>
        <p:nvSpPr>
          <p:cNvPr id="16" name="TextBox 15"/>
          <p:cNvSpPr txBox="1"/>
          <p:nvPr/>
        </p:nvSpPr>
        <p:spPr>
          <a:xfrm>
            <a:off x="4681728" y="1545336"/>
            <a:ext cx="3163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Closes the largest documented gap</a:t>
            </a:r>
          </a:p>
        </p:txBody>
      </p:sp>
      <p:sp>
        <p:nvSpPr>
          <p:cNvPr id="17" name="TextBox 16"/>
          <p:cNvSpPr txBox="1"/>
          <p:nvPr/>
        </p:nvSpPr>
        <p:spPr>
          <a:xfrm>
            <a:off x="7973568" y="1545336"/>
            <a:ext cx="877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Q1 2027</a:t>
            </a:r>
          </a:p>
        </p:txBody>
      </p:sp>
      <p:sp>
        <p:nvSpPr>
          <p:cNvPr id="18" name="Rectangle 17"/>
          <p:cNvSpPr/>
          <p:nvPr/>
        </p:nvSpPr>
        <p:spPr>
          <a:xfrm>
            <a:off x="228600" y="1764792"/>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810512"/>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R2</a:t>
            </a:r>
          </a:p>
        </p:txBody>
      </p:sp>
      <p:sp>
        <p:nvSpPr>
          <p:cNvPr id="20" name="TextBox 19"/>
          <p:cNvSpPr txBox="1"/>
          <p:nvPr/>
        </p:nvSpPr>
        <p:spPr>
          <a:xfrm>
            <a:off x="932688" y="1810512"/>
            <a:ext cx="362102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Widen the material normaliser rule table</a:t>
            </a:r>
          </a:p>
        </p:txBody>
      </p:sp>
      <p:sp>
        <p:nvSpPr>
          <p:cNvPr id="21" name="TextBox 20"/>
          <p:cNvSpPr txBox="1"/>
          <p:nvPr/>
        </p:nvSpPr>
        <p:spPr>
          <a:xfrm>
            <a:off x="4681728" y="1810512"/>
            <a:ext cx="3163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Converts 35,609 unusable strings into input</a:t>
            </a:r>
          </a:p>
        </p:txBody>
      </p:sp>
      <p:sp>
        <p:nvSpPr>
          <p:cNvPr id="22" name="TextBox 21"/>
          <p:cNvSpPr txBox="1"/>
          <p:nvPr/>
        </p:nvSpPr>
        <p:spPr>
          <a:xfrm>
            <a:off x="7973568" y="1810512"/>
            <a:ext cx="877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Q1 2027</a:t>
            </a:r>
          </a:p>
        </p:txBody>
      </p:sp>
      <p:sp>
        <p:nvSpPr>
          <p:cNvPr id="23" name="Rectangle 22"/>
          <p:cNvSpPr/>
          <p:nvPr/>
        </p:nvSpPr>
        <p:spPr>
          <a:xfrm>
            <a:off x="228600" y="2029968"/>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075688"/>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R3</a:t>
            </a:r>
          </a:p>
        </p:txBody>
      </p:sp>
      <p:sp>
        <p:nvSpPr>
          <p:cNvPr id="25" name="TextBox 24"/>
          <p:cNvSpPr txBox="1"/>
          <p:nvPr/>
        </p:nvSpPr>
        <p:spPr>
          <a:xfrm>
            <a:off x="932688" y="2075688"/>
            <a:ext cx="362102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Standards-grounded severity model</a:t>
            </a:r>
          </a:p>
        </p:txBody>
      </p:sp>
      <p:sp>
        <p:nvSpPr>
          <p:cNvPr id="26" name="TextBox 25"/>
          <p:cNvSpPr txBox="1"/>
          <p:nvPr/>
        </p:nvSpPr>
        <p:spPr>
          <a:xfrm>
            <a:off x="4681728" y="2075688"/>
            <a:ext cx="3163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Replaces the ratio heuristic</a:t>
            </a:r>
          </a:p>
        </p:txBody>
      </p:sp>
      <p:sp>
        <p:nvSpPr>
          <p:cNvPr id="27" name="TextBox 26"/>
          <p:cNvSpPr txBox="1"/>
          <p:nvPr/>
        </p:nvSpPr>
        <p:spPr>
          <a:xfrm>
            <a:off x="7973568" y="2075688"/>
            <a:ext cx="877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28" name="Rectangle 27"/>
          <p:cNvSpPr/>
          <p:nvPr/>
        </p:nvSpPr>
        <p:spPr>
          <a:xfrm>
            <a:off x="228600" y="2295144"/>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340863"/>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R4</a:t>
            </a:r>
          </a:p>
        </p:txBody>
      </p:sp>
      <p:sp>
        <p:nvSpPr>
          <p:cNvPr id="30" name="TextBox 29"/>
          <p:cNvSpPr txBox="1"/>
          <p:nvPr/>
        </p:nvSpPr>
        <p:spPr>
          <a:xfrm>
            <a:off x="932688" y="2340863"/>
            <a:ext cx="362102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Angle-aware halo envelope</a:t>
            </a:r>
          </a:p>
        </p:txBody>
      </p:sp>
      <p:sp>
        <p:nvSpPr>
          <p:cNvPr id="31" name="TextBox 30"/>
          <p:cNvSpPr txBox="1"/>
          <p:nvPr/>
        </p:nvSpPr>
        <p:spPr>
          <a:xfrm>
            <a:off x="4681728" y="2340863"/>
            <a:ext cx="3163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Needs brace geometry to validate</a:t>
            </a:r>
          </a:p>
        </p:txBody>
      </p:sp>
      <p:sp>
        <p:nvSpPr>
          <p:cNvPr id="32" name="TextBox 31"/>
          <p:cNvSpPr txBox="1"/>
          <p:nvPr/>
        </p:nvSpPr>
        <p:spPr>
          <a:xfrm>
            <a:off x="7973568" y="2340863"/>
            <a:ext cx="877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33" name="Rectangle 32"/>
          <p:cNvSpPr/>
          <p:nvPr/>
        </p:nvSpPr>
        <p:spPr>
          <a:xfrm>
            <a:off x="228600" y="2560320"/>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2606039"/>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R5</a:t>
            </a:r>
          </a:p>
        </p:txBody>
      </p:sp>
      <p:sp>
        <p:nvSpPr>
          <p:cNvPr id="35" name="TextBox 34"/>
          <p:cNvSpPr txBox="1"/>
          <p:nvPr/>
        </p:nvSpPr>
        <p:spPr>
          <a:xfrm>
            <a:off x="932688" y="2606039"/>
            <a:ext cx="362102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Implement ARCH rules AR-001 and AR-004</a:t>
            </a:r>
          </a:p>
        </p:txBody>
      </p:sp>
      <p:sp>
        <p:nvSpPr>
          <p:cNvPr id="36" name="TextBox 35"/>
          <p:cNvSpPr txBox="1"/>
          <p:nvPr/>
        </p:nvSpPr>
        <p:spPr>
          <a:xfrm>
            <a:off x="4681728" y="2606039"/>
            <a:ext cx="3163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Extends method to code compliance</a:t>
            </a:r>
          </a:p>
        </p:txBody>
      </p:sp>
      <p:sp>
        <p:nvSpPr>
          <p:cNvPr id="37" name="TextBox 36"/>
          <p:cNvSpPr txBox="1"/>
          <p:nvPr/>
        </p:nvSpPr>
        <p:spPr>
          <a:xfrm>
            <a:off x="7973568" y="2606039"/>
            <a:ext cx="877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38" name="Rectangle 37"/>
          <p:cNvSpPr/>
          <p:nvPr/>
        </p:nvSpPr>
        <p:spPr>
          <a:xfrm>
            <a:off x="228600" y="2825496"/>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2871215"/>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R6</a:t>
            </a:r>
          </a:p>
        </p:txBody>
      </p:sp>
      <p:sp>
        <p:nvSpPr>
          <p:cNvPr id="40" name="TextBox 39"/>
          <p:cNvSpPr txBox="1"/>
          <p:nvPr/>
        </p:nvSpPr>
        <p:spPr>
          <a:xfrm>
            <a:off x="932688" y="2871215"/>
            <a:ext cx="362102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Galvanic current and time-to-perforation</a:t>
            </a:r>
          </a:p>
        </p:txBody>
      </p:sp>
      <p:sp>
        <p:nvSpPr>
          <p:cNvPr id="41" name="TextBox 40"/>
          <p:cNvSpPr txBox="1"/>
          <p:nvPr/>
        </p:nvSpPr>
        <p:spPr>
          <a:xfrm>
            <a:off x="4681728" y="2871215"/>
            <a:ext cx="3163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Needs conductivity and rate data</a:t>
            </a:r>
          </a:p>
        </p:txBody>
      </p:sp>
      <p:sp>
        <p:nvSpPr>
          <p:cNvPr id="42" name="TextBox 41"/>
          <p:cNvSpPr txBox="1"/>
          <p:nvPr/>
        </p:nvSpPr>
        <p:spPr>
          <a:xfrm>
            <a:off x="7973568" y="2871215"/>
            <a:ext cx="877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Q3 2027</a:t>
            </a:r>
          </a:p>
        </p:txBody>
      </p:sp>
      <p:sp>
        <p:nvSpPr>
          <p:cNvPr id="43" name="Rectangle 42"/>
          <p:cNvSpPr/>
          <p:nvPr/>
        </p:nvSpPr>
        <p:spPr>
          <a:xfrm>
            <a:off x="228600" y="3090672"/>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2608" y="3136391"/>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R7</a:t>
            </a:r>
          </a:p>
        </p:txBody>
      </p:sp>
      <p:sp>
        <p:nvSpPr>
          <p:cNvPr id="45" name="TextBox 44"/>
          <p:cNvSpPr txBox="1"/>
          <p:nvPr/>
        </p:nvSpPr>
        <p:spPr>
          <a:xfrm>
            <a:off x="932688" y="3136391"/>
            <a:ext cx="362102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Labelled validation corpus</a:t>
            </a:r>
          </a:p>
        </p:txBody>
      </p:sp>
      <p:sp>
        <p:nvSpPr>
          <p:cNvPr id="46" name="TextBox 45"/>
          <p:cNvSpPr txBox="1"/>
          <p:nvPr/>
        </p:nvSpPr>
        <p:spPr>
          <a:xfrm>
            <a:off x="4681728" y="3136391"/>
            <a:ext cx="3163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Prerequisite for any accuracy claim</a:t>
            </a:r>
          </a:p>
        </p:txBody>
      </p:sp>
      <p:sp>
        <p:nvSpPr>
          <p:cNvPr id="47" name="TextBox 46"/>
          <p:cNvSpPr txBox="1"/>
          <p:nvPr/>
        </p:nvSpPr>
        <p:spPr>
          <a:xfrm>
            <a:off x="7973568" y="3136391"/>
            <a:ext cx="8778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Q3 2027</a:t>
            </a:r>
          </a:p>
        </p:txBody>
      </p:sp>
      <p:sp>
        <p:nvSpPr>
          <p:cNvPr id="48" name="TextBox 47"/>
          <p:cNvSpPr txBox="1"/>
          <p:nvPr/>
        </p:nvSpPr>
        <p:spPr>
          <a:xfrm>
            <a:off x="228600" y="320040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R2 is the highest measured value for the least effort: the corpus already quantifies exactly how much input it would unlock.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What the corpus established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Findings across all engines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Geometry generalises; semantics do not</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100% geometry resolution against 2.07% scoreable material. The spatial engine works on real models; the corrosion engines are starved of input.</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Independent engines catch independent failures</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pool-plant case is the proof: one engine silent, another Critical, on the same element.</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result is schema-independent</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Two IFC versions, three toolchains, eight repositories, one pipeline — twins 0.00% and 0.11% apart.</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Reporting coverage beside findings is essential</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Without it, a 100% flag rate reads as a result rather than as an artefact of absent 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737360"/>
            <a:ext cx="8412480" cy="822960"/>
          </a:xfrm>
          <a:prstGeom prst="rect">
            <a:avLst/>
          </a:prstGeom>
          <a:noFill/>
        </p:spPr>
        <p:txBody>
          <a:bodyPr wrap="square" anchor="t" lIns="0" rIns="0" tIns="0" bIns="0">
            <a:spAutoFit/>
          </a:bodyPr>
          <a:lstStyle/>
          <a:p>
            <a:pPr algn="l">
              <a:lnSpc>
                <a:spcPct val="100000"/>
              </a:lnSpc>
            </a:pPr>
            <a:r>
              <a:rPr sz="4400" b="1">
                <a:solidFill>
                  <a:srgbClr val="FFFFFF"/>
                </a:solidFill>
                <a:latin typeface="Calibri"/>
              </a:rPr>
              <a:t>BIMGUARD AI</a:t>
            </a:r>
          </a:p>
        </p:txBody>
      </p:sp>
      <p:sp>
        <p:nvSpPr>
          <p:cNvPr id="5" name="Rectangle 4"/>
          <p:cNvSpPr/>
          <p:nvPr/>
        </p:nvSpPr>
        <p:spPr>
          <a:xfrm>
            <a:off x="365760" y="2651760"/>
            <a:ext cx="4114800" cy="1828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834640"/>
            <a:ext cx="8412480" cy="457200"/>
          </a:xfrm>
          <a:prstGeom prst="rect">
            <a:avLst/>
          </a:prstGeom>
          <a:noFill/>
        </p:spPr>
        <p:txBody>
          <a:bodyPr wrap="square" anchor="t" lIns="0" rIns="0" tIns="0" bIns="0">
            <a:spAutoFit/>
          </a:bodyPr>
          <a:lstStyle/>
          <a:p>
            <a:pPr algn="l">
              <a:lnSpc>
                <a:spcPct val="100000"/>
              </a:lnSpc>
            </a:pPr>
            <a:r>
              <a:rPr sz="2200" b="0">
                <a:solidFill>
                  <a:srgbClr val="00B4D8"/>
                </a:solidFill>
                <a:latin typeface="Calibri"/>
              </a:rPr>
              <a:t>Questions?</a:t>
            </a:r>
          </a:p>
        </p:txBody>
      </p:sp>
      <p:sp>
        <p:nvSpPr>
          <p:cNvPr id="7" name="TextBox 6"/>
          <p:cNvSpPr txBox="1"/>
          <p:nvPr/>
        </p:nvSpPr>
        <p:spPr>
          <a:xfrm>
            <a:off x="228600" y="4416552"/>
            <a:ext cx="8686800" cy="22860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BIMGUARD AI  |  Final Master Project  |  Zigurat Global Institute of Technology  |  Group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BIMGUARD AI — Final Master Project</dc:title>
  <dc:subject>Automated BIM Corrosion Compliance Checker</dc:subject>
  <dc:creator>Group 5 — Zigurat Global Institute of Technology</dc:creator>
  <cp:lastModifiedBy>Group 5 — Zigurat Global Institute of Technology</cp:lastModifiedBy>
  <cp:revision>1</cp:revision>
  <dcterms:created xsi:type="dcterms:W3CDTF">2026-04-08T17:11:49Z</dcterms:created>
  <dcterms:modified xsi:type="dcterms:W3CDTF">2026-04-08T17:11:49Z</dcterms:modified>
</cp:coreProperties>
</file>