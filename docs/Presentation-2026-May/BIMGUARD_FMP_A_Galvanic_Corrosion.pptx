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6"/>
    <p:sldId id="275" r:id="rId5"/>
    <p:sldId id="276" r:id="rId4"/>
    <p:sldId id="277" r:id="rId3"/>
    <p:sldId id="278" r:id="rId2"/>
    <p:sldId id="279" r:id="rId30"/>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3.xml"/><Relationship Id="rId3" Type="http://schemas.openxmlformats.org/officeDocument/2006/relationships/slide" Target="slides/slide22.xml"/><Relationship Id="rId4" Type="http://schemas.openxmlformats.org/officeDocument/2006/relationships/slide" Target="slides/slide21.xml"/><Relationship Id="rId5" Type="http://schemas.openxmlformats.org/officeDocument/2006/relationships/slide" Target="slides/slide20.xml"/><Relationship Id="rId6" Type="http://schemas.openxmlformats.org/officeDocument/2006/relationships/slide" Target="slides/slide1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22960"/>
            <a:ext cx="8412480" cy="1097280"/>
          </a:xfrm>
          <a:prstGeom prst="rect">
            <a:avLst/>
          </a:prstGeom>
          <a:noFill/>
        </p:spPr>
        <p:txBody>
          <a:bodyPr wrap="square" anchor="t" lIns="0" rIns="0" tIns="0" bIns="0">
            <a:spAutoFit/>
          </a:bodyPr>
          <a:lstStyle/>
          <a:p>
            <a:pPr algn="l">
              <a:lnSpc>
                <a:spcPct val="100000"/>
              </a:lnSpc>
            </a:pPr>
            <a:r>
              <a:rPr sz="5400" b="1">
                <a:solidFill>
                  <a:srgbClr val="FFFFFF"/>
                </a:solidFill>
                <a:latin typeface="Calibri"/>
              </a:rPr>
              <a:t>Galvanic Corrosion Engine</a:t>
            </a:r>
          </a:p>
        </p:txBody>
      </p:sp>
      <p:sp>
        <p:nvSpPr>
          <p:cNvPr id="5" name="TextBox 4"/>
          <p:cNvSpPr txBox="1"/>
          <p:nvPr/>
        </p:nvSpPr>
        <p:spPr>
          <a:xfrm>
            <a:off x="365760" y="1920240"/>
            <a:ext cx="8412480" cy="50292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Detecting Material Incompatibility in MEP Building Services</a:t>
            </a:r>
          </a:p>
        </p:txBody>
      </p:sp>
      <p:sp>
        <p:nvSpPr>
          <p:cNvPr id="6" name="TextBox 5"/>
          <p:cNvSpPr txBox="1"/>
          <p:nvPr/>
        </p:nvSpPr>
        <p:spPr>
          <a:xfrm>
            <a:off x="365760" y="2514600"/>
            <a:ext cx="8412480" cy="365760"/>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NASA-STD-6012  ·  WorldStainless  ·  IMOA Design Manual  ·  AUCSC 2024</a:t>
            </a:r>
          </a:p>
        </p:txBody>
      </p:sp>
      <p:sp>
        <p:nvSpPr>
          <p:cNvPr id="7" name="Rectangle 6"/>
          <p:cNvSpPr/>
          <p:nvPr/>
        </p:nvSpPr>
        <p:spPr>
          <a:xfrm>
            <a:off x="365760" y="2944368"/>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3108960"/>
            <a:ext cx="8412480" cy="548640"/>
          </a:xfrm>
          <a:prstGeom prst="rect">
            <a:avLst/>
          </a:prstGeom>
          <a:noFill/>
        </p:spPr>
        <p:txBody>
          <a:bodyPr wrap="square" anchor="t" lIns="0" rIns="0" tIns="0" bIns="0">
            <a:spAutoFit/>
          </a:bodyPr>
          <a:lstStyle/>
          <a:p>
            <a:pPr algn="l">
              <a:lnSpc>
                <a:spcPct val="100000"/>
              </a:lnSpc>
            </a:pPr>
            <a:r>
              <a:rPr sz="1200" b="0">
                <a:solidFill>
                  <a:srgbClr val="FFFFFF"/>
                </a:solidFill>
                <a:latin typeface="Calibri"/>
              </a:rPr>
              <a:t>GC-001  ·  22-material electrochemical series  ·  7 environment classes  ·  PREN adequacy</a:t>
            </a:r>
          </a:p>
        </p:txBody>
      </p:sp>
      <p:sp>
        <p:nvSpPr>
          <p:cNvPr id="9" name="TextBox 8"/>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Why galvanic corrosion matters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A predictable, preventable failure mode that no BIM tool checks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The electrochemical process</a:t>
            </a:r>
          </a:p>
        </p:txBody>
      </p:sp>
      <p:sp>
        <p:nvSpPr>
          <p:cNvPr id="11" name="TextBox 10"/>
          <p:cNvSpPr txBox="1"/>
          <p:nvPr/>
        </p:nvSpPr>
        <p:spPr>
          <a:xfrm>
            <a:off x="338328"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Two dissimilar metals in electrical contact, bridged by an electrolyte, form a cell. The less noble metal becomes the anode and corrodes preferentially. Rate scales with the potential gap between them and with the cathode-to-anode area ratio.</a:t>
            </a:r>
          </a:p>
        </p:txBody>
      </p:sp>
      <p:sp>
        <p:nvSpPr>
          <p:cNvPr id="12" name="Rectangle 11"/>
          <p:cNvSpPr/>
          <p:nvPr/>
        </p:nvSpPr>
        <p:spPr>
          <a:xfrm>
            <a:off x="3179064"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79064" y="1234440"/>
            <a:ext cx="2785872"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8792"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Real-world consequences</a:t>
            </a:r>
          </a:p>
        </p:txBody>
      </p:sp>
      <p:sp>
        <p:nvSpPr>
          <p:cNvPr id="15" name="TextBox 14"/>
          <p:cNvSpPr txBox="1"/>
          <p:nvPr/>
        </p:nvSpPr>
        <p:spPr>
          <a:xfrm>
            <a:off x="3288792"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Perforation of the anodic member, typically at the joint, long before design life. Field remediation runs 6–10× the cost of the design-stage specification change that would have prevented it, and arrives with programme delay attached.</a:t>
            </a:r>
          </a:p>
        </p:txBody>
      </p:sp>
      <p:sp>
        <p:nvSpPr>
          <p:cNvPr id="16" name="Rectangle 15"/>
          <p:cNvSpPr/>
          <p:nvPr/>
        </p:nvSpPr>
        <p:spPr>
          <a:xfrm>
            <a:off x="6129528"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9528" y="1234440"/>
            <a:ext cx="2785872" cy="6400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9256"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The standard gap</a:t>
            </a:r>
          </a:p>
        </p:txBody>
      </p:sp>
      <p:sp>
        <p:nvSpPr>
          <p:cNvPr id="19" name="TextBox 18"/>
          <p:cNvSpPr txBox="1"/>
          <p:nvPr/>
        </p:nvSpPr>
        <p:spPr>
          <a:xfrm>
            <a:off x="6239256"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Clash detection resolves geometry, not chemistry. Two touching elements of incompatible material are a valid clash-free model. No mainstream BIM tool interrogates material pairing at the joint.</a:t>
            </a:r>
          </a:p>
        </p:txBody>
      </p:sp>
      <p:sp>
        <p:nvSpPr>
          <p:cNvPr id="20" name="TextBox 19"/>
          <p:cNvSpPr txBox="1"/>
          <p:nvPr/>
        </p:nvSpPr>
        <p:spPr>
          <a:xfrm>
            <a:off x="228600" y="416052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GC-001 asks the question the geometry cannot: given what these two elements are made of, and where they sit, will one consume the other?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Three research questions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academic scope that frames this engine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102412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10241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RQ1  —  Detection from existing IFC data</a:t>
            </a:r>
          </a:p>
        </p:txBody>
      </p:sp>
      <p:sp>
        <p:nvSpPr>
          <p:cNvPr id="11" name="TextBox 10"/>
          <p:cNvSpPr txBox="1"/>
          <p:nvPr/>
        </p:nvSpPr>
        <p:spPr>
          <a:xfrm>
            <a:off x="356616" y="1600200"/>
            <a:ext cx="8485632" cy="585216"/>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Can corrosion risk in MEP building services be reliably identified from the material, spatial and zone metadata already present in an IFC model at LOD 300, without additional modelling effort?</a:t>
            </a:r>
          </a:p>
        </p:txBody>
      </p:sp>
      <p:sp>
        <p:nvSpPr>
          <p:cNvPr id="12" name="Rectangle 11"/>
          <p:cNvSpPr/>
          <p:nvPr/>
        </p:nvSpPr>
        <p:spPr>
          <a:xfrm>
            <a:off x="228600" y="2395728"/>
            <a:ext cx="8686800" cy="102412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395728"/>
            <a:ext cx="64008" cy="10241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487168"/>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RQ2  —  Dual-mechanism simultaneous checking</a:t>
            </a:r>
          </a:p>
        </p:txBody>
      </p:sp>
      <p:sp>
        <p:nvSpPr>
          <p:cNvPr id="15" name="TextBox 14"/>
          <p:cNvSpPr txBox="1"/>
          <p:nvPr/>
        </p:nvSpPr>
        <p:spPr>
          <a:xfrm>
            <a:off x="356616" y="2761488"/>
            <a:ext cx="8485632" cy="585216"/>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Can galvanic and crevice corrosion be evaluated in the same pass, such that each reports the failures the other cannot see, rather than collapsing into one combined score?</a:t>
            </a:r>
          </a:p>
        </p:txBody>
      </p:sp>
      <p:sp>
        <p:nvSpPr>
          <p:cNvPr id="16" name="Rectangle 15"/>
          <p:cNvSpPr/>
          <p:nvPr/>
        </p:nvSpPr>
        <p:spPr>
          <a:xfrm>
            <a:off x="228600" y="3557016"/>
            <a:ext cx="8686800" cy="102412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557016"/>
            <a:ext cx="64008" cy="10241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648456"/>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RQ3  —  OpenBIM cross-platform deployment</a:t>
            </a:r>
          </a:p>
        </p:txBody>
      </p:sp>
      <p:sp>
        <p:nvSpPr>
          <p:cNvPr id="19" name="TextBox 18"/>
          <p:cNvSpPr txBox="1"/>
          <p:nvPr/>
        </p:nvSpPr>
        <p:spPr>
          <a:xfrm>
            <a:off x="356616" y="3922776"/>
            <a:ext cx="8485632" cy="585216"/>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Can a compliance checker operating purely on IFC input and BCF output work across authoring tools without vendor plugins or proprietary APIs?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The 22-material electrochemical series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Ordered noble to active; the gap between any pair drives the risk</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65176"/>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2494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Material</a:t>
            </a:r>
          </a:p>
        </p:txBody>
      </p:sp>
      <p:sp>
        <p:nvSpPr>
          <p:cNvPr id="10" name="TextBox 9"/>
          <p:cNvSpPr txBox="1"/>
          <p:nvPr/>
        </p:nvSpPr>
        <p:spPr>
          <a:xfrm>
            <a:off x="2670048" y="1280160"/>
            <a:ext cx="17922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Potential (mV SCE)</a:t>
            </a:r>
          </a:p>
        </p:txBody>
      </p:sp>
      <p:sp>
        <p:nvSpPr>
          <p:cNvPr id="11" name="TextBox 10"/>
          <p:cNvSpPr txBox="1"/>
          <p:nvPr/>
        </p:nvSpPr>
        <p:spPr>
          <a:xfrm>
            <a:off x="4590288" y="1280160"/>
            <a:ext cx="106070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PREN</a:t>
            </a:r>
          </a:p>
        </p:txBody>
      </p:sp>
      <p:sp>
        <p:nvSpPr>
          <p:cNvPr id="12" name="TextBox 11"/>
          <p:cNvSpPr txBox="1"/>
          <p:nvPr/>
        </p:nvSpPr>
        <p:spPr>
          <a:xfrm>
            <a:off x="5779008" y="1280160"/>
            <a:ext cx="307238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Environment suitability</a:t>
            </a:r>
          </a:p>
        </p:txBody>
      </p:sp>
      <p:sp>
        <p:nvSpPr>
          <p:cNvPr id="13" name="Rectangle 12"/>
          <p:cNvSpPr/>
          <p:nvPr/>
        </p:nvSpPr>
        <p:spPr>
          <a:xfrm>
            <a:off x="228600" y="1499616"/>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45336"/>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Platinum</a:t>
            </a:r>
          </a:p>
        </p:txBody>
      </p:sp>
      <p:sp>
        <p:nvSpPr>
          <p:cNvPr id="15" name="TextBox 14"/>
          <p:cNvSpPr txBox="1"/>
          <p:nvPr/>
        </p:nvSpPr>
        <p:spPr>
          <a:xfrm>
            <a:off x="2670048" y="1545336"/>
            <a:ext cx="1792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+250</a:t>
            </a:r>
          </a:p>
        </p:txBody>
      </p:sp>
      <p:sp>
        <p:nvSpPr>
          <p:cNvPr id="16" name="TextBox 15"/>
          <p:cNvSpPr txBox="1"/>
          <p:nvPr/>
        </p:nvSpPr>
        <p:spPr>
          <a:xfrm>
            <a:off x="4590288" y="1545336"/>
            <a:ext cx="106070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17" name="TextBox 16"/>
          <p:cNvSpPr txBox="1"/>
          <p:nvPr/>
        </p:nvSpPr>
        <p:spPr>
          <a:xfrm>
            <a:off x="5779008" y="1545336"/>
            <a:ext cx="3072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Inert; laboratory service only</a:t>
            </a:r>
          </a:p>
        </p:txBody>
      </p:sp>
      <p:sp>
        <p:nvSpPr>
          <p:cNvPr id="18" name="Rectangle 17"/>
          <p:cNvSpPr/>
          <p:nvPr/>
        </p:nvSpPr>
        <p:spPr>
          <a:xfrm>
            <a:off x="228600" y="1764792"/>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10512"/>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Titanium Gr 2</a:t>
            </a:r>
          </a:p>
        </p:txBody>
      </p:sp>
      <p:sp>
        <p:nvSpPr>
          <p:cNvPr id="20" name="TextBox 19"/>
          <p:cNvSpPr txBox="1"/>
          <p:nvPr/>
        </p:nvSpPr>
        <p:spPr>
          <a:xfrm>
            <a:off x="2670048" y="1810512"/>
            <a:ext cx="1792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a:t>
            </a:r>
          </a:p>
        </p:txBody>
      </p:sp>
      <p:sp>
        <p:nvSpPr>
          <p:cNvPr id="21" name="TextBox 20"/>
          <p:cNvSpPr txBox="1"/>
          <p:nvPr/>
        </p:nvSpPr>
        <p:spPr>
          <a:xfrm>
            <a:off x="4590288" y="1810512"/>
            <a:ext cx="106070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22" name="TextBox 21"/>
          <p:cNvSpPr txBox="1"/>
          <p:nvPr/>
        </p:nvSpPr>
        <p:spPr>
          <a:xfrm>
            <a:off x="5779008" y="1810512"/>
            <a:ext cx="3072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All classes including E7 coastal</a:t>
            </a:r>
          </a:p>
        </p:txBody>
      </p:sp>
      <p:sp>
        <p:nvSpPr>
          <p:cNvPr id="23" name="Rectangle 22"/>
          <p:cNvSpPr/>
          <p:nvPr/>
        </p:nvSpPr>
        <p:spPr>
          <a:xfrm>
            <a:off x="228600" y="2029968"/>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075688"/>
            <a:ext cx="2249424" cy="192023"/>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SS316 / 1.4401</a:t>
            </a:r>
          </a:p>
        </p:txBody>
      </p:sp>
      <p:sp>
        <p:nvSpPr>
          <p:cNvPr id="25" name="TextBox 24"/>
          <p:cNvSpPr txBox="1"/>
          <p:nvPr/>
        </p:nvSpPr>
        <p:spPr>
          <a:xfrm>
            <a:off x="2670048" y="2075688"/>
            <a:ext cx="1792224" cy="192023"/>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−50</a:t>
            </a:r>
          </a:p>
        </p:txBody>
      </p:sp>
      <p:sp>
        <p:nvSpPr>
          <p:cNvPr id="26" name="TextBox 25"/>
          <p:cNvSpPr txBox="1"/>
          <p:nvPr/>
        </p:nvSpPr>
        <p:spPr>
          <a:xfrm>
            <a:off x="4590288" y="2075688"/>
            <a:ext cx="1060704" cy="192023"/>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25.2</a:t>
            </a:r>
          </a:p>
        </p:txBody>
      </p:sp>
      <p:sp>
        <p:nvSpPr>
          <p:cNvPr id="27" name="TextBox 26"/>
          <p:cNvSpPr txBox="1"/>
          <p:nvPr/>
        </p:nvSpPr>
        <p:spPr>
          <a:xfrm>
            <a:off x="5779008" y="2075688"/>
            <a:ext cx="3072384" cy="192023"/>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E1–E4; marginal above E5</a:t>
            </a:r>
          </a:p>
        </p:txBody>
      </p:sp>
      <p:sp>
        <p:nvSpPr>
          <p:cNvPr id="28" name="Rectangle 27"/>
          <p:cNvSpPr/>
          <p:nvPr/>
        </p:nvSpPr>
        <p:spPr>
          <a:xfrm>
            <a:off x="228600" y="2295144"/>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340863"/>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SS304 / 1.4301</a:t>
            </a:r>
          </a:p>
        </p:txBody>
      </p:sp>
      <p:sp>
        <p:nvSpPr>
          <p:cNvPr id="30" name="TextBox 29"/>
          <p:cNvSpPr txBox="1"/>
          <p:nvPr/>
        </p:nvSpPr>
        <p:spPr>
          <a:xfrm>
            <a:off x="2670048" y="2340863"/>
            <a:ext cx="1792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−80</a:t>
            </a:r>
          </a:p>
        </p:txBody>
      </p:sp>
      <p:sp>
        <p:nvSpPr>
          <p:cNvPr id="31" name="TextBox 30"/>
          <p:cNvSpPr txBox="1"/>
          <p:nvPr/>
        </p:nvSpPr>
        <p:spPr>
          <a:xfrm>
            <a:off x="4590288" y="2340863"/>
            <a:ext cx="106070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18.6</a:t>
            </a:r>
          </a:p>
        </p:txBody>
      </p:sp>
      <p:sp>
        <p:nvSpPr>
          <p:cNvPr id="32" name="TextBox 31"/>
          <p:cNvSpPr txBox="1"/>
          <p:nvPr/>
        </p:nvSpPr>
        <p:spPr>
          <a:xfrm>
            <a:off x="5779008" y="2340863"/>
            <a:ext cx="3072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E1–E2 only; pits in chloride</a:t>
            </a:r>
          </a:p>
        </p:txBody>
      </p:sp>
      <p:sp>
        <p:nvSpPr>
          <p:cNvPr id="33" name="Rectangle 32"/>
          <p:cNvSpPr/>
          <p:nvPr/>
        </p:nvSpPr>
        <p:spPr>
          <a:xfrm>
            <a:off x="228600" y="2560320"/>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2606039"/>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Copper C12200</a:t>
            </a:r>
          </a:p>
        </p:txBody>
      </p:sp>
      <p:sp>
        <p:nvSpPr>
          <p:cNvPr id="35" name="TextBox 34"/>
          <p:cNvSpPr txBox="1"/>
          <p:nvPr/>
        </p:nvSpPr>
        <p:spPr>
          <a:xfrm>
            <a:off x="2670048" y="2606039"/>
            <a:ext cx="1792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−350</a:t>
            </a:r>
          </a:p>
        </p:txBody>
      </p:sp>
      <p:sp>
        <p:nvSpPr>
          <p:cNvPr id="36" name="TextBox 35"/>
          <p:cNvSpPr txBox="1"/>
          <p:nvPr/>
        </p:nvSpPr>
        <p:spPr>
          <a:xfrm>
            <a:off x="4590288" y="2606039"/>
            <a:ext cx="106070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37" name="TextBox 36"/>
          <p:cNvSpPr txBox="1"/>
          <p:nvPr/>
        </p:nvSpPr>
        <p:spPr>
          <a:xfrm>
            <a:off x="5779008" y="2606039"/>
            <a:ext cx="3072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E1–E4; avoid coupling to steel</a:t>
            </a:r>
          </a:p>
        </p:txBody>
      </p:sp>
      <p:sp>
        <p:nvSpPr>
          <p:cNvPr id="38" name="Rectangle 37"/>
          <p:cNvSpPr/>
          <p:nvPr/>
        </p:nvSpPr>
        <p:spPr>
          <a:xfrm>
            <a:off x="228600" y="2825496"/>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871215"/>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Bronze / gunmetal</a:t>
            </a:r>
          </a:p>
        </p:txBody>
      </p:sp>
      <p:sp>
        <p:nvSpPr>
          <p:cNvPr id="40" name="TextBox 39"/>
          <p:cNvSpPr txBox="1"/>
          <p:nvPr/>
        </p:nvSpPr>
        <p:spPr>
          <a:xfrm>
            <a:off x="2670048" y="2871215"/>
            <a:ext cx="1792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−400</a:t>
            </a:r>
          </a:p>
        </p:txBody>
      </p:sp>
      <p:sp>
        <p:nvSpPr>
          <p:cNvPr id="41" name="TextBox 40"/>
          <p:cNvSpPr txBox="1"/>
          <p:nvPr/>
        </p:nvSpPr>
        <p:spPr>
          <a:xfrm>
            <a:off x="4590288" y="2871215"/>
            <a:ext cx="106070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42" name="TextBox 41"/>
          <p:cNvSpPr txBox="1"/>
          <p:nvPr/>
        </p:nvSpPr>
        <p:spPr>
          <a:xfrm>
            <a:off x="5779008" y="2871215"/>
            <a:ext cx="3072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E1–E4 valve bodies</a:t>
            </a:r>
          </a:p>
        </p:txBody>
      </p:sp>
      <p:sp>
        <p:nvSpPr>
          <p:cNvPr id="43" name="Rectangle 42"/>
          <p:cNvSpPr/>
          <p:nvPr/>
        </p:nvSpPr>
        <p:spPr>
          <a:xfrm>
            <a:off x="228600" y="3090672"/>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92608" y="3136391"/>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Carbon steel</a:t>
            </a:r>
          </a:p>
        </p:txBody>
      </p:sp>
      <p:sp>
        <p:nvSpPr>
          <p:cNvPr id="45" name="TextBox 44"/>
          <p:cNvSpPr txBox="1"/>
          <p:nvPr/>
        </p:nvSpPr>
        <p:spPr>
          <a:xfrm>
            <a:off x="2670048" y="3136391"/>
            <a:ext cx="1792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−600</a:t>
            </a:r>
          </a:p>
        </p:txBody>
      </p:sp>
      <p:sp>
        <p:nvSpPr>
          <p:cNvPr id="46" name="TextBox 45"/>
          <p:cNvSpPr txBox="1"/>
          <p:nvPr/>
        </p:nvSpPr>
        <p:spPr>
          <a:xfrm>
            <a:off x="4590288" y="3136391"/>
            <a:ext cx="106070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47" name="TextBox 46"/>
          <p:cNvSpPr txBox="1"/>
          <p:nvPr/>
        </p:nvSpPr>
        <p:spPr>
          <a:xfrm>
            <a:off x="5779008" y="3136391"/>
            <a:ext cx="3072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E1–E2 dry only; coat otherwise</a:t>
            </a:r>
          </a:p>
        </p:txBody>
      </p:sp>
      <p:sp>
        <p:nvSpPr>
          <p:cNvPr id="48" name="Rectangle 47"/>
          <p:cNvSpPr/>
          <p:nvPr/>
        </p:nvSpPr>
        <p:spPr>
          <a:xfrm>
            <a:off x="228600" y="3355848"/>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2608" y="3401568"/>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Galvanised steel</a:t>
            </a:r>
          </a:p>
        </p:txBody>
      </p:sp>
      <p:sp>
        <p:nvSpPr>
          <p:cNvPr id="50" name="TextBox 49"/>
          <p:cNvSpPr txBox="1"/>
          <p:nvPr/>
        </p:nvSpPr>
        <p:spPr>
          <a:xfrm>
            <a:off x="2670048" y="3401568"/>
            <a:ext cx="1792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−980</a:t>
            </a:r>
          </a:p>
        </p:txBody>
      </p:sp>
      <p:sp>
        <p:nvSpPr>
          <p:cNvPr id="51" name="TextBox 50"/>
          <p:cNvSpPr txBox="1"/>
          <p:nvPr/>
        </p:nvSpPr>
        <p:spPr>
          <a:xfrm>
            <a:off x="4590288" y="3401568"/>
            <a:ext cx="106070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52" name="TextBox 51"/>
          <p:cNvSpPr txBox="1"/>
          <p:nvPr/>
        </p:nvSpPr>
        <p:spPr>
          <a:xfrm>
            <a:off x="5779008" y="3401568"/>
            <a:ext cx="3072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Sacrificial; reverses above 60 °C</a:t>
            </a:r>
          </a:p>
        </p:txBody>
      </p:sp>
      <p:sp>
        <p:nvSpPr>
          <p:cNvPr id="53" name="Rectangle 52"/>
          <p:cNvSpPr/>
          <p:nvPr/>
        </p:nvSpPr>
        <p:spPr>
          <a:xfrm>
            <a:off x="228600" y="3621024"/>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92608" y="3666744"/>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Zinc</a:t>
            </a:r>
          </a:p>
        </p:txBody>
      </p:sp>
      <p:sp>
        <p:nvSpPr>
          <p:cNvPr id="55" name="TextBox 54"/>
          <p:cNvSpPr txBox="1"/>
          <p:nvPr/>
        </p:nvSpPr>
        <p:spPr>
          <a:xfrm>
            <a:off x="2670048" y="3666744"/>
            <a:ext cx="1792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−1030</a:t>
            </a:r>
          </a:p>
        </p:txBody>
      </p:sp>
      <p:sp>
        <p:nvSpPr>
          <p:cNvPr id="56" name="TextBox 55"/>
          <p:cNvSpPr txBox="1"/>
          <p:nvPr/>
        </p:nvSpPr>
        <p:spPr>
          <a:xfrm>
            <a:off x="4590288" y="3666744"/>
            <a:ext cx="106070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57" name="TextBox 56"/>
          <p:cNvSpPr txBox="1"/>
          <p:nvPr/>
        </p:nvSpPr>
        <p:spPr>
          <a:xfrm>
            <a:off x="5779008" y="3666744"/>
            <a:ext cx="3072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Anode material, not a service metal</a:t>
            </a:r>
          </a:p>
        </p:txBody>
      </p:sp>
      <p:sp>
        <p:nvSpPr>
          <p:cNvPr id="58" name="Rectangle 57"/>
          <p:cNvSpPr/>
          <p:nvPr/>
        </p:nvSpPr>
        <p:spPr>
          <a:xfrm>
            <a:off x="228600" y="3886200"/>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92608" y="3931920"/>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Magnesium</a:t>
            </a:r>
          </a:p>
        </p:txBody>
      </p:sp>
      <p:sp>
        <p:nvSpPr>
          <p:cNvPr id="60" name="TextBox 59"/>
          <p:cNvSpPr txBox="1"/>
          <p:nvPr/>
        </p:nvSpPr>
        <p:spPr>
          <a:xfrm>
            <a:off x="2670048" y="3931920"/>
            <a:ext cx="1792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−1600</a:t>
            </a:r>
          </a:p>
        </p:txBody>
      </p:sp>
      <p:sp>
        <p:nvSpPr>
          <p:cNvPr id="61" name="TextBox 60"/>
          <p:cNvSpPr txBox="1"/>
          <p:nvPr/>
        </p:nvSpPr>
        <p:spPr>
          <a:xfrm>
            <a:off x="4590288" y="3931920"/>
            <a:ext cx="106070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62" name="TextBox 61"/>
          <p:cNvSpPr txBox="1"/>
          <p:nvPr/>
        </p:nvSpPr>
        <p:spPr>
          <a:xfrm>
            <a:off x="5779008" y="3931920"/>
            <a:ext cx="307238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Sacrificial anode only</a:t>
            </a:r>
          </a:p>
        </p:txBody>
      </p:sp>
      <p:sp>
        <p:nvSpPr>
          <p:cNvPr id="63" name="TextBox 62"/>
          <p:cNvSpPr txBox="1"/>
          <p:nvPr/>
        </p:nvSpPr>
        <p:spPr>
          <a:xfrm>
            <a:off x="228600" y="434340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Full series holds 22 entries. Risk rises with separation: copper against carbon steel is a 250 mV gap; copper against galvanised steel is 630 mV.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Seven environment classes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Each multiplies the base electrochemical risk</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60350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Class</a:t>
            </a:r>
          </a:p>
        </p:txBody>
      </p:sp>
      <p:sp>
        <p:nvSpPr>
          <p:cNvPr id="10" name="TextBox 9"/>
          <p:cNvSpPr txBox="1"/>
          <p:nvPr/>
        </p:nvSpPr>
        <p:spPr>
          <a:xfrm>
            <a:off x="1024128" y="1280160"/>
            <a:ext cx="170078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Name</a:t>
            </a:r>
          </a:p>
        </p:txBody>
      </p:sp>
      <p:sp>
        <p:nvSpPr>
          <p:cNvPr id="11" name="TextBox 10"/>
          <p:cNvSpPr txBox="1"/>
          <p:nvPr/>
        </p:nvSpPr>
        <p:spPr>
          <a:xfrm>
            <a:off x="2852927" y="1280160"/>
            <a:ext cx="234086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Description</a:t>
            </a:r>
          </a:p>
        </p:txBody>
      </p:sp>
      <p:sp>
        <p:nvSpPr>
          <p:cNvPr id="12" name="TextBox 11"/>
          <p:cNvSpPr txBox="1"/>
          <p:nvPr/>
        </p:nvSpPr>
        <p:spPr>
          <a:xfrm>
            <a:off x="5321808" y="1280160"/>
            <a:ext cx="87782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Multiplier</a:t>
            </a:r>
          </a:p>
        </p:txBody>
      </p:sp>
      <p:sp>
        <p:nvSpPr>
          <p:cNvPr id="13" name="TextBox 12"/>
          <p:cNvSpPr txBox="1"/>
          <p:nvPr/>
        </p:nvSpPr>
        <p:spPr>
          <a:xfrm>
            <a:off x="6327648" y="1280160"/>
            <a:ext cx="252374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Example location</a:t>
            </a:r>
          </a:p>
        </p:txBody>
      </p:sp>
      <p:sp>
        <p:nvSpPr>
          <p:cNvPr id="14" name="Rectangle 13"/>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554480"/>
            <a:ext cx="6035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E1</a:t>
            </a:r>
          </a:p>
        </p:txBody>
      </p:sp>
      <p:sp>
        <p:nvSpPr>
          <p:cNvPr id="16" name="TextBox 15"/>
          <p:cNvSpPr txBox="1"/>
          <p:nvPr/>
        </p:nvSpPr>
        <p:spPr>
          <a:xfrm>
            <a:off x="1024128" y="1554480"/>
            <a:ext cx="17007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Controlled indoor</a:t>
            </a:r>
          </a:p>
        </p:txBody>
      </p:sp>
      <p:sp>
        <p:nvSpPr>
          <p:cNvPr id="17" name="TextBox 16"/>
          <p:cNvSpPr txBox="1"/>
          <p:nvPr/>
        </p:nvSpPr>
        <p:spPr>
          <a:xfrm>
            <a:off x="2852927" y="1554480"/>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Conditioned, RH &lt; 45%</a:t>
            </a:r>
          </a:p>
        </p:txBody>
      </p:sp>
      <p:sp>
        <p:nvSpPr>
          <p:cNvPr id="18" name="TextBox 17"/>
          <p:cNvSpPr txBox="1"/>
          <p:nvPr/>
        </p:nvSpPr>
        <p:spPr>
          <a:xfrm>
            <a:off x="5321808" y="1554480"/>
            <a:ext cx="877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0.8×</a:t>
            </a:r>
          </a:p>
        </p:txBody>
      </p:sp>
      <p:sp>
        <p:nvSpPr>
          <p:cNvPr id="19" name="TextBox 18"/>
          <p:cNvSpPr txBox="1"/>
          <p:nvPr/>
        </p:nvSpPr>
        <p:spPr>
          <a:xfrm>
            <a:off x="6327648" y="155448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Office ceiling void</a:t>
            </a:r>
          </a:p>
        </p:txBody>
      </p:sp>
      <p:sp>
        <p:nvSpPr>
          <p:cNvPr id="20" name="Rectangle 19"/>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1828800"/>
            <a:ext cx="6035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E2</a:t>
            </a:r>
          </a:p>
        </p:txBody>
      </p:sp>
      <p:sp>
        <p:nvSpPr>
          <p:cNvPr id="22" name="TextBox 21"/>
          <p:cNvSpPr txBox="1"/>
          <p:nvPr/>
        </p:nvSpPr>
        <p:spPr>
          <a:xfrm>
            <a:off x="1024128" y="1828800"/>
            <a:ext cx="17007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Heated indoor</a:t>
            </a:r>
          </a:p>
        </p:txBody>
      </p:sp>
      <p:sp>
        <p:nvSpPr>
          <p:cNvPr id="23" name="TextBox 22"/>
          <p:cNvSpPr txBox="1"/>
          <p:nvPr/>
        </p:nvSpPr>
        <p:spPr>
          <a:xfrm>
            <a:off x="2852927" y="1828800"/>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Conditioned, RH 45–60%</a:t>
            </a:r>
          </a:p>
        </p:txBody>
      </p:sp>
      <p:sp>
        <p:nvSpPr>
          <p:cNvPr id="24" name="TextBox 23"/>
          <p:cNvSpPr txBox="1"/>
          <p:nvPr/>
        </p:nvSpPr>
        <p:spPr>
          <a:xfrm>
            <a:off x="5321808" y="1828800"/>
            <a:ext cx="877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a:t>
            </a:r>
          </a:p>
        </p:txBody>
      </p:sp>
      <p:sp>
        <p:nvSpPr>
          <p:cNvPr id="25" name="TextBox 24"/>
          <p:cNvSpPr txBox="1"/>
          <p:nvPr/>
        </p:nvSpPr>
        <p:spPr>
          <a:xfrm>
            <a:off x="6327648" y="182880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Riser cupboard</a:t>
            </a:r>
          </a:p>
        </p:txBody>
      </p:sp>
      <p:sp>
        <p:nvSpPr>
          <p:cNvPr id="26" name="Rectangle 25"/>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 y="2103120"/>
            <a:ext cx="6035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E3</a:t>
            </a:r>
          </a:p>
        </p:txBody>
      </p:sp>
      <p:sp>
        <p:nvSpPr>
          <p:cNvPr id="28" name="TextBox 27"/>
          <p:cNvSpPr txBox="1"/>
          <p:nvPr/>
        </p:nvSpPr>
        <p:spPr>
          <a:xfrm>
            <a:off x="1024128" y="2103120"/>
            <a:ext cx="17007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Humid indoor</a:t>
            </a:r>
          </a:p>
        </p:txBody>
      </p:sp>
      <p:sp>
        <p:nvSpPr>
          <p:cNvPr id="29" name="TextBox 28"/>
          <p:cNvSpPr txBox="1"/>
          <p:nvPr/>
        </p:nvSpPr>
        <p:spPr>
          <a:xfrm>
            <a:off x="2852927" y="2103120"/>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Intermittent condensation</a:t>
            </a:r>
          </a:p>
        </p:txBody>
      </p:sp>
      <p:sp>
        <p:nvSpPr>
          <p:cNvPr id="30" name="TextBox 29"/>
          <p:cNvSpPr txBox="1"/>
          <p:nvPr/>
        </p:nvSpPr>
        <p:spPr>
          <a:xfrm>
            <a:off x="5321808" y="2103120"/>
            <a:ext cx="877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1.2×</a:t>
            </a:r>
          </a:p>
        </p:txBody>
      </p:sp>
      <p:sp>
        <p:nvSpPr>
          <p:cNvPr id="31" name="TextBox 30"/>
          <p:cNvSpPr txBox="1"/>
          <p:nvPr/>
        </p:nvSpPr>
        <p:spPr>
          <a:xfrm>
            <a:off x="6327648" y="210312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Plant room, laundry</a:t>
            </a:r>
          </a:p>
        </p:txBody>
      </p:sp>
      <p:sp>
        <p:nvSpPr>
          <p:cNvPr id="32" name="Rectangle 31"/>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377439"/>
            <a:ext cx="6035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E4</a:t>
            </a:r>
          </a:p>
        </p:txBody>
      </p:sp>
      <p:sp>
        <p:nvSpPr>
          <p:cNvPr id="34" name="TextBox 33"/>
          <p:cNvSpPr txBox="1"/>
          <p:nvPr/>
        </p:nvSpPr>
        <p:spPr>
          <a:xfrm>
            <a:off x="1024128" y="2377439"/>
            <a:ext cx="17007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Outdoor sheltered</a:t>
            </a:r>
          </a:p>
        </p:txBody>
      </p:sp>
      <p:sp>
        <p:nvSpPr>
          <p:cNvPr id="35" name="TextBox 34"/>
          <p:cNvSpPr txBox="1"/>
          <p:nvPr/>
        </p:nvSpPr>
        <p:spPr>
          <a:xfrm>
            <a:off x="2852927" y="2377439"/>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No direct rain, ambient RH</a:t>
            </a:r>
          </a:p>
        </p:txBody>
      </p:sp>
      <p:sp>
        <p:nvSpPr>
          <p:cNvPr id="36" name="TextBox 35"/>
          <p:cNvSpPr txBox="1"/>
          <p:nvPr/>
        </p:nvSpPr>
        <p:spPr>
          <a:xfrm>
            <a:off x="5321808" y="2377439"/>
            <a:ext cx="877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1.4×</a:t>
            </a:r>
          </a:p>
        </p:txBody>
      </p:sp>
      <p:sp>
        <p:nvSpPr>
          <p:cNvPr id="37" name="TextBox 36"/>
          <p:cNvSpPr txBox="1"/>
          <p:nvPr/>
        </p:nvSpPr>
        <p:spPr>
          <a:xfrm>
            <a:off x="6327648" y="2377439"/>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Covered walkway</a:t>
            </a:r>
          </a:p>
        </p:txBody>
      </p:sp>
      <p:sp>
        <p:nvSpPr>
          <p:cNvPr id="38" name="Rectangle 3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651760"/>
            <a:ext cx="6035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E5</a:t>
            </a:r>
          </a:p>
        </p:txBody>
      </p:sp>
      <p:sp>
        <p:nvSpPr>
          <p:cNvPr id="40" name="TextBox 39"/>
          <p:cNvSpPr txBox="1"/>
          <p:nvPr/>
        </p:nvSpPr>
        <p:spPr>
          <a:xfrm>
            <a:off x="1024128" y="2651760"/>
            <a:ext cx="17007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Outdoor exposed</a:t>
            </a:r>
          </a:p>
        </p:txBody>
      </p:sp>
      <p:sp>
        <p:nvSpPr>
          <p:cNvPr id="41" name="TextBox 40"/>
          <p:cNvSpPr txBox="1"/>
          <p:nvPr/>
        </p:nvSpPr>
        <p:spPr>
          <a:xfrm>
            <a:off x="2852927" y="2651760"/>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Direct wetting, UV</a:t>
            </a:r>
          </a:p>
        </p:txBody>
      </p:sp>
      <p:sp>
        <p:nvSpPr>
          <p:cNvPr id="42" name="TextBox 41"/>
          <p:cNvSpPr txBox="1"/>
          <p:nvPr/>
        </p:nvSpPr>
        <p:spPr>
          <a:xfrm>
            <a:off x="5321808" y="2651760"/>
            <a:ext cx="877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1.6×</a:t>
            </a:r>
          </a:p>
        </p:txBody>
      </p:sp>
      <p:sp>
        <p:nvSpPr>
          <p:cNvPr id="43" name="TextBox 42"/>
          <p:cNvSpPr txBox="1"/>
          <p:nvPr/>
        </p:nvSpPr>
        <p:spPr>
          <a:xfrm>
            <a:off x="6327648" y="265176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Roof plant</a:t>
            </a:r>
          </a:p>
        </p:txBody>
      </p:sp>
      <p:sp>
        <p:nvSpPr>
          <p:cNvPr id="44" name="Rectangle 43"/>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2608" y="2926080"/>
            <a:ext cx="603504" cy="201167"/>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E6</a:t>
            </a:r>
          </a:p>
        </p:txBody>
      </p:sp>
      <p:sp>
        <p:nvSpPr>
          <p:cNvPr id="46" name="TextBox 45"/>
          <p:cNvSpPr txBox="1"/>
          <p:nvPr/>
        </p:nvSpPr>
        <p:spPr>
          <a:xfrm>
            <a:off x="1024128" y="2926080"/>
            <a:ext cx="1700784" cy="201167"/>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Coastal</a:t>
            </a:r>
          </a:p>
        </p:txBody>
      </p:sp>
      <p:sp>
        <p:nvSpPr>
          <p:cNvPr id="47" name="TextBox 46"/>
          <p:cNvSpPr txBox="1"/>
          <p:nvPr/>
        </p:nvSpPr>
        <p:spPr>
          <a:xfrm>
            <a:off x="2852927" y="2926080"/>
            <a:ext cx="2340864" cy="201167"/>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Airborne chloride &lt; 5 km</a:t>
            </a:r>
          </a:p>
        </p:txBody>
      </p:sp>
      <p:sp>
        <p:nvSpPr>
          <p:cNvPr id="48" name="TextBox 47"/>
          <p:cNvSpPr txBox="1"/>
          <p:nvPr/>
        </p:nvSpPr>
        <p:spPr>
          <a:xfrm>
            <a:off x="5321808" y="2926080"/>
            <a:ext cx="877824" cy="201167"/>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1.7×</a:t>
            </a:r>
          </a:p>
        </p:txBody>
      </p:sp>
      <p:sp>
        <p:nvSpPr>
          <p:cNvPr id="49" name="TextBox 48"/>
          <p:cNvSpPr txBox="1"/>
          <p:nvPr/>
        </p:nvSpPr>
        <p:spPr>
          <a:xfrm>
            <a:off x="6327648" y="2926080"/>
            <a:ext cx="2523744" cy="201167"/>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Seafront plant deck</a:t>
            </a:r>
          </a:p>
        </p:txBody>
      </p:sp>
      <p:sp>
        <p:nvSpPr>
          <p:cNvPr id="50" name="Rectangle 49"/>
          <p:cNvSpPr/>
          <p:nvPr/>
        </p:nvSpPr>
        <p:spPr>
          <a:xfrm>
            <a:off x="228600" y="315468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92608" y="3200400"/>
            <a:ext cx="6035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E7</a:t>
            </a:r>
          </a:p>
        </p:txBody>
      </p:sp>
      <p:sp>
        <p:nvSpPr>
          <p:cNvPr id="52" name="TextBox 51"/>
          <p:cNvSpPr txBox="1"/>
          <p:nvPr/>
        </p:nvSpPr>
        <p:spPr>
          <a:xfrm>
            <a:off x="1024128" y="3200400"/>
            <a:ext cx="17007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High-corrosivity</a:t>
            </a:r>
          </a:p>
        </p:txBody>
      </p:sp>
      <p:sp>
        <p:nvSpPr>
          <p:cNvPr id="53" name="TextBox 52"/>
          <p:cNvSpPr txBox="1"/>
          <p:nvPr/>
        </p:nvSpPr>
        <p:spPr>
          <a:xfrm>
            <a:off x="2852927" y="3200400"/>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Process chemical, pool hall</a:t>
            </a:r>
          </a:p>
        </p:txBody>
      </p:sp>
      <p:sp>
        <p:nvSpPr>
          <p:cNvPr id="54" name="TextBox 53"/>
          <p:cNvSpPr txBox="1"/>
          <p:nvPr/>
        </p:nvSpPr>
        <p:spPr>
          <a:xfrm>
            <a:off x="5321808" y="3200400"/>
            <a:ext cx="877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1.8×</a:t>
            </a:r>
          </a:p>
        </p:txBody>
      </p:sp>
      <p:sp>
        <p:nvSpPr>
          <p:cNvPr id="55" name="TextBox 54"/>
          <p:cNvSpPr txBox="1"/>
          <p:nvPr/>
        </p:nvSpPr>
        <p:spPr>
          <a:xfrm>
            <a:off x="6327648" y="3200400"/>
            <a:ext cx="252374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Pool plant, dosing room</a:t>
            </a:r>
          </a:p>
        </p:txBody>
      </p:sp>
      <p:sp>
        <p:nvSpPr>
          <p:cNvPr id="56" name="TextBox 55"/>
          <p:cNvSpPr txBox="1"/>
          <p:nvPr/>
        </p:nvSpPr>
        <p:spPr>
          <a:xfrm>
            <a:off x="228600" y="434340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Class is inferred from IFC spatial containment — space name, storey and zone — and recorded on the finding so the inference is auditable.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PREN: Pitting Resistance Equivalent Number</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Whether a stainless grade suits the environment it sits in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325880"/>
            <a:ext cx="8686800" cy="7315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90472"/>
            <a:ext cx="8503920" cy="457200"/>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PREN  =  %Cr  +  3.3 × %Mo  +  16 × %N</a:t>
            </a:r>
          </a:p>
        </p:txBody>
      </p:sp>
      <p:sp>
        <p:nvSpPr>
          <p:cNvPr id="10" name="TextBox 9"/>
          <p:cNvSpPr txBox="1"/>
          <p:nvPr/>
        </p:nvSpPr>
        <p:spPr>
          <a:xfrm>
            <a:off x="228600" y="2148840"/>
            <a:ext cx="8686800" cy="274320"/>
          </a:xfrm>
          <a:prstGeom prst="rect">
            <a:avLst/>
          </a:prstGeom>
          <a:noFill/>
        </p:spPr>
        <p:txBody>
          <a:bodyPr wrap="square" anchor="t" lIns="0" rIns="0" tIns="0" bIns="0">
            <a:spAutoFit/>
          </a:bodyPr>
          <a:lstStyle/>
          <a:p>
            <a:pPr algn="ctr">
              <a:lnSpc>
                <a:spcPct val="100000"/>
              </a:lnSpc>
            </a:pPr>
            <a:r>
              <a:rPr sz="1050" b="0">
                <a:solidFill>
                  <a:srgbClr val="8896A6"/>
                </a:solidFill>
                <a:latin typeface="Calibri"/>
              </a:rPr>
              <a:t>IMOA Design Manual. Higher PREN resists chloride pitting; the threshold rises with environment severity.</a:t>
            </a:r>
          </a:p>
        </p:txBody>
      </p:sp>
      <p:sp>
        <p:nvSpPr>
          <p:cNvPr id="11" name="Rectangle 10"/>
          <p:cNvSpPr/>
          <p:nvPr/>
        </p:nvSpPr>
        <p:spPr>
          <a:xfrm>
            <a:off x="228600" y="2377440"/>
            <a:ext cx="8686800" cy="2926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 y="2423160"/>
            <a:ext cx="1609343"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Environment</a:t>
            </a:r>
          </a:p>
        </p:txBody>
      </p:sp>
      <p:sp>
        <p:nvSpPr>
          <p:cNvPr id="13" name="TextBox 12"/>
          <p:cNvSpPr txBox="1"/>
          <p:nvPr/>
        </p:nvSpPr>
        <p:spPr>
          <a:xfrm>
            <a:off x="2029967" y="2423160"/>
            <a:ext cx="142646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Minimum PREN</a:t>
            </a:r>
          </a:p>
        </p:txBody>
      </p:sp>
      <p:sp>
        <p:nvSpPr>
          <p:cNvPr id="14" name="TextBox 13"/>
          <p:cNvSpPr txBox="1"/>
          <p:nvPr/>
        </p:nvSpPr>
        <p:spPr>
          <a:xfrm>
            <a:off x="3584447" y="2423160"/>
            <a:ext cx="2066543"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Grade required</a:t>
            </a:r>
          </a:p>
        </p:txBody>
      </p:sp>
      <p:sp>
        <p:nvSpPr>
          <p:cNvPr id="15" name="TextBox 14"/>
          <p:cNvSpPr txBox="1"/>
          <p:nvPr/>
        </p:nvSpPr>
        <p:spPr>
          <a:xfrm>
            <a:off x="5779008" y="2423160"/>
            <a:ext cx="307238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Rationale</a:t>
            </a:r>
          </a:p>
        </p:txBody>
      </p:sp>
      <p:sp>
        <p:nvSpPr>
          <p:cNvPr id="16" name="Rectangle 15"/>
          <p:cNvSpPr/>
          <p:nvPr/>
        </p:nvSpPr>
        <p:spPr>
          <a:xfrm>
            <a:off x="228600" y="2670048"/>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2715768"/>
            <a:ext cx="160934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E1 – E2</a:t>
            </a:r>
          </a:p>
        </p:txBody>
      </p:sp>
      <p:sp>
        <p:nvSpPr>
          <p:cNvPr id="18" name="TextBox 17"/>
          <p:cNvSpPr txBox="1"/>
          <p:nvPr/>
        </p:nvSpPr>
        <p:spPr>
          <a:xfrm>
            <a:off x="2029967" y="2715768"/>
            <a:ext cx="14264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18</a:t>
            </a:r>
          </a:p>
        </p:txBody>
      </p:sp>
      <p:sp>
        <p:nvSpPr>
          <p:cNvPr id="19" name="TextBox 18"/>
          <p:cNvSpPr txBox="1"/>
          <p:nvPr/>
        </p:nvSpPr>
        <p:spPr>
          <a:xfrm>
            <a:off x="3584447" y="2715768"/>
            <a:ext cx="206654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SS304 (18.6)</a:t>
            </a:r>
          </a:p>
        </p:txBody>
      </p:sp>
      <p:sp>
        <p:nvSpPr>
          <p:cNvPr id="20" name="TextBox 19"/>
          <p:cNvSpPr txBox="1"/>
          <p:nvPr/>
        </p:nvSpPr>
        <p:spPr>
          <a:xfrm>
            <a:off x="5779008" y="2715768"/>
            <a:ext cx="307238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Dry, low chloride; austenitic adequate</a:t>
            </a:r>
          </a:p>
        </p:txBody>
      </p:sp>
      <p:sp>
        <p:nvSpPr>
          <p:cNvPr id="21" name="Rectangle 20"/>
          <p:cNvSpPr/>
          <p:nvPr/>
        </p:nvSpPr>
        <p:spPr>
          <a:xfrm>
            <a:off x="228600" y="2962656"/>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2608" y="3008375"/>
            <a:ext cx="160934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E3 – E4</a:t>
            </a:r>
          </a:p>
        </p:txBody>
      </p:sp>
      <p:sp>
        <p:nvSpPr>
          <p:cNvPr id="23" name="TextBox 22"/>
          <p:cNvSpPr txBox="1"/>
          <p:nvPr/>
        </p:nvSpPr>
        <p:spPr>
          <a:xfrm>
            <a:off x="2029967" y="3008375"/>
            <a:ext cx="14264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25</a:t>
            </a:r>
          </a:p>
        </p:txBody>
      </p:sp>
      <p:sp>
        <p:nvSpPr>
          <p:cNvPr id="24" name="TextBox 23"/>
          <p:cNvSpPr txBox="1"/>
          <p:nvPr/>
        </p:nvSpPr>
        <p:spPr>
          <a:xfrm>
            <a:off x="3584447" y="3008375"/>
            <a:ext cx="206654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SS316 (25.2)</a:t>
            </a:r>
          </a:p>
        </p:txBody>
      </p:sp>
      <p:sp>
        <p:nvSpPr>
          <p:cNvPr id="25" name="TextBox 24"/>
          <p:cNvSpPr txBox="1"/>
          <p:nvPr/>
        </p:nvSpPr>
        <p:spPr>
          <a:xfrm>
            <a:off x="5779008" y="3008375"/>
            <a:ext cx="307238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Molybdenum needed against condensation</a:t>
            </a:r>
          </a:p>
        </p:txBody>
      </p:sp>
      <p:sp>
        <p:nvSpPr>
          <p:cNvPr id="26" name="Rectangle 25"/>
          <p:cNvSpPr/>
          <p:nvPr/>
        </p:nvSpPr>
        <p:spPr>
          <a:xfrm>
            <a:off x="228600" y="3255264"/>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 y="3300984"/>
            <a:ext cx="160934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E5 – E7</a:t>
            </a:r>
          </a:p>
        </p:txBody>
      </p:sp>
      <p:sp>
        <p:nvSpPr>
          <p:cNvPr id="28" name="TextBox 27"/>
          <p:cNvSpPr txBox="1"/>
          <p:nvPr/>
        </p:nvSpPr>
        <p:spPr>
          <a:xfrm>
            <a:off x="2029967" y="3300984"/>
            <a:ext cx="14264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32</a:t>
            </a:r>
          </a:p>
        </p:txBody>
      </p:sp>
      <p:sp>
        <p:nvSpPr>
          <p:cNvPr id="29" name="TextBox 28"/>
          <p:cNvSpPr txBox="1"/>
          <p:nvPr/>
        </p:nvSpPr>
        <p:spPr>
          <a:xfrm>
            <a:off x="3584447" y="3300984"/>
            <a:ext cx="206654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Duplex 2205 (35.0)</a:t>
            </a:r>
          </a:p>
        </p:txBody>
      </p:sp>
      <p:sp>
        <p:nvSpPr>
          <p:cNvPr id="30" name="TextBox 29"/>
          <p:cNvSpPr txBox="1"/>
          <p:nvPr/>
        </p:nvSpPr>
        <p:spPr>
          <a:xfrm>
            <a:off x="5779008" y="3300984"/>
            <a:ext cx="307238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Chloride loading exceeds 316 capacity</a:t>
            </a:r>
          </a:p>
        </p:txBody>
      </p:sp>
      <p:sp>
        <p:nvSpPr>
          <p:cNvPr id="31" name="TextBox 30"/>
          <p:cNvSpPr txBox="1"/>
          <p:nvPr/>
        </p:nvSpPr>
        <p:spPr>
          <a:xfrm>
            <a:off x="228600" y="38404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A PREN shortfall is reported separately from the galvanic couple: the same SS316 flange can be galvanically clean and still be the wrong grade for E6.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The GC-001 scoring model</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Three weighted terms, one composite band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325880"/>
            <a:ext cx="8686800" cy="7315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90472"/>
            <a:ext cx="8503920" cy="457200"/>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Score_GC  =  (0.50 × voltage risk)  +  (0.30 × area ratio risk)  +  (0.20 × environment)</a:t>
            </a:r>
          </a:p>
        </p:txBody>
      </p:sp>
      <p:sp>
        <p:nvSpPr>
          <p:cNvPr id="10" name="Rectangle 9"/>
          <p:cNvSpPr/>
          <p:nvPr/>
        </p:nvSpPr>
        <p:spPr>
          <a:xfrm>
            <a:off x="228600" y="2240280"/>
            <a:ext cx="2785872" cy="11887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224028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 y="242316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Voltage risk  0.50</a:t>
            </a:r>
          </a:p>
        </p:txBody>
      </p:sp>
      <p:sp>
        <p:nvSpPr>
          <p:cNvPr id="13" name="TextBox 12"/>
          <p:cNvSpPr txBox="1"/>
          <p:nvPr/>
        </p:nvSpPr>
        <p:spPr>
          <a:xfrm>
            <a:off x="338328" y="2862072"/>
            <a:ext cx="2566416" cy="4572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Normalised potential gap between the coupled materials. The dominant term because it sets whether a cell forms at all.</a:t>
            </a:r>
          </a:p>
        </p:txBody>
      </p:sp>
      <p:sp>
        <p:nvSpPr>
          <p:cNvPr id="14" name="Rectangle 13"/>
          <p:cNvSpPr/>
          <p:nvPr/>
        </p:nvSpPr>
        <p:spPr>
          <a:xfrm>
            <a:off x="3179064" y="2240280"/>
            <a:ext cx="2785872" cy="11887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79064" y="2240280"/>
            <a:ext cx="2785872"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8792" y="242316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Area ratio  0.30</a:t>
            </a:r>
          </a:p>
        </p:txBody>
      </p:sp>
      <p:sp>
        <p:nvSpPr>
          <p:cNvPr id="17" name="TextBox 16"/>
          <p:cNvSpPr txBox="1"/>
          <p:nvPr/>
        </p:nvSpPr>
        <p:spPr>
          <a:xfrm>
            <a:off x="3288792" y="2862072"/>
            <a:ext cx="2566416" cy="4572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Cathode area over anode area. A small anode against a large cathode concentrates current density and perforates fastest.</a:t>
            </a:r>
          </a:p>
        </p:txBody>
      </p:sp>
      <p:sp>
        <p:nvSpPr>
          <p:cNvPr id="18" name="Rectangle 17"/>
          <p:cNvSpPr/>
          <p:nvPr/>
        </p:nvSpPr>
        <p:spPr>
          <a:xfrm>
            <a:off x="6129528" y="2240280"/>
            <a:ext cx="2785872" cy="11887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9528" y="2240280"/>
            <a:ext cx="2785872"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9256" y="242316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Environment  0.20</a:t>
            </a:r>
          </a:p>
        </p:txBody>
      </p:sp>
      <p:sp>
        <p:nvSpPr>
          <p:cNvPr id="21" name="TextBox 20"/>
          <p:cNvSpPr txBox="1"/>
          <p:nvPr/>
        </p:nvSpPr>
        <p:spPr>
          <a:xfrm>
            <a:off x="6239256" y="2862072"/>
            <a:ext cx="2566416" cy="4572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The E1–E7 multiplier. Modifies severity; never creates a finding where no couple exists.</a:t>
            </a:r>
          </a:p>
        </p:txBody>
      </p:sp>
      <p:sp>
        <p:nvSpPr>
          <p:cNvPr id="22" name="Rectangle 21"/>
          <p:cNvSpPr/>
          <p:nvPr/>
        </p:nvSpPr>
        <p:spPr>
          <a:xfrm>
            <a:off x="228600" y="3566160"/>
            <a:ext cx="8686800" cy="23774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2608" y="3611879"/>
            <a:ext cx="1152143" cy="164592"/>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Band</a:t>
            </a:r>
          </a:p>
        </p:txBody>
      </p:sp>
      <p:sp>
        <p:nvSpPr>
          <p:cNvPr id="24" name="TextBox 23"/>
          <p:cNvSpPr txBox="1"/>
          <p:nvPr/>
        </p:nvSpPr>
        <p:spPr>
          <a:xfrm>
            <a:off x="1572768" y="3611879"/>
            <a:ext cx="1517904" cy="164592"/>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Range</a:t>
            </a:r>
          </a:p>
        </p:txBody>
      </p:sp>
      <p:sp>
        <p:nvSpPr>
          <p:cNvPr id="25" name="TextBox 24"/>
          <p:cNvSpPr txBox="1"/>
          <p:nvPr/>
        </p:nvSpPr>
        <p:spPr>
          <a:xfrm>
            <a:off x="3218688" y="3611879"/>
            <a:ext cx="5632704" cy="164592"/>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Action</a:t>
            </a:r>
          </a:p>
        </p:txBody>
      </p:sp>
      <p:sp>
        <p:nvSpPr>
          <p:cNvPr id="26" name="Rectangle 25"/>
          <p:cNvSpPr/>
          <p:nvPr/>
        </p:nvSpPr>
        <p:spPr>
          <a:xfrm>
            <a:off x="228600" y="3803904"/>
            <a:ext cx="8686800" cy="23774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 y="3849624"/>
            <a:ext cx="1152143" cy="164592"/>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Low</a:t>
            </a:r>
          </a:p>
        </p:txBody>
      </p:sp>
      <p:sp>
        <p:nvSpPr>
          <p:cNvPr id="28" name="TextBox 27"/>
          <p:cNvSpPr txBox="1"/>
          <p:nvPr/>
        </p:nvSpPr>
        <p:spPr>
          <a:xfrm>
            <a:off x="1572768" y="3849624"/>
            <a:ext cx="1517904" cy="164592"/>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&lt; 0.35</a:t>
            </a:r>
          </a:p>
        </p:txBody>
      </p:sp>
      <p:sp>
        <p:nvSpPr>
          <p:cNvPr id="29" name="TextBox 28"/>
          <p:cNvSpPr txBox="1"/>
          <p:nvPr/>
        </p:nvSpPr>
        <p:spPr>
          <a:xfrm>
            <a:off x="3218688" y="3849624"/>
            <a:ext cx="5632704" cy="164592"/>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Record only; no BCF issue raised</a:t>
            </a:r>
          </a:p>
        </p:txBody>
      </p:sp>
      <p:sp>
        <p:nvSpPr>
          <p:cNvPr id="30" name="Rectangle 29"/>
          <p:cNvSpPr/>
          <p:nvPr/>
        </p:nvSpPr>
        <p:spPr>
          <a:xfrm>
            <a:off x="228600" y="4041648"/>
            <a:ext cx="8686800" cy="23774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2608" y="4087368"/>
            <a:ext cx="1152143" cy="164592"/>
          </a:xfrm>
          <a:prstGeom prst="rect">
            <a:avLst/>
          </a:prstGeom>
          <a:noFill/>
        </p:spPr>
        <p:txBody>
          <a:bodyPr wrap="square" anchor="t" lIns="0" rIns="0" tIns="0" bIns="0">
            <a:spAutoFit/>
          </a:bodyPr>
          <a:lstStyle/>
          <a:p>
            <a:pPr algn="l">
              <a:lnSpc>
                <a:spcPct val="100000"/>
              </a:lnSpc>
            </a:pPr>
            <a:r>
              <a:rPr sz="1100" b="1">
                <a:solidFill>
                  <a:srgbClr val="854F0B"/>
                </a:solidFill>
                <a:latin typeface="Calibri"/>
              </a:rPr>
              <a:t>Medium</a:t>
            </a:r>
          </a:p>
        </p:txBody>
      </p:sp>
      <p:sp>
        <p:nvSpPr>
          <p:cNvPr id="32" name="TextBox 31"/>
          <p:cNvSpPr txBox="1"/>
          <p:nvPr/>
        </p:nvSpPr>
        <p:spPr>
          <a:xfrm>
            <a:off x="1572768" y="4087368"/>
            <a:ext cx="1517904" cy="164592"/>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0.35 – 0.65</a:t>
            </a:r>
          </a:p>
        </p:txBody>
      </p:sp>
      <p:sp>
        <p:nvSpPr>
          <p:cNvPr id="33" name="TextBox 32"/>
          <p:cNvSpPr txBox="1"/>
          <p:nvPr/>
        </p:nvSpPr>
        <p:spPr>
          <a:xfrm>
            <a:off x="3218688" y="4087368"/>
            <a:ext cx="5632704" cy="164592"/>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BCF issue, design review</a:t>
            </a:r>
          </a:p>
        </p:txBody>
      </p:sp>
      <p:sp>
        <p:nvSpPr>
          <p:cNvPr id="34" name="Rectangle 33"/>
          <p:cNvSpPr/>
          <p:nvPr/>
        </p:nvSpPr>
        <p:spPr>
          <a:xfrm>
            <a:off x="228600" y="4279392"/>
            <a:ext cx="8686800" cy="23774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92608" y="4325112"/>
            <a:ext cx="1152143" cy="164592"/>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High</a:t>
            </a:r>
          </a:p>
        </p:txBody>
      </p:sp>
      <p:sp>
        <p:nvSpPr>
          <p:cNvPr id="36" name="TextBox 35"/>
          <p:cNvSpPr txBox="1"/>
          <p:nvPr/>
        </p:nvSpPr>
        <p:spPr>
          <a:xfrm>
            <a:off x="1572768" y="4325112"/>
            <a:ext cx="1517904" cy="164592"/>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0.65 – 0.85</a:t>
            </a:r>
          </a:p>
        </p:txBody>
      </p:sp>
      <p:sp>
        <p:nvSpPr>
          <p:cNvPr id="37" name="TextBox 36"/>
          <p:cNvSpPr txBox="1"/>
          <p:nvPr/>
        </p:nvSpPr>
        <p:spPr>
          <a:xfrm>
            <a:off x="3218688" y="4325112"/>
            <a:ext cx="5632704" cy="164592"/>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BCF issue, mitigation required</a:t>
            </a:r>
          </a:p>
        </p:txBody>
      </p:sp>
      <p:sp>
        <p:nvSpPr>
          <p:cNvPr id="38" name="Rectangle 37"/>
          <p:cNvSpPr/>
          <p:nvPr/>
        </p:nvSpPr>
        <p:spPr>
          <a:xfrm>
            <a:off x="228600" y="4517136"/>
            <a:ext cx="8686800" cy="23774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4562856"/>
            <a:ext cx="1152143" cy="164592"/>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Critical</a:t>
            </a:r>
          </a:p>
        </p:txBody>
      </p:sp>
      <p:sp>
        <p:nvSpPr>
          <p:cNvPr id="40" name="TextBox 39"/>
          <p:cNvSpPr txBox="1"/>
          <p:nvPr/>
        </p:nvSpPr>
        <p:spPr>
          <a:xfrm>
            <a:off x="1572768" y="4562856"/>
            <a:ext cx="1517904" cy="164592"/>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&gt; 0.85</a:t>
            </a:r>
          </a:p>
        </p:txBody>
      </p:sp>
      <p:sp>
        <p:nvSpPr>
          <p:cNvPr id="41" name="TextBox 40"/>
          <p:cNvSpPr txBox="1"/>
          <p:nvPr/>
        </p:nvSpPr>
        <p:spPr>
          <a:xfrm>
            <a:off x="3218688" y="4562856"/>
            <a:ext cx="5632704" cy="164592"/>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BCF issue, redesign before fabrication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How GC-001 reads the IFC model</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Inputs, computation and outputs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What it queries</a:t>
            </a:r>
          </a:p>
        </p:txBody>
      </p:sp>
      <p:sp>
        <p:nvSpPr>
          <p:cNvPr id="11" name="TextBox 10"/>
          <p:cNvSpPr txBox="1"/>
          <p:nvPr/>
        </p:nvSpPr>
        <p:spPr>
          <a:xfrm>
            <a:off x="338328"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IfcPipeSegment, IfcDuctSegment and fittings; material via IfcRelAssociatesMaterial; Pset_PipeSegmentOccurrence for diameter and wall thickness; Pset_CoveringCommon for insulation; spatial containment for environment class; joint adjacency for the couple.</a:t>
            </a:r>
          </a:p>
        </p:txBody>
      </p:sp>
      <p:sp>
        <p:nvSpPr>
          <p:cNvPr id="12" name="Rectangle 11"/>
          <p:cNvSpPr/>
          <p:nvPr/>
        </p:nvSpPr>
        <p:spPr>
          <a:xfrm>
            <a:off x="3179064"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179064" y="1234440"/>
            <a:ext cx="2785872"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88792"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What it computes</a:t>
            </a:r>
          </a:p>
        </p:txBody>
      </p:sp>
      <p:sp>
        <p:nvSpPr>
          <p:cNvPr id="15" name="TextBox 14"/>
          <p:cNvSpPr txBox="1"/>
          <p:nvPr/>
        </p:nvSpPr>
        <p:spPr>
          <a:xfrm>
            <a:off x="3288792"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Normalises free-text material to a canonical key; resolves the adjacent element at each joint; derives the potential gap; computes cathode-to-anode area ratio from geometry; applies the environment multiplier; produces the weighted composite.</a:t>
            </a:r>
          </a:p>
        </p:txBody>
      </p:sp>
      <p:sp>
        <p:nvSpPr>
          <p:cNvPr id="16" name="Rectangle 15"/>
          <p:cNvSpPr/>
          <p:nvPr/>
        </p:nvSpPr>
        <p:spPr>
          <a:xfrm>
            <a:off x="6129528" y="1234440"/>
            <a:ext cx="2785872" cy="30175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9528" y="1234440"/>
            <a:ext cx="2785872"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9256" y="14173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What it writes</a:t>
            </a:r>
          </a:p>
        </p:txBody>
      </p:sp>
      <p:sp>
        <p:nvSpPr>
          <p:cNvPr id="19" name="TextBox 18"/>
          <p:cNvSpPr txBox="1"/>
          <p:nvPr/>
        </p:nvSpPr>
        <p:spPr>
          <a:xfrm>
            <a:off x="6239256" y="1856232"/>
            <a:ext cx="2566416" cy="228600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A BCF 2.1 topic per finding with viewpoint and camera on the joint; Pset_CorrosionRisk written back to the flagged element carrying mechanism, score, environment class and mitigation; a row in the machine-readable asset register.</a:t>
            </a:r>
          </a:p>
        </p:txBody>
      </p:sp>
      <p:sp>
        <p:nvSpPr>
          <p:cNvPr id="20" name="TextBox 19"/>
          <p:cNvSpPr txBox="1"/>
          <p:nvPr/>
        </p:nvSpPr>
        <p:spPr>
          <a:xfrm>
            <a:off x="228600" y="416052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Every threshold applied is carried in the versioned ruleset, so a finding can be traced to the clause that produced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Case study 1 — plant room valve assembly</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SS316 isolation valve against 304SS flex hose, humid chemical plant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20 mV</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potential gap
SS316 to SS304</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4.2 : 1</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cathode-to-anode
area ratio</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854F0B"/>
                </a:solidFill>
                <a:latin typeface="Calibri"/>
              </a:rPr>
              <a:t>E3</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humid indoor
1.2× multiplier</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854F0B"/>
                </a:solidFill>
                <a:latin typeface="Calibri"/>
              </a:rPr>
              <a:t>0.52</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GC-001 composite
MEDIUM band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Finding and mitigation</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 20 mV gap is small, but the area ratio concentrates current on the hose. Specify a dielectric union at the transition, or bring both members to a single grade. Design-stage change £2,400 against £18,000 for field replacement with the plant shut down.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Case study 2 — hospital riser support</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Copper pressure tubing bonded to a carbon steel clamp</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520 mV</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potential gap
Cu to carbon steel</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18 : 1</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cathode-to-anode
area ratio</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E2</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heated indoor
1.0× multiplier</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0.79</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GC-001 composite
HIGH band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Finding and mitigation</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Copper is strongly cathodic to steel and the clamp is the small anode. Perforation initiates at the clamp contact, inside a wall, above a ward. Specify a plastic-lined clamp or a nylon isolating washer: £800 at design against £6,000-plus for access, replacement and making good.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Validation approach</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the engine was run against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37 / 38</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IFC models processed
(1 unsupported schema)</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8</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independent public
repositories</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116,006</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piping elements
scored</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49,736</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MEP elements with
resolved geometry</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Corpus composition and method</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Hospitals, commercial offices, industrial plant and mixed-use models, in IFC2x3 and IFC4, exported from Revit, ArchiCAD and Autodesk toolchains. Each model is downloaded, parsed, scored by every engine and exported to BCF. The one failure is IFC2X2_FINAL, which IfcOpenShell does not support.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Validation results — what was measured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Engine coverage against real third-party models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106070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Engine</a:t>
            </a:r>
          </a:p>
        </p:txBody>
      </p:sp>
      <p:sp>
        <p:nvSpPr>
          <p:cNvPr id="10" name="TextBox 9"/>
          <p:cNvSpPr txBox="1"/>
          <p:nvPr/>
        </p:nvSpPr>
        <p:spPr>
          <a:xfrm>
            <a:off x="1481328" y="1280160"/>
            <a:ext cx="215798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Elements flagged</a:t>
            </a:r>
          </a:p>
        </p:txBody>
      </p:sp>
      <p:sp>
        <p:nvSpPr>
          <p:cNvPr id="11" name="TextBox 10"/>
          <p:cNvSpPr txBox="1"/>
          <p:nvPr/>
        </p:nvSpPr>
        <p:spPr>
          <a:xfrm>
            <a:off x="3767328" y="1280160"/>
            <a:ext cx="96926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Flag rate</a:t>
            </a:r>
          </a:p>
        </p:txBody>
      </p:sp>
      <p:sp>
        <p:nvSpPr>
          <p:cNvPr id="12" name="TextBox 11"/>
          <p:cNvSpPr txBox="1"/>
          <p:nvPr/>
        </p:nvSpPr>
        <p:spPr>
          <a:xfrm>
            <a:off x="4864608" y="1280160"/>
            <a:ext cx="243230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Elements with all required inputs</a:t>
            </a:r>
          </a:p>
        </p:txBody>
      </p:sp>
      <p:sp>
        <p:nvSpPr>
          <p:cNvPr id="13" name="TextBox 12"/>
          <p:cNvSpPr txBox="1"/>
          <p:nvPr/>
        </p:nvSpPr>
        <p:spPr>
          <a:xfrm>
            <a:off x="7424928" y="1280160"/>
            <a:ext cx="142646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Coverage</a:t>
            </a:r>
          </a:p>
        </p:txBody>
      </p:sp>
      <p:sp>
        <p:nvSpPr>
          <p:cNvPr id="14" name="Rectangle 13"/>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554480"/>
            <a:ext cx="1060704" cy="201167"/>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GC-001</a:t>
            </a:r>
          </a:p>
        </p:txBody>
      </p:sp>
      <p:sp>
        <p:nvSpPr>
          <p:cNvPr id="16" name="TextBox 15"/>
          <p:cNvSpPr txBox="1"/>
          <p:nvPr/>
        </p:nvSpPr>
        <p:spPr>
          <a:xfrm>
            <a:off x="1481328" y="1554480"/>
            <a:ext cx="2157984" cy="201167"/>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0 of 116,006</a:t>
            </a:r>
          </a:p>
        </p:txBody>
      </p:sp>
      <p:sp>
        <p:nvSpPr>
          <p:cNvPr id="17" name="TextBox 16"/>
          <p:cNvSpPr txBox="1"/>
          <p:nvPr/>
        </p:nvSpPr>
        <p:spPr>
          <a:xfrm>
            <a:off x="3767328" y="1554480"/>
            <a:ext cx="969264" cy="201167"/>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0.0%</a:t>
            </a:r>
          </a:p>
        </p:txBody>
      </p:sp>
      <p:sp>
        <p:nvSpPr>
          <p:cNvPr id="18" name="TextBox 17"/>
          <p:cNvSpPr txBox="1"/>
          <p:nvPr/>
        </p:nvSpPr>
        <p:spPr>
          <a:xfrm>
            <a:off x="4864608" y="1554480"/>
            <a:ext cx="24323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8</a:t>
            </a:r>
          </a:p>
        </p:txBody>
      </p:sp>
      <p:sp>
        <p:nvSpPr>
          <p:cNvPr id="19" name="TextBox 18"/>
          <p:cNvSpPr txBox="1"/>
          <p:nvPr/>
        </p:nvSpPr>
        <p:spPr>
          <a:xfrm>
            <a:off x="7424928" y="1554480"/>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0.007%</a:t>
            </a:r>
          </a:p>
        </p:txBody>
      </p:sp>
      <p:sp>
        <p:nvSpPr>
          <p:cNvPr id="20" name="Rectangle 19"/>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182880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CC-001</a:t>
            </a:r>
          </a:p>
        </p:txBody>
      </p:sp>
      <p:sp>
        <p:nvSpPr>
          <p:cNvPr id="22" name="TextBox 21"/>
          <p:cNvSpPr txBox="1"/>
          <p:nvPr/>
        </p:nvSpPr>
        <p:spPr>
          <a:xfrm>
            <a:off x="1481328" y="1828800"/>
            <a:ext cx="21579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116,006 of 116,006</a:t>
            </a:r>
          </a:p>
        </p:txBody>
      </p:sp>
      <p:sp>
        <p:nvSpPr>
          <p:cNvPr id="23" name="TextBox 22"/>
          <p:cNvSpPr txBox="1"/>
          <p:nvPr/>
        </p:nvSpPr>
        <p:spPr>
          <a:xfrm>
            <a:off x="3767328" y="1828800"/>
            <a:ext cx="9692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100.0%</a:t>
            </a:r>
          </a:p>
        </p:txBody>
      </p:sp>
      <p:sp>
        <p:nvSpPr>
          <p:cNvPr id="24" name="TextBox 23"/>
          <p:cNvSpPr txBox="1"/>
          <p:nvPr/>
        </p:nvSpPr>
        <p:spPr>
          <a:xfrm>
            <a:off x="4864608" y="1828800"/>
            <a:ext cx="24323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a:t>
            </a:r>
          </a:p>
        </p:txBody>
      </p:sp>
      <p:sp>
        <p:nvSpPr>
          <p:cNvPr id="25" name="TextBox 24"/>
          <p:cNvSpPr txBox="1"/>
          <p:nvPr/>
        </p:nvSpPr>
        <p:spPr>
          <a:xfrm>
            <a:off x="7424928" y="1828800"/>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0.000%</a:t>
            </a:r>
          </a:p>
        </p:txBody>
      </p:sp>
      <p:sp>
        <p:nvSpPr>
          <p:cNvPr id="26" name="Rectangle 25"/>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 y="210312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MC-001</a:t>
            </a:r>
          </a:p>
        </p:txBody>
      </p:sp>
      <p:sp>
        <p:nvSpPr>
          <p:cNvPr id="28" name="TextBox 27"/>
          <p:cNvSpPr txBox="1"/>
          <p:nvPr/>
        </p:nvSpPr>
        <p:spPr>
          <a:xfrm>
            <a:off x="1481328" y="2103120"/>
            <a:ext cx="21579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116,006 of 116,006</a:t>
            </a:r>
          </a:p>
        </p:txBody>
      </p:sp>
      <p:sp>
        <p:nvSpPr>
          <p:cNvPr id="29" name="TextBox 28"/>
          <p:cNvSpPr txBox="1"/>
          <p:nvPr/>
        </p:nvSpPr>
        <p:spPr>
          <a:xfrm>
            <a:off x="3767328" y="2103120"/>
            <a:ext cx="9692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100.0%</a:t>
            </a:r>
          </a:p>
        </p:txBody>
      </p:sp>
      <p:sp>
        <p:nvSpPr>
          <p:cNvPr id="30" name="TextBox 29"/>
          <p:cNvSpPr txBox="1"/>
          <p:nvPr/>
        </p:nvSpPr>
        <p:spPr>
          <a:xfrm>
            <a:off x="4864608" y="2103120"/>
            <a:ext cx="24323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a:t>
            </a:r>
          </a:p>
        </p:txBody>
      </p:sp>
      <p:sp>
        <p:nvSpPr>
          <p:cNvPr id="31" name="TextBox 30"/>
          <p:cNvSpPr txBox="1"/>
          <p:nvPr/>
        </p:nvSpPr>
        <p:spPr>
          <a:xfrm>
            <a:off x="7424928" y="2103120"/>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0.000%</a:t>
            </a:r>
          </a:p>
        </p:txBody>
      </p:sp>
      <p:sp>
        <p:nvSpPr>
          <p:cNvPr id="32" name="Rectangle 31"/>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377439"/>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MM-001</a:t>
            </a:r>
          </a:p>
        </p:txBody>
      </p:sp>
      <p:sp>
        <p:nvSpPr>
          <p:cNvPr id="34" name="TextBox 33"/>
          <p:cNvSpPr txBox="1"/>
          <p:nvPr/>
        </p:nvSpPr>
        <p:spPr>
          <a:xfrm>
            <a:off x="1481328" y="2377439"/>
            <a:ext cx="21579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unavailable on 24 models</a:t>
            </a:r>
          </a:p>
        </p:txBody>
      </p:sp>
      <p:sp>
        <p:nvSpPr>
          <p:cNvPr id="35" name="TextBox 34"/>
          <p:cNvSpPr txBox="1"/>
          <p:nvPr/>
        </p:nvSpPr>
        <p:spPr>
          <a:xfrm>
            <a:off x="3767328" y="2377439"/>
            <a:ext cx="9692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36" name="TextBox 35"/>
          <p:cNvSpPr txBox="1"/>
          <p:nvPr/>
        </p:nvSpPr>
        <p:spPr>
          <a:xfrm>
            <a:off x="4864608" y="2377439"/>
            <a:ext cx="24323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15</a:t>
            </a:r>
          </a:p>
        </p:txBody>
      </p:sp>
      <p:sp>
        <p:nvSpPr>
          <p:cNvPr id="37" name="TextBox 36"/>
          <p:cNvSpPr txBox="1"/>
          <p:nvPr/>
        </p:nvSpPr>
        <p:spPr>
          <a:xfrm>
            <a:off x="7424928" y="2377439"/>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0.013%</a:t>
            </a:r>
          </a:p>
        </p:txBody>
      </p:sp>
      <p:sp>
        <p:nvSpPr>
          <p:cNvPr id="38" name="Rectangle 3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651760"/>
            <a:ext cx="106070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XM-001</a:t>
            </a:r>
          </a:p>
        </p:txBody>
      </p:sp>
      <p:sp>
        <p:nvSpPr>
          <p:cNvPr id="40" name="TextBox 39"/>
          <p:cNvSpPr txBox="1"/>
          <p:nvPr/>
        </p:nvSpPr>
        <p:spPr>
          <a:xfrm>
            <a:off x="1481328" y="2651760"/>
            <a:ext cx="215798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unavailable on 24 models</a:t>
            </a:r>
          </a:p>
        </p:txBody>
      </p:sp>
      <p:sp>
        <p:nvSpPr>
          <p:cNvPr id="41" name="TextBox 40"/>
          <p:cNvSpPr txBox="1"/>
          <p:nvPr/>
        </p:nvSpPr>
        <p:spPr>
          <a:xfrm>
            <a:off x="3767328" y="2651760"/>
            <a:ext cx="9692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42" name="TextBox 41"/>
          <p:cNvSpPr txBox="1"/>
          <p:nvPr/>
        </p:nvSpPr>
        <p:spPr>
          <a:xfrm>
            <a:off x="4864608" y="2651760"/>
            <a:ext cx="24323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a:t>
            </a:r>
          </a:p>
        </p:txBody>
      </p:sp>
      <p:sp>
        <p:nvSpPr>
          <p:cNvPr id="43" name="TextBox 42"/>
          <p:cNvSpPr txBox="1"/>
          <p:nvPr/>
        </p:nvSpPr>
        <p:spPr>
          <a:xfrm>
            <a:off x="7424928" y="2651760"/>
            <a:ext cx="14264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0.000%</a:t>
            </a:r>
          </a:p>
        </p:txBody>
      </p:sp>
      <p:sp>
        <p:nvSpPr>
          <p:cNvPr id="44" name="TextBox 43"/>
          <p:cNvSpPr txBox="1"/>
          <p:nvPr/>
        </p:nvSpPr>
        <p:spPr>
          <a:xfrm>
            <a:off x="228600" y="30175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A 0% and two 100% flag rates are properties of input availability, not of the buildings. Where required inputs are absent the coercers substitute a default, so the engine scores the default uniformly. Recorded in thesis §13.9 and Appendix B, Table B.4.</a:t>
            </a:r>
          </a:p>
        </p:txBody>
      </p:sp>
      <p:sp>
        <p:nvSpPr>
          <p:cNvPr id="45" name="TextBox 44"/>
          <p:cNvSpPr txBox="1"/>
          <p:nvPr/>
        </p:nvSpPr>
        <p:spPr>
          <a:xfrm>
            <a:off x="228600" y="402336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No precision or recall figure is claimed: with coverage below 0.02% there is no population against which either could be computed.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Performance measured across the corpus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Wall-clock cost of a full sweep</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197510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Metric</a:t>
            </a:r>
          </a:p>
        </p:txBody>
      </p:sp>
      <p:sp>
        <p:nvSpPr>
          <p:cNvPr id="10" name="TextBox 9"/>
          <p:cNvSpPr txBox="1"/>
          <p:nvPr/>
        </p:nvSpPr>
        <p:spPr>
          <a:xfrm>
            <a:off x="2395727" y="1280160"/>
            <a:ext cx="270662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Measured value</a:t>
            </a:r>
          </a:p>
        </p:txBody>
      </p:sp>
      <p:sp>
        <p:nvSpPr>
          <p:cNvPr id="11" name="TextBox 10"/>
          <p:cNvSpPr txBox="1"/>
          <p:nvPr/>
        </p:nvSpPr>
        <p:spPr>
          <a:xfrm>
            <a:off x="5230368" y="1280160"/>
            <a:ext cx="3621023"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Note</a:t>
            </a:r>
          </a:p>
        </p:txBody>
      </p:sp>
      <p:sp>
        <p:nvSpPr>
          <p:cNvPr id="12" name="Rectangle 11"/>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54480"/>
            <a:ext cx="19751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Total sweep</a:t>
            </a:r>
          </a:p>
        </p:txBody>
      </p:sp>
      <p:sp>
        <p:nvSpPr>
          <p:cNvPr id="14" name="TextBox 13"/>
          <p:cNvSpPr txBox="1"/>
          <p:nvPr/>
        </p:nvSpPr>
        <p:spPr>
          <a:xfrm>
            <a:off x="2395727" y="155448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3,594 s for 37 models</a:t>
            </a:r>
          </a:p>
        </p:txBody>
      </p:sp>
      <p:sp>
        <p:nvSpPr>
          <p:cNvPr id="15" name="TextBox 14"/>
          <p:cNvSpPr txBox="1"/>
          <p:nvPr/>
        </p:nvSpPr>
        <p:spPr>
          <a:xfrm>
            <a:off x="5230368" y="1554480"/>
            <a:ext cx="362102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Download, parse, halo, clash, engines, BCF</a:t>
            </a:r>
          </a:p>
        </p:txBody>
      </p:sp>
      <p:sp>
        <p:nvSpPr>
          <p:cNvPr id="16" name="Rectangle 15"/>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28800"/>
            <a:ext cx="19751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Mean per model</a:t>
            </a:r>
          </a:p>
        </p:txBody>
      </p:sp>
      <p:sp>
        <p:nvSpPr>
          <p:cNvPr id="18" name="TextBox 17"/>
          <p:cNvSpPr txBox="1"/>
          <p:nvPr/>
        </p:nvSpPr>
        <p:spPr>
          <a:xfrm>
            <a:off x="2395727" y="182880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 97 s</a:t>
            </a:r>
          </a:p>
        </p:txBody>
      </p:sp>
      <p:sp>
        <p:nvSpPr>
          <p:cNvPr id="19" name="TextBox 18"/>
          <p:cNvSpPr txBox="1"/>
          <p:nvPr/>
        </p:nvSpPr>
        <p:spPr>
          <a:xfrm>
            <a:off x="5230368" y="1828800"/>
            <a:ext cx="362102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Dominated by geometry evaluation</a:t>
            </a:r>
          </a:p>
        </p:txBody>
      </p:sp>
      <p:sp>
        <p:nvSpPr>
          <p:cNvPr id="20" name="Rectangle 19"/>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03120"/>
            <a:ext cx="19751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Largest model</a:t>
            </a:r>
          </a:p>
        </p:txBody>
      </p:sp>
      <p:sp>
        <p:nvSpPr>
          <p:cNvPr id="22" name="TextBox 21"/>
          <p:cNvSpPr txBox="1"/>
          <p:nvPr/>
        </p:nvSpPr>
        <p:spPr>
          <a:xfrm>
            <a:off x="2395727" y="210312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632 s — NBU_MedicalClinic</a:t>
            </a:r>
          </a:p>
        </p:txBody>
      </p:sp>
      <p:sp>
        <p:nvSpPr>
          <p:cNvPr id="23" name="TextBox 22"/>
          <p:cNvSpPr txBox="1"/>
          <p:nvPr/>
        </p:nvSpPr>
        <p:spPr>
          <a:xfrm>
            <a:off x="5230368" y="2103120"/>
            <a:ext cx="362102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207 MB multi-discipline archive</a:t>
            </a:r>
          </a:p>
        </p:txBody>
      </p:sp>
      <p:sp>
        <p:nvSpPr>
          <p:cNvPr id="24" name="Rectangle 23"/>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77439"/>
            <a:ext cx="19751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Smallest MEP model</a:t>
            </a:r>
          </a:p>
        </p:txBody>
      </p:sp>
      <p:sp>
        <p:nvSpPr>
          <p:cNvPr id="26" name="TextBox 25"/>
          <p:cNvSpPr txBox="1"/>
          <p:nvPr/>
        </p:nvSpPr>
        <p:spPr>
          <a:xfrm>
            <a:off x="2395727" y="2377439"/>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4.8 s — wbdg office</a:t>
            </a:r>
          </a:p>
        </p:txBody>
      </p:sp>
      <p:sp>
        <p:nvSpPr>
          <p:cNvPr id="27" name="TextBox 26"/>
          <p:cNvSpPr txBox="1"/>
          <p:nvPr/>
        </p:nvSpPr>
        <p:spPr>
          <a:xfrm>
            <a:off x="5230368" y="2377439"/>
            <a:ext cx="362102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31 piping elements</a:t>
            </a:r>
          </a:p>
        </p:txBody>
      </p:sp>
      <p:sp>
        <p:nvSpPr>
          <p:cNvPr id="28" name="Rectangle 2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51760"/>
            <a:ext cx="19751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Geometry resolution</a:t>
            </a:r>
          </a:p>
        </p:txBody>
      </p:sp>
      <p:sp>
        <p:nvSpPr>
          <p:cNvPr id="30" name="TextBox 29"/>
          <p:cNvSpPr txBox="1"/>
          <p:nvPr/>
        </p:nvSpPr>
        <p:spPr>
          <a:xfrm>
            <a:off x="2395727" y="265176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49,736 of 49,736 (100%)</a:t>
            </a:r>
          </a:p>
        </p:txBody>
      </p:sp>
      <p:sp>
        <p:nvSpPr>
          <p:cNvPr id="31" name="TextBox 30"/>
          <p:cNvSpPr txBox="1"/>
          <p:nvPr/>
        </p:nvSpPr>
        <p:spPr>
          <a:xfrm>
            <a:off x="5230368" y="2651760"/>
            <a:ext cx="362102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ifcopenshell.geom, world coordinates</a:t>
            </a:r>
          </a:p>
        </p:txBody>
      </p:sp>
      <p:sp>
        <p:nvSpPr>
          <p:cNvPr id="32" name="Rectangle 31"/>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926080"/>
            <a:ext cx="197510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Bottleneck</a:t>
            </a:r>
          </a:p>
        </p:txBody>
      </p:sp>
      <p:sp>
        <p:nvSpPr>
          <p:cNvPr id="34" name="TextBox 33"/>
          <p:cNvSpPr txBox="1"/>
          <p:nvPr/>
        </p:nvSpPr>
        <p:spPr>
          <a:xfrm>
            <a:off x="2395727" y="2926080"/>
            <a:ext cx="27066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Geometry evaluation, then clash</a:t>
            </a:r>
          </a:p>
        </p:txBody>
      </p:sp>
      <p:sp>
        <p:nvSpPr>
          <p:cNvPr id="35" name="TextBox 34"/>
          <p:cNvSpPr txBox="1"/>
          <p:nvPr/>
        </p:nvSpPr>
        <p:spPr>
          <a:xfrm>
            <a:off x="5230368" y="2926080"/>
            <a:ext cx="3621023"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Spatial grid reduces O(n²) pairing</a:t>
            </a:r>
          </a:p>
        </p:txBody>
      </p:sp>
      <p:sp>
        <p:nvSpPr>
          <p:cNvPr id="36" name="TextBox 35"/>
          <p:cNvSpPr txBox="1"/>
          <p:nvPr/>
        </p:nvSpPr>
        <p:spPr>
          <a:xfrm>
            <a:off x="228600" y="33375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Measured on this corpus, not estimated. Timings are per-model records in validation_sweep_summary.json.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Academic contribution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this work adds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48256"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Method, not just result</a:t>
            </a:r>
          </a:p>
        </p:txBody>
      </p:sp>
      <p:sp>
        <p:nvSpPr>
          <p:cNvPr id="11" name="TextBox 10"/>
          <p:cNvSpPr txBox="1"/>
          <p:nvPr/>
        </p:nvSpPr>
        <p:spPr>
          <a:xfrm>
            <a:off x="338328"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A documented, reproducible method for interrogating electrochemical risk from IFC metadata alone, with every threshold traceable to a cited standard clause.</a:t>
            </a:r>
          </a:p>
        </p:txBody>
      </p:sp>
      <p:sp>
        <p:nvSpPr>
          <p:cNvPr id="12" name="Rectangle 11"/>
          <p:cNvSpPr/>
          <p:nvPr/>
        </p:nvSpPr>
        <p:spPr>
          <a:xfrm>
            <a:off x="2441448"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41448" y="1234440"/>
            <a:ext cx="2048256"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1176"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Quantified data gap</a:t>
            </a:r>
          </a:p>
        </p:txBody>
      </p:sp>
      <p:sp>
        <p:nvSpPr>
          <p:cNvPr id="15" name="TextBox 14"/>
          <p:cNvSpPr txBox="1"/>
          <p:nvPr/>
        </p:nvSpPr>
        <p:spPr>
          <a:xfrm>
            <a:off x="2551176"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The corpus measures how far real federated models fall short of what a corrosion assessment needs: 38,012 of 116,006 elements carry material text, and only 2,403 normalise to a scoreable key.</a:t>
            </a:r>
          </a:p>
        </p:txBody>
      </p:sp>
      <p:sp>
        <p:nvSpPr>
          <p:cNvPr id="16" name="Rectangle 15"/>
          <p:cNvSpPr/>
          <p:nvPr/>
        </p:nvSpPr>
        <p:spPr>
          <a:xfrm>
            <a:off x="4654296"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4296" y="1234440"/>
            <a:ext cx="2048256"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64024"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White-box auditability</a:t>
            </a:r>
          </a:p>
        </p:txBody>
      </p:sp>
      <p:sp>
        <p:nvSpPr>
          <p:cNvPr id="19" name="TextBox 18"/>
          <p:cNvSpPr txBox="1"/>
          <p:nvPr/>
        </p:nvSpPr>
        <p:spPr>
          <a:xfrm>
            <a:off x="4764024"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Every finding names the clause, the threshold and the inference that produced it, so a reviewer can disagree with the conclusion on the evidence rather than on trust.</a:t>
            </a:r>
          </a:p>
        </p:txBody>
      </p:sp>
      <p:sp>
        <p:nvSpPr>
          <p:cNvPr id="20" name="Rectangle 19"/>
          <p:cNvSpPr/>
          <p:nvPr/>
        </p:nvSpPr>
        <p:spPr>
          <a:xfrm>
            <a:off x="6867144"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67144" y="1234440"/>
            <a:ext cx="2048256"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6872"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Golden Thread integration</a:t>
            </a:r>
          </a:p>
        </p:txBody>
      </p:sp>
      <p:sp>
        <p:nvSpPr>
          <p:cNvPr id="23" name="TextBox 22"/>
          <p:cNvSpPr txBox="1"/>
          <p:nvPr/>
        </p:nvSpPr>
        <p:spPr>
          <a:xfrm>
            <a:off x="6976872"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Findings persist into the model as Pset data and into the CDE as BCF topics with ISO 19650 status codes.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Limitations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Stated plainly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Binary risk, not current magnitude</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composite ranks risk; it does not compute galvanic current density or metal loss rate. That needs Faraday's law and an electrolyte conductivity model.</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Static environment class</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One class per element for the model's life. Seasonal humidity swings and commissioning-stage wetting are not represented.</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No time-to-failure prediction</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engine does not estimate when perforation occurs; that requires corrosion-rate data beyond the IFC.</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Dependent on material specification</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Where material is absent or unmappable, the element is reported as a data-quality issue rather than scored. On this corpus that is the majority case.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Post-FMP roadmap</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R1 – R4, with the dependency each carries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926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60350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Ref</a:t>
            </a:r>
          </a:p>
        </p:txBody>
      </p:sp>
      <p:sp>
        <p:nvSpPr>
          <p:cNvPr id="10" name="TextBox 9"/>
          <p:cNvSpPr txBox="1"/>
          <p:nvPr/>
        </p:nvSpPr>
        <p:spPr>
          <a:xfrm>
            <a:off x="1024128" y="1280160"/>
            <a:ext cx="371246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Enhancement</a:t>
            </a:r>
          </a:p>
        </p:txBody>
      </p:sp>
      <p:sp>
        <p:nvSpPr>
          <p:cNvPr id="11" name="TextBox 10"/>
          <p:cNvSpPr txBox="1"/>
          <p:nvPr/>
        </p:nvSpPr>
        <p:spPr>
          <a:xfrm>
            <a:off x="4864608" y="1280160"/>
            <a:ext cx="298094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Dependency</a:t>
            </a:r>
          </a:p>
        </p:txBody>
      </p:sp>
      <p:sp>
        <p:nvSpPr>
          <p:cNvPr id="12" name="TextBox 11"/>
          <p:cNvSpPr txBox="1"/>
          <p:nvPr/>
        </p:nvSpPr>
        <p:spPr>
          <a:xfrm>
            <a:off x="7973568" y="1280160"/>
            <a:ext cx="87782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Target</a:t>
            </a:r>
          </a:p>
        </p:txBody>
      </p:sp>
      <p:sp>
        <p:nvSpPr>
          <p:cNvPr id="13" name="Rectangle 12"/>
          <p:cNvSpPr/>
          <p:nvPr/>
        </p:nvSpPr>
        <p:spPr>
          <a:xfrm>
            <a:off x="228600" y="1527048"/>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72768"/>
            <a:ext cx="60350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R1</a:t>
            </a:r>
          </a:p>
        </p:txBody>
      </p:sp>
      <p:sp>
        <p:nvSpPr>
          <p:cNvPr id="15" name="TextBox 14"/>
          <p:cNvSpPr txBox="1"/>
          <p:nvPr/>
        </p:nvSpPr>
        <p:spPr>
          <a:xfrm>
            <a:off x="1024128" y="1572768"/>
            <a:ext cx="37124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Galvanic current modelling (Faraday's law)</a:t>
            </a:r>
          </a:p>
        </p:txBody>
      </p:sp>
      <p:sp>
        <p:nvSpPr>
          <p:cNvPr id="16" name="TextBox 15"/>
          <p:cNvSpPr txBox="1"/>
          <p:nvPr/>
        </p:nvSpPr>
        <p:spPr>
          <a:xfrm>
            <a:off x="4864608" y="1572768"/>
            <a:ext cx="2980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Electrolyte conductivity per environment</a:t>
            </a:r>
          </a:p>
        </p:txBody>
      </p:sp>
      <p:sp>
        <p:nvSpPr>
          <p:cNvPr id="17" name="TextBox 16"/>
          <p:cNvSpPr txBox="1"/>
          <p:nvPr/>
        </p:nvSpPr>
        <p:spPr>
          <a:xfrm>
            <a:off x="7973568" y="1572768"/>
            <a:ext cx="8778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18" name="Rectangle 17"/>
          <p:cNvSpPr/>
          <p:nvPr/>
        </p:nvSpPr>
        <p:spPr>
          <a:xfrm>
            <a:off x="228600" y="1819656"/>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65376"/>
            <a:ext cx="60350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R2</a:t>
            </a:r>
          </a:p>
        </p:txBody>
      </p:sp>
      <p:sp>
        <p:nvSpPr>
          <p:cNvPr id="20" name="TextBox 19"/>
          <p:cNvSpPr txBox="1"/>
          <p:nvPr/>
        </p:nvSpPr>
        <p:spPr>
          <a:xfrm>
            <a:off x="1024128" y="1865376"/>
            <a:ext cx="37124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Time-to-perforation calculator</a:t>
            </a:r>
          </a:p>
        </p:txBody>
      </p:sp>
      <p:sp>
        <p:nvSpPr>
          <p:cNvPr id="21" name="TextBox 20"/>
          <p:cNvSpPr txBox="1"/>
          <p:nvPr/>
        </p:nvSpPr>
        <p:spPr>
          <a:xfrm>
            <a:off x="4864608" y="1865376"/>
            <a:ext cx="2980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Corrosion-rate dataset, ASTM G48 basis</a:t>
            </a:r>
          </a:p>
        </p:txBody>
      </p:sp>
      <p:sp>
        <p:nvSpPr>
          <p:cNvPr id="22" name="TextBox 21"/>
          <p:cNvSpPr txBox="1"/>
          <p:nvPr/>
        </p:nvSpPr>
        <p:spPr>
          <a:xfrm>
            <a:off x="7973568" y="1865376"/>
            <a:ext cx="8778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23" name="Rectangle 22"/>
          <p:cNvSpPr/>
          <p:nvPr/>
        </p:nvSpPr>
        <p:spPr>
          <a:xfrm>
            <a:off x="228600" y="2112264"/>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157984"/>
            <a:ext cx="60350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R3</a:t>
            </a:r>
          </a:p>
        </p:txBody>
      </p:sp>
      <p:sp>
        <p:nvSpPr>
          <p:cNvPr id="25" name="TextBox 24"/>
          <p:cNvSpPr txBox="1"/>
          <p:nvPr/>
        </p:nvSpPr>
        <p:spPr>
          <a:xfrm>
            <a:off x="1024128" y="2157984"/>
            <a:ext cx="37124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Material library expansion beyond 22 entries</a:t>
            </a:r>
          </a:p>
        </p:txBody>
      </p:sp>
      <p:sp>
        <p:nvSpPr>
          <p:cNvPr id="26" name="TextBox 25"/>
          <p:cNvSpPr txBox="1"/>
          <p:nvPr/>
        </p:nvSpPr>
        <p:spPr>
          <a:xfrm>
            <a:off x="4864608" y="2157984"/>
            <a:ext cx="2980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Normaliser rule table widening</a:t>
            </a:r>
          </a:p>
        </p:txBody>
      </p:sp>
      <p:sp>
        <p:nvSpPr>
          <p:cNvPr id="27" name="TextBox 26"/>
          <p:cNvSpPr txBox="1"/>
          <p:nvPr/>
        </p:nvSpPr>
        <p:spPr>
          <a:xfrm>
            <a:off x="7973568" y="2157984"/>
            <a:ext cx="8778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Q1 2027</a:t>
            </a:r>
          </a:p>
        </p:txBody>
      </p:sp>
      <p:sp>
        <p:nvSpPr>
          <p:cNvPr id="28" name="Rectangle 27"/>
          <p:cNvSpPr/>
          <p:nvPr/>
        </p:nvSpPr>
        <p:spPr>
          <a:xfrm>
            <a:off x="228600" y="2404872"/>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450591"/>
            <a:ext cx="60350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R4</a:t>
            </a:r>
          </a:p>
        </p:txBody>
      </p:sp>
      <p:sp>
        <p:nvSpPr>
          <p:cNvPr id="30" name="TextBox 29"/>
          <p:cNvSpPr txBox="1"/>
          <p:nvPr/>
        </p:nvSpPr>
        <p:spPr>
          <a:xfrm>
            <a:off x="1024128" y="2450591"/>
            <a:ext cx="37124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BMS integration for live environment class</a:t>
            </a:r>
          </a:p>
        </p:txBody>
      </p:sp>
      <p:sp>
        <p:nvSpPr>
          <p:cNvPr id="31" name="TextBox 30"/>
          <p:cNvSpPr txBox="1"/>
          <p:nvPr/>
        </p:nvSpPr>
        <p:spPr>
          <a:xfrm>
            <a:off x="4864608" y="2450591"/>
            <a:ext cx="2980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Sensor feed and IFC round-trip</a:t>
            </a:r>
          </a:p>
        </p:txBody>
      </p:sp>
      <p:sp>
        <p:nvSpPr>
          <p:cNvPr id="32" name="TextBox 31"/>
          <p:cNvSpPr txBox="1"/>
          <p:nvPr/>
        </p:nvSpPr>
        <p:spPr>
          <a:xfrm>
            <a:off x="7973568" y="2450591"/>
            <a:ext cx="8778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Q3 2027</a:t>
            </a:r>
          </a:p>
        </p:txBody>
      </p:sp>
      <p:sp>
        <p:nvSpPr>
          <p:cNvPr id="33" name="TextBox 32"/>
          <p:cNvSpPr txBox="1"/>
          <p:nvPr/>
        </p:nvSpPr>
        <p:spPr>
          <a:xfrm>
            <a:off x="228600" y="292608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R3 is the highest-value item on the measured evidence: 35,609 elements carry material text the normaliser cannot map, so widening the rule table converts unusable text into scoreable input.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Standards compliance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Every threshold traces to a cited source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34086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Standard</a:t>
            </a:r>
          </a:p>
        </p:txBody>
      </p:sp>
      <p:sp>
        <p:nvSpPr>
          <p:cNvPr id="10" name="TextBox 9"/>
          <p:cNvSpPr txBox="1"/>
          <p:nvPr/>
        </p:nvSpPr>
        <p:spPr>
          <a:xfrm>
            <a:off x="2761488" y="1280160"/>
            <a:ext cx="316382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What it supplies</a:t>
            </a:r>
          </a:p>
        </p:txBody>
      </p:sp>
      <p:sp>
        <p:nvSpPr>
          <p:cNvPr id="11" name="TextBox 10"/>
          <p:cNvSpPr txBox="1"/>
          <p:nvPr/>
        </p:nvSpPr>
        <p:spPr>
          <a:xfrm>
            <a:off x="6053328" y="1280160"/>
            <a:ext cx="279806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Where it is applied</a:t>
            </a:r>
          </a:p>
        </p:txBody>
      </p:sp>
      <p:sp>
        <p:nvSpPr>
          <p:cNvPr id="12" name="Rectangle 11"/>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54480"/>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NASA-STD-6012</a:t>
            </a:r>
          </a:p>
        </p:txBody>
      </p:sp>
      <p:sp>
        <p:nvSpPr>
          <p:cNvPr id="14" name="TextBox 13"/>
          <p:cNvSpPr txBox="1"/>
          <p:nvPr/>
        </p:nvSpPr>
        <p:spPr>
          <a:xfrm>
            <a:off x="2761488" y="1554480"/>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Galvanic couple voltage thresholds</a:t>
            </a:r>
          </a:p>
        </p:txBody>
      </p:sp>
      <p:sp>
        <p:nvSpPr>
          <p:cNvPr id="15" name="TextBox 14"/>
          <p:cNvSpPr txBox="1"/>
          <p:nvPr/>
        </p:nvSpPr>
        <p:spPr>
          <a:xfrm>
            <a:off x="6053328" y="1554480"/>
            <a:ext cx="27980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Voltage risk term, band boundaries</a:t>
            </a:r>
          </a:p>
        </p:txBody>
      </p:sp>
      <p:sp>
        <p:nvSpPr>
          <p:cNvPr id="16" name="Rectangle 15"/>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28800"/>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WorldStainless / Euro Inox</a:t>
            </a:r>
          </a:p>
        </p:txBody>
      </p:sp>
      <p:sp>
        <p:nvSpPr>
          <p:cNvPr id="18" name="TextBox 17"/>
          <p:cNvSpPr txBox="1"/>
          <p:nvPr/>
        </p:nvSpPr>
        <p:spPr>
          <a:xfrm>
            <a:off x="2761488" y="1828800"/>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Electrochemical series, corrosion data</a:t>
            </a:r>
          </a:p>
        </p:txBody>
      </p:sp>
      <p:sp>
        <p:nvSpPr>
          <p:cNvPr id="19" name="TextBox 18"/>
          <p:cNvSpPr txBox="1"/>
          <p:nvPr/>
        </p:nvSpPr>
        <p:spPr>
          <a:xfrm>
            <a:off x="6053328" y="1828800"/>
            <a:ext cx="27980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22-material potential table</a:t>
            </a:r>
          </a:p>
        </p:txBody>
      </p:sp>
      <p:sp>
        <p:nvSpPr>
          <p:cNvPr id="20" name="Rectangle 19"/>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03120"/>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IMOA Design Manual</a:t>
            </a:r>
          </a:p>
        </p:txBody>
      </p:sp>
      <p:sp>
        <p:nvSpPr>
          <p:cNvPr id="22" name="TextBox 21"/>
          <p:cNvSpPr txBox="1"/>
          <p:nvPr/>
        </p:nvSpPr>
        <p:spPr>
          <a:xfrm>
            <a:off x="2761488" y="2103120"/>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PREN formula and grade selection</a:t>
            </a:r>
          </a:p>
        </p:txBody>
      </p:sp>
      <p:sp>
        <p:nvSpPr>
          <p:cNvPr id="23" name="TextBox 22"/>
          <p:cNvSpPr txBox="1"/>
          <p:nvPr/>
        </p:nvSpPr>
        <p:spPr>
          <a:xfrm>
            <a:off x="6053328" y="2103120"/>
            <a:ext cx="27980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PREN adequacy check</a:t>
            </a:r>
          </a:p>
        </p:txBody>
      </p:sp>
      <p:sp>
        <p:nvSpPr>
          <p:cNvPr id="24" name="Rectangle 23"/>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77439"/>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AUCSC Basic Corrosion Course</a:t>
            </a:r>
          </a:p>
        </p:txBody>
      </p:sp>
      <p:sp>
        <p:nvSpPr>
          <p:cNvPr id="26" name="TextBox 25"/>
          <p:cNvSpPr txBox="1"/>
          <p:nvPr/>
        </p:nvSpPr>
        <p:spPr>
          <a:xfrm>
            <a:off x="2761488" y="2377439"/>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Electrolyte conductivity, area-ratio effect</a:t>
            </a:r>
          </a:p>
        </p:txBody>
      </p:sp>
      <p:sp>
        <p:nvSpPr>
          <p:cNvPr id="27" name="TextBox 26"/>
          <p:cNvSpPr txBox="1"/>
          <p:nvPr/>
        </p:nvSpPr>
        <p:spPr>
          <a:xfrm>
            <a:off x="6053328" y="2377439"/>
            <a:ext cx="27980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Area ratio risk term</a:t>
            </a:r>
          </a:p>
        </p:txBody>
      </p:sp>
      <p:sp>
        <p:nvSpPr>
          <p:cNvPr id="28" name="Rectangle 2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51760"/>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ISO 16739-1</a:t>
            </a:r>
          </a:p>
        </p:txBody>
      </p:sp>
      <p:sp>
        <p:nvSpPr>
          <p:cNvPr id="30" name="TextBox 29"/>
          <p:cNvSpPr txBox="1"/>
          <p:nvPr/>
        </p:nvSpPr>
        <p:spPr>
          <a:xfrm>
            <a:off x="2761488" y="2651760"/>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 schema</a:t>
            </a:r>
          </a:p>
        </p:txBody>
      </p:sp>
      <p:sp>
        <p:nvSpPr>
          <p:cNvPr id="31" name="TextBox 30"/>
          <p:cNvSpPr txBox="1"/>
          <p:nvPr/>
        </p:nvSpPr>
        <p:spPr>
          <a:xfrm>
            <a:off x="6053328" y="2651760"/>
            <a:ext cx="27980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Element, material and spatial queries</a:t>
            </a:r>
          </a:p>
        </p:txBody>
      </p:sp>
      <p:sp>
        <p:nvSpPr>
          <p:cNvPr id="32" name="Rectangle 31"/>
          <p:cNvSpPr/>
          <p:nvPr/>
        </p:nvSpPr>
        <p:spPr>
          <a:xfrm>
            <a:off x="228600" y="288036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926080"/>
            <a:ext cx="23408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buildingSMART BCF 2.1</a:t>
            </a:r>
          </a:p>
        </p:txBody>
      </p:sp>
      <p:sp>
        <p:nvSpPr>
          <p:cNvPr id="34" name="TextBox 33"/>
          <p:cNvSpPr txBox="1"/>
          <p:nvPr/>
        </p:nvSpPr>
        <p:spPr>
          <a:xfrm>
            <a:off x="2761488" y="2926080"/>
            <a:ext cx="316382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Issue exchange format</a:t>
            </a:r>
          </a:p>
        </p:txBody>
      </p:sp>
      <p:sp>
        <p:nvSpPr>
          <p:cNvPr id="35" name="TextBox 34"/>
          <p:cNvSpPr txBox="1"/>
          <p:nvPr/>
        </p:nvSpPr>
        <p:spPr>
          <a:xfrm>
            <a:off x="6053328" y="2926080"/>
            <a:ext cx="279806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Topic, viewpoint and snapshot output</a:t>
            </a:r>
          </a:p>
        </p:txBody>
      </p:sp>
      <p:sp>
        <p:nvSpPr>
          <p:cNvPr id="36" name="TextBox 35"/>
          <p:cNvSpPr txBox="1"/>
          <p:nvPr/>
        </p:nvSpPr>
        <p:spPr>
          <a:xfrm>
            <a:off x="228600" y="33375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All are carried in the versioned ruleset rather than embedded in code, so a threshold change is a reviewable data change.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Working alongside CC-001</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Why two engines, not one combined score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They run independently</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Each engine evaluates its own mechanism against its own ruleset. Neither can suppress the other's finding.</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They emit separate BCF topics</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Different mechanisms need different mitigations. A dielectric union does not fix a crevice, and a weld prep does not fix a couple.</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Combined band is the higher of the two</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Reported for triage only. The underlying findings remain distinct and separately actionable.</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Worked example — SS316 flange, pool plant</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Galvanically clean at 0.00: a single material, no couple, nothing for GC-001 to see. Crevice band 0.89 Critical: chloride under the gasket face at E7. One element, one engine silent, the other decisive.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Asset register output</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machine-readable compliance record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7432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61021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GlobalId</a:t>
            </a:r>
          </a:p>
        </p:txBody>
      </p:sp>
      <p:sp>
        <p:nvSpPr>
          <p:cNvPr id="10" name="TextBox 9"/>
          <p:cNvSpPr txBox="1"/>
          <p:nvPr/>
        </p:nvSpPr>
        <p:spPr>
          <a:xfrm>
            <a:off x="3030838" y="1280160"/>
            <a:ext cx="1665997"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Material</a:t>
            </a:r>
          </a:p>
        </p:txBody>
      </p:sp>
      <p:sp>
        <p:nvSpPr>
          <p:cNvPr id="11" name="TextBox 10"/>
          <p:cNvSpPr txBox="1"/>
          <p:nvPr/>
        </p:nvSpPr>
        <p:spPr>
          <a:xfrm>
            <a:off x="4824851" y="1280160"/>
            <a:ext cx="532936"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GC</a:t>
            </a:r>
          </a:p>
        </p:txBody>
      </p:sp>
      <p:sp>
        <p:nvSpPr>
          <p:cNvPr id="12" name="TextBox 11"/>
          <p:cNvSpPr txBox="1"/>
          <p:nvPr/>
        </p:nvSpPr>
        <p:spPr>
          <a:xfrm>
            <a:off x="5485803" y="1280160"/>
            <a:ext cx="532936"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CC</a:t>
            </a:r>
          </a:p>
        </p:txBody>
      </p:sp>
      <p:sp>
        <p:nvSpPr>
          <p:cNvPr id="13" name="TextBox 12"/>
          <p:cNvSpPr txBox="1"/>
          <p:nvPr/>
        </p:nvSpPr>
        <p:spPr>
          <a:xfrm>
            <a:off x="6146755" y="1280160"/>
            <a:ext cx="1193888"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Combined</a:t>
            </a:r>
          </a:p>
        </p:txBody>
      </p:sp>
      <p:sp>
        <p:nvSpPr>
          <p:cNvPr id="14" name="TextBox 13"/>
          <p:cNvSpPr txBox="1"/>
          <p:nvPr/>
        </p:nvSpPr>
        <p:spPr>
          <a:xfrm>
            <a:off x="7468660" y="1280160"/>
            <a:ext cx="816201"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Cost £</a:t>
            </a:r>
          </a:p>
        </p:txBody>
      </p:sp>
      <p:sp>
        <p:nvSpPr>
          <p:cNvPr id="15" name="TextBox 14"/>
          <p:cNvSpPr txBox="1"/>
          <p:nvPr/>
        </p:nvSpPr>
        <p:spPr>
          <a:xfrm>
            <a:off x="8412877" y="1280160"/>
            <a:ext cx="438514" cy="201167"/>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Days</a:t>
            </a:r>
          </a:p>
        </p:txBody>
      </p:sp>
      <p:sp>
        <p:nvSpPr>
          <p:cNvPr id="16" name="Rectangle 15"/>
          <p:cNvSpPr/>
          <p:nvPr/>
        </p:nvSpPr>
        <p:spPr>
          <a:xfrm>
            <a:off x="228600" y="150876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554480"/>
            <a:ext cx="261021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0NZ34oqSTTyBSJPT5Cw1AX</a:t>
            </a:r>
          </a:p>
        </p:txBody>
      </p:sp>
      <p:sp>
        <p:nvSpPr>
          <p:cNvPr id="18" name="TextBox 17"/>
          <p:cNvSpPr txBox="1"/>
          <p:nvPr/>
        </p:nvSpPr>
        <p:spPr>
          <a:xfrm>
            <a:off x="3030838" y="1554480"/>
            <a:ext cx="1665997"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Copper_C12200</a:t>
            </a:r>
          </a:p>
        </p:txBody>
      </p:sp>
      <p:sp>
        <p:nvSpPr>
          <p:cNvPr id="19" name="TextBox 18"/>
          <p:cNvSpPr txBox="1"/>
          <p:nvPr/>
        </p:nvSpPr>
        <p:spPr>
          <a:xfrm>
            <a:off x="4824851" y="1554480"/>
            <a:ext cx="532936"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0.79</a:t>
            </a:r>
          </a:p>
        </p:txBody>
      </p:sp>
      <p:sp>
        <p:nvSpPr>
          <p:cNvPr id="20" name="TextBox 19"/>
          <p:cNvSpPr txBox="1"/>
          <p:nvPr/>
        </p:nvSpPr>
        <p:spPr>
          <a:xfrm>
            <a:off x="5485803" y="1554480"/>
            <a:ext cx="532936"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0.12</a:t>
            </a:r>
          </a:p>
        </p:txBody>
      </p:sp>
      <p:sp>
        <p:nvSpPr>
          <p:cNvPr id="21" name="TextBox 20"/>
          <p:cNvSpPr txBox="1"/>
          <p:nvPr/>
        </p:nvSpPr>
        <p:spPr>
          <a:xfrm>
            <a:off x="6146755" y="1554480"/>
            <a:ext cx="1193888" cy="201167"/>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HIGH</a:t>
            </a:r>
          </a:p>
        </p:txBody>
      </p:sp>
      <p:sp>
        <p:nvSpPr>
          <p:cNvPr id="22" name="TextBox 21"/>
          <p:cNvSpPr txBox="1"/>
          <p:nvPr/>
        </p:nvSpPr>
        <p:spPr>
          <a:xfrm>
            <a:off x="7468660" y="1554480"/>
            <a:ext cx="816201"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800</a:t>
            </a:r>
          </a:p>
        </p:txBody>
      </p:sp>
      <p:sp>
        <p:nvSpPr>
          <p:cNvPr id="23" name="TextBox 22"/>
          <p:cNvSpPr txBox="1"/>
          <p:nvPr/>
        </p:nvSpPr>
        <p:spPr>
          <a:xfrm>
            <a:off x="8412877" y="1554480"/>
            <a:ext cx="43851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a:t>
            </a:r>
          </a:p>
        </p:txBody>
      </p:sp>
      <p:sp>
        <p:nvSpPr>
          <p:cNvPr id="24" name="Rectangle 23"/>
          <p:cNvSpPr/>
          <p:nvPr/>
        </p:nvSpPr>
        <p:spPr>
          <a:xfrm>
            <a:off x="228600" y="178308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1828800"/>
            <a:ext cx="261021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1h8Om82ovOQwaLzjgOtw0y</a:t>
            </a:r>
          </a:p>
        </p:txBody>
      </p:sp>
      <p:sp>
        <p:nvSpPr>
          <p:cNvPr id="26" name="TextBox 25"/>
          <p:cNvSpPr txBox="1"/>
          <p:nvPr/>
        </p:nvSpPr>
        <p:spPr>
          <a:xfrm>
            <a:off x="3030838" y="1828800"/>
            <a:ext cx="1665997"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CarbonSteel</a:t>
            </a:r>
          </a:p>
        </p:txBody>
      </p:sp>
      <p:sp>
        <p:nvSpPr>
          <p:cNvPr id="27" name="TextBox 26"/>
          <p:cNvSpPr txBox="1"/>
          <p:nvPr/>
        </p:nvSpPr>
        <p:spPr>
          <a:xfrm>
            <a:off x="4824851" y="1828800"/>
            <a:ext cx="532936"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0.79</a:t>
            </a:r>
          </a:p>
        </p:txBody>
      </p:sp>
      <p:sp>
        <p:nvSpPr>
          <p:cNvPr id="28" name="TextBox 27"/>
          <p:cNvSpPr txBox="1"/>
          <p:nvPr/>
        </p:nvSpPr>
        <p:spPr>
          <a:xfrm>
            <a:off x="5485803" y="1828800"/>
            <a:ext cx="532936"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0.34</a:t>
            </a:r>
          </a:p>
        </p:txBody>
      </p:sp>
      <p:sp>
        <p:nvSpPr>
          <p:cNvPr id="29" name="TextBox 28"/>
          <p:cNvSpPr txBox="1"/>
          <p:nvPr/>
        </p:nvSpPr>
        <p:spPr>
          <a:xfrm>
            <a:off x="6146755" y="1828800"/>
            <a:ext cx="1193888" cy="201167"/>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HIGH</a:t>
            </a:r>
          </a:p>
        </p:txBody>
      </p:sp>
      <p:sp>
        <p:nvSpPr>
          <p:cNvPr id="30" name="TextBox 29"/>
          <p:cNvSpPr txBox="1"/>
          <p:nvPr/>
        </p:nvSpPr>
        <p:spPr>
          <a:xfrm>
            <a:off x="7468660" y="1828800"/>
            <a:ext cx="816201"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800</a:t>
            </a:r>
          </a:p>
        </p:txBody>
      </p:sp>
      <p:sp>
        <p:nvSpPr>
          <p:cNvPr id="31" name="TextBox 30"/>
          <p:cNvSpPr txBox="1"/>
          <p:nvPr/>
        </p:nvSpPr>
        <p:spPr>
          <a:xfrm>
            <a:off x="8412877" y="1828800"/>
            <a:ext cx="43851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a:t>
            </a:r>
          </a:p>
        </p:txBody>
      </p:sp>
      <p:sp>
        <p:nvSpPr>
          <p:cNvPr id="32" name="Rectangle 31"/>
          <p:cNvSpPr/>
          <p:nvPr/>
        </p:nvSpPr>
        <p:spPr>
          <a:xfrm>
            <a:off x="228600" y="205740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103120"/>
            <a:ext cx="261021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0CCaRDl7PGav91kwXZIizp</a:t>
            </a:r>
          </a:p>
        </p:txBody>
      </p:sp>
      <p:sp>
        <p:nvSpPr>
          <p:cNvPr id="34" name="TextBox 33"/>
          <p:cNvSpPr txBox="1"/>
          <p:nvPr/>
        </p:nvSpPr>
        <p:spPr>
          <a:xfrm>
            <a:off x="3030838" y="2103120"/>
            <a:ext cx="1665997"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SS316</a:t>
            </a:r>
          </a:p>
        </p:txBody>
      </p:sp>
      <p:sp>
        <p:nvSpPr>
          <p:cNvPr id="35" name="TextBox 34"/>
          <p:cNvSpPr txBox="1"/>
          <p:nvPr/>
        </p:nvSpPr>
        <p:spPr>
          <a:xfrm>
            <a:off x="4824851" y="2103120"/>
            <a:ext cx="532936"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0.00</a:t>
            </a:r>
          </a:p>
        </p:txBody>
      </p:sp>
      <p:sp>
        <p:nvSpPr>
          <p:cNvPr id="36" name="TextBox 35"/>
          <p:cNvSpPr txBox="1"/>
          <p:nvPr/>
        </p:nvSpPr>
        <p:spPr>
          <a:xfrm>
            <a:off x="5485803" y="2103120"/>
            <a:ext cx="532936"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0.89</a:t>
            </a:r>
          </a:p>
        </p:txBody>
      </p:sp>
      <p:sp>
        <p:nvSpPr>
          <p:cNvPr id="37" name="TextBox 36"/>
          <p:cNvSpPr txBox="1"/>
          <p:nvPr/>
        </p:nvSpPr>
        <p:spPr>
          <a:xfrm>
            <a:off x="6146755" y="2103120"/>
            <a:ext cx="1193888" cy="201167"/>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CRITICAL</a:t>
            </a:r>
          </a:p>
        </p:txBody>
      </p:sp>
      <p:sp>
        <p:nvSpPr>
          <p:cNvPr id="38" name="TextBox 37"/>
          <p:cNvSpPr txBox="1"/>
          <p:nvPr/>
        </p:nvSpPr>
        <p:spPr>
          <a:xfrm>
            <a:off x="7468660" y="2103120"/>
            <a:ext cx="816201"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3,200</a:t>
            </a:r>
          </a:p>
        </p:txBody>
      </p:sp>
      <p:sp>
        <p:nvSpPr>
          <p:cNvPr id="39" name="TextBox 38"/>
          <p:cNvSpPr txBox="1"/>
          <p:nvPr/>
        </p:nvSpPr>
        <p:spPr>
          <a:xfrm>
            <a:off x="8412877" y="2103120"/>
            <a:ext cx="43851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a:t>
            </a:r>
          </a:p>
        </p:txBody>
      </p:sp>
      <p:sp>
        <p:nvSpPr>
          <p:cNvPr id="40" name="Rectangle 39"/>
          <p:cNvSpPr/>
          <p:nvPr/>
        </p:nvSpPr>
        <p:spPr>
          <a:xfrm>
            <a:off x="228600" y="2331720"/>
            <a:ext cx="8686800" cy="274320"/>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2608" y="2377439"/>
            <a:ext cx="261021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0ofHWhBlHI7wRekoFS0Xtk</a:t>
            </a:r>
          </a:p>
        </p:txBody>
      </p:sp>
      <p:sp>
        <p:nvSpPr>
          <p:cNvPr id="42" name="TextBox 41"/>
          <p:cNvSpPr txBox="1"/>
          <p:nvPr/>
        </p:nvSpPr>
        <p:spPr>
          <a:xfrm>
            <a:off x="3030838" y="2377439"/>
            <a:ext cx="1665997"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GalvanisedSteel</a:t>
            </a:r>
          </a:p>
        </p:txBody>
      </p:sp>
      <p:sp>
        <p:nvSpPr>
          <p:cNvPr id="43" name="TextBox 42"/>
          <p:cNvSpPr txBox="1"/>
          <p:nvPr/>
        </p:nvSpPr>
        <p:spPr>
          <a:xfrm>
            <a:off x="4824851" y="2377439"/>
            <a:ext cx="532936"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0.52</a:t>
            </a:r>
          </a:p>
        </p:txBody>
      </p:sp>
      <p:sp>
        <p:nvSpPr>
          <p:cNvPr id="44" name="TextBox 43"/>
          <p:cNvSpPr txBox="1"/>
          <p:nvPr/>
        </p:nvSpPr>
        <p:spPr>
          <a:xfrm>
            <a:off x="5485803" y="2377439"/>
            <a:ext cx="532936"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0.41</a:t>
            </a:r>
          </a:p>
        </p:txBody>
      </p:sp>
      <p:sp>
        <p:nvSpPr>
          <p:cNvPr id="45" name="TextBox 44"/>
          <p:cNvSpPr txBox="1"/>
          <p:nvPr/>
        </p:nvSpPr>
        <p:spPr>
          <a:xfrm>
            <a:off x="6146755" y="2377439"/>
            <a:ext cx="1193888" cy="201167"/>
          </a:xfrm>
          <a:prstGeom prst="rect">
            <a:avLst/>
          </a:prstGeom>
          <a:noFill/>
        </p:spPr>
        <p:txBody>
          <a:bodyPr wrap="square" anchor="t" lIns="0" rIns="0" tIns="0" bIns="0">
            <a:spAutoFit/>
          </a:bodyPr>
          <a:lstStyle/>
          <a:p>
            <a:pPr algn="l">
              <a:lnSpc>
                <a:spcPct val="100000"/>
              </a:lnSpc>
            </a:pPr>
            <a:r>
              <a:rPr sz="1100" b="1">
                <a:solidFill>
                  <a:srgbClr val="854F0B"/>
                </a:solidFill>
                <a:latin typeface="Calibri"/>
              </a:rPr>
              <a:t>MEDIUM</a:t>
            </a:r>
          </a:p>
        </p:txBody>
      </p:sp>
      <p:sp>
        <p:nvSpPr>
          <p:cNvPr id="46" name="TextBox 45"/>
          <p:cNvSpPr txBox="1"/>
          <p:nvPr/>
        </p:nvSpPr>
        <p:spPr>
          <a:xfrm>
            <a:off x="7468660" y="2377439"/>
            <a:ext cx="816201"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2,400</a:t>
            </a:r>
          </a:p>
        </p:txBody>
      </p:sp>
      <p:sp>
        <p:nvSpPr>
          <p:cNvPr id="47" name="TextBox 46"/>
          <p:cNvSpPr txBox="1"/>
          <p:nvPr/>
        </p:nvSpPr>
        <p:spPr>
          <a:xfrm>
            <a:off x="8412877" y="2377439"/>
            <a:ext cx="43851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a:t>
            </a:r>
          </a:p>
        </p:txBody>
      </p:sp>
      <p:sp>
        <p:nvSpPr>
          <p:cNvPr id="48" name="Rectangle 47"/>
          <p:cNvSpPr/>
          <p:nvPr/>
        </p:nvSpPr>
        <p:spPr>
          <a:xfrm>
            <a:off x="228600" y="2606040"/>
            <a:ext cx="8686800" cy="27432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2608" y="2651760"/>
            <a:ext cx="261021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2aA0fSFYDE6hf08n4QlwRz</a:t>
            </a:r>
          </a:p>
        </p:txBody>
      </p:sp>
      <p:sp>
        <p:nvSpPr>
          <p:cNvPr id="50" name="TextBox 49"/>
          <p:cNvSpPr txBox="1"/>
          <p:nvPr/>
        </p:nvSpPr>
        <p:spPr>
          <a:xfrm>
            <a:off x="3030838" y="2651760"/>
            <a:ext cx="1665997"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SS304</a:t>
            </a:r>
          </a:p>
        </p:txBody>
      </p:sp>
      <p:sp>
        <p:nvSpPr>
          <p:cNvPr id="51" name="TextBox 50"/>
          <p:cNvSpPr txBox="1"/>
          <p:nvPr/>
        </p:nvSpPr>
        <p:spPr>
          <a:xfrm>
            <a:off x="4824851" y="2651760"/>
            <a:ext cx="532936"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0.18</a:t>
            </a:r>
          </a:p>
        </p:txBody>
      </p:sp>
      <p:sp>
        <p:nvSpPr>
          <p:cNvPr id="52" name="TextBox 51"/>
          <p:cNvSpPr txBox="1"/>
          <p:nvPr/>
        </p:nvSpPr>
        <p:spPr>
          <a:xfrm>
            <a:off x="5485803" y="2651760"/>
            <a:ext cx="532936"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0.22</a:t>
            </a:r>
          </a:p>
        </p:txBody>
      </p:sp>
      <p:sp>
        <p:nvSpPr>
          <p:cNvPr id="53" name="TextBox 52"/>
          <p:cNvSpPr txBox="1"/>
          <p:nvPr/>
        </p:nvSpPr>
        <p:spPr>
          <a:xfrm>
            <a:off x="6146755" y="2651760"/>
            <a:ext cx="1193888" cy="201167"/>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LOW</a:t>
            </a:r>
          </a:p>
        </p:txBody>
      </p:sp>
      <p:sp>
        <p:nvSpPr>
          <p:cNvPr id="54" name="TextBox 53"/>
          <p:cNvSpPr txBox="1"/>
          <p:nvPr/>
        </p:nvSpPr>
        <p:spPr>
          <a:xfrm>
            <a:off x="7468660" y="2651760"/>
            <a:ext cx="816201"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a:t>
            </a:r>
          </a:p>
        </p:txBody>
      </p:sp>
      <p:sp>
        <p:nvSpPr>
          <p:cNvPr id="55" name="TextBox 54"/>
          <p:cNvSpPr txBox="1"/>
          <p:nvPr/>
        </p:nvSpPr>
        <p:spPr>
          <a:xfrm>
            <a:off x="8412877" y="2651760"/>
            <a:ext cx="438514" cy="201167"/>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a:t>
            </a:r>
          </a:p>
        </p:txBody>
      </p:sp>
      <p:sp>
        <p:nvSpPr>
          <p:cNvPr id="56" name="TextBox 55"/>
          <p:cNvSpPr txBox="1"/>
          <p:nvPr/>
        </p:nvSpPr>
        <p:spPr>
          <a:xfrm>
            <a:off x="228600" y="333756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GlobalIds are real, drawn from the synthetic hospital MEP fixture. Scores are illustrative of the banding, not measured findings — on this corpus GC-001 produced none.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Pset write-back — creating the Golden Thread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finding travels with the model, not beside it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48256"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Written to the element</a:t>
            </a:r>
          </a:p>
        </p:txBody>
      </p:sp>
      <p:sp>
        <p:nvSpPr>
          <p:cNvPr id="11" name="TextBox 10"/>
          <p:cNvSpPr txBox="1"/>
          <p:nvPr/>
        </p:nvSpPr>
        <p:spPr>
          <a:xfrm>
            <a:off x="338328"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Pset_CorrosionRisk is attached to every flagged element, so the risk is carried by the object rather than by a report that can be separated from it.</a:t>
            </a:r>
          </a:p>
        </p:txBody>
      </p:sp>
      <p:sp>
        <p:nvSpPr>
          <p:cNvPr id="12" name="Rectangle 11"/>
          <p:cNvSpPr/>
          <p:nvPr/>
        </p:nvSpPr>
        <p:spPr>
          <a:xfrm>
            <a:off x="2441448"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41448" y="1234440"/>
            <a:ext cx="2048256"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1176"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What it carries</a:t>
            </a:r>
          </a:p>
        </p:txBody>
      </p:sp>
      <p:sp>
        <p:nvSpPr>
          <p:cNvPr id="15" name="TextBox 14"/>
          <p:cNvSpPr txBox="1"/>
          <p:nvPr/>
        </p:nvSpPr>
        <p:spPr>
          <a:xfrm>
            <a:off x="2551176"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Mechanism, composite score, risk band, environment class, the governing clause and the recommended mitigation.</a:t>
            </a:r>
          </a:p>
        </p:txBody>
      </p:sp>
      <p:sp>
        <p:nvSpPr>
          <p:cNvPr id="16" name="Rectangle 15"/>
          <p:cNvSpPr/>
          <p:nvPr/>
        </p:nvSpPr>
        <p:spPr>
          <a:xfrm>
            <a:off x="4654296"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4296" y="1234440"/>
            <a:ext cx="2048256"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64024"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Why it persists</a:t>
            </a:r>
          </a:p>
        </p:txBody>
      </p:sp>
      <p:sp>
        <p:nvSpPr>
          <p:cNvPr id="19" name="TextBox 18"/>
          <p:cNvSpPr txBox="1"/>
          <p:nvPr/>
        </p:nvSpPr>
        <p:spPr>
          <a:xfrm>
            <a:off x="4764024"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It survives export, federation and hand-over between phases, because it is model data rather than an attachment.</a:t>
            </a:r>
          </a:p>
        </p:txBody>
      </p:sp>
      <p:sp>
        <p:nvSpPr>
          <p:cNvPr id="20" name="Rectangle 19"/>
          <p:cNvSpPr/>
          <p:nvPr/>
        </p:nvSpPr>
        <p:spPr>
          <a:xfrm>
            <a:off x="6867144"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67144" y="1234440"/>
            <a:ext cx="2048256"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6872"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Who can audit it</a:t>
            </a:r>
          </a:p>
        </p:txBody>
      </p:sp>
      <p:sp>
        <p:nvSpPr>
          <p:cNvPr id="23" name="TextBox 22"/>
          <p:cNvSpPr txBox="1"/>
          <p:nvPr/>
        </p:nvSpPr>
        <p:spPr>
          <a:xfrm>
            <a:off x="6976872"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Any IFC-capable reader. No BIMGUARD installation is needed to inspect the evidence under the Building Safety 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ISO 19650 status mapping</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How a finding moves through the CDE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926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69494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Code</a:t>
            </a:r>
          </a:p>
        </p:txBody>
      </p:sp>
      <p:sp>
        <p:nvSpPr>
          <p:cNvPr id="10" name="TextBox 9"/>
          <p:cNvSpPr txBox="1"/>
          <p:nvPr/>
        </p:nvSpPr>
        <p:spPr>
          <a:xfrm>
            <a:off x="1115568" y="1280160"/>
            <a:ext cx="188366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State</a:t>
            </a:r>
          </a:p>
        </p:txBody>
      </p:sp>
      <p:sp>
        <p:nvSpPr>
          <p:cNvPr id="11" name="TextBox 10"/>
          <p:cNvSpPr txBox="1"/>
          <p:nvPr/>
        </p:nvSpPr>
        <p:spPr>
          <a:xfrm>
            <a:off x="3127248" y="1280160"/>
            <a:ext cx="3163824"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Trigger</a:t>
            </a:r>
          </a:p>
        </p:txBody>
      </p:sp>
      <p:sp>
        <p:nvSpPr>
          <p:cNvPr id="12" name="TextBox 11"/>
          <p:cNvSpPr txBox="1"/>
          <p:nvPr/>
        </p:nvSpPr>
        <p:spPr>
          <a:xfrm>
            <a:off x="6419088" y="1280160"/>
            <a:ext cx="2432303" cy="219456"/>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Exit condition</a:t>
            </a:r>
          </a:p>
        </p:txBody>
      </p:sp>
      <p:sp>
        <p:nvSpPr>
          <p:cNvPr id="13" name="Rectangle 12"/>
          <p:cNvSpPr/>
          <p:nvPr/>
        </p:nvSpPr>
        <p:spPr>
          <a:xfrm>
            <a:off x="228600" y="1527048"/>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72768"/>
            <a:ext cx="694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S2</a:t>
            </a:r>
          </a:p>
        </p:txBody>
      </p:sp>
      <p:sp>
        <p:nvSpPr>
          <p:cNvPr id="15" name="TextBox 14"/>
          <p:cNvSpPr txBox="1"/>
          <p:nvPr/>
        </p:nvSpPr>
        <p:spPr>
          <a:xfrm>
            <a:off x="1115568" y="1572768"/>
            <a:ext cx="18836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Work in progress</a:t>
            </a:r>
          </a:p>
        </p:txBody>
      </p:sp>
      <p:sp>
        <p:nvSpPr>
          <p:cNvPr id="16" name="TextBox 15"/>
          <p:cNvSpPr txBox="1"/>
          <p:nvPr/>
        </p:nvSpPr>
        <p:spPr>
          <a:xfrm>
            <a:off x="3127248" y="1572768"/>
            <a:ext cx="31638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Any unresolved High or Critical finding</a:t>
            </a:r>
          </a:p>
        </p:txBody>
      </p:sp>
      <p:sp>
        <p:nvSpPr>
          <p:cNvPr id="17" name="TextBox 16"/>
          <p:cNvSpPr txBox="1"/>
          <p:nvPr/>
        </p:nvSpPr>
        <p:spPr>
          <a:xfrm>
            <a:off x="6419088" y="1572768"/>
            <a:ext cx="243230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Mitigation applied and re-run clean</a:t>
            </a:r>
          </a:p>
        </p:txBody>
      </p:sp>
      <p:sp>
        <p:nvSpPr>
          <p:cNvPr id="18" name="Rectangle 17"/>
          <p:cNvSpPr/>
          <p:nvPr/>
        </p:nvSpPr>
        <p:spPr>
          <a:xfrm>
            <a:off x="228600" y="1819656"/>
            <a:ext cx="8686800" cy="29260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65376"/>
            <a:ext cx="69494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S4</a:t>
            </a:r>
          </a:p>
        </p:txBody>
      </p:sp>
      <p:sp>
        <p:nvSpPr>
          <p:cNvPr id="20" name="TextBox 19"/>
          <p:cNvSpPr txBox="1"/>
          <p:nvPr/>
        </p:nvSpPr>
        <p:spPr>
          <a:xfrm>
            <a:off x="1115568" y="1865376"/>
            <a:ext cx="188366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Shared for review</a:t>
            </a:r>
          </a:p>
        </p:txBody>
      </p:sp>
      <p:sp>
        <p:nvSpPr>
          <p:cNvPr id="21" name="TextBox 20"/>
          <p:cNvSpPr txBox="1"/>
          <p:nvPr/>
        </p:nvSpPr>
        <p:spPr>
          <a:xfrm>
            <a:off x="3127248" y="1865376"/>
            <a:ext cx="31638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Medium findings present; NCR raised</a:t>
            </a:r>
          </a:p>
        </p:txBody>
      </p:sp>
      <p:sp>
        <p:nvSpPr>
          <p:cNvPr id="22" name="TextBox 21"/>
          <p:cNvSpPr txBox="1"/>
          <p:nvPr/>
        </p:nvSpPr>
        <p:spPr>
          <a:xfrm>
            <a:off x="6419088" y="1865376"/>
            <a:ext cx="243230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Reviewer accepts or rejects the risk</a:t>
            </a:r>
          </a:p>
        </p:txBody>
      </p:sp>
      <p:sp>
        <p:nvSpPr>
          <p:cNvPr id="23" name="Rectangle 22"/>
          <p:cNvSpPr/>
          <p:nvPr/>
        </p:nvSpPr>
        <p:spPr>
          <a:xfrm>
            <a:off x="228600" y="2112264"/>
            <a:ext cx="8686800" cy="29260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157984"/>
            <a:ext cx="694944"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A</a:t>
            </a:r>
          </a:p>
        </p:txBody>
      </p:sp>
      <p:sp>
        <p:nvSpPr>
          <p:cNvPr id="25" name="TextBox 24"/>
          <p:cNvSpPr txBox="1"/>
          <p:nvPr/>
        </p:nvSpPr>
        <p:spPr>
          <a:xfrm>
            <a:off x="1115568" y="2157984"/>
            <a:ext cx="1883664" cy="219456"/>
          </a:xfrm>
          <a:prstGeom prst="rect">
            <a:avLst/>
          </a:prstGeom>
          <a:noFill/>
        </p:spPr>
        <p:txBody>
          <a:bodyPr wrap="square" anchor="t" lIns="0" rIns="0" tIns="0" bIns="0">
            <a:spAutoFit/>
          </a:bodyPr>
          <a:lstStyle/>
          <a:p>
            <a:pPr algn="l">
              <a:lnSpc>
                <a:spcPct val="100000"/>
              </a:lnSpc>
            </a:pPr>
            <a:r>
              <a:rPr sz="1100" b="1">
                <a:solidFill>
                  <a:srgbClr val="1E7A4B"/>
                </a:solidFill>
                <a:latin typeface="Calibri"/>
              </a:rPr>
              <a:t>Approved</a:t>
            </a:r>
          </a:p>
        </p:txBody>
      </p:sp>
      <p:sp>
        <p:nvSpPr>
          <p:cNvPr id="26" name="TextBox 25"/>
          <p:cNvSpPr txBox="1"/>
          <p:nvPr/>
        </p:nvSpPr>
        <p:spPr>
          <a:xfrm>
            <a:off x="3127248" y="2157984"/>
            <a:ext cx="3163824"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All engines pass, or residual risk accepted</a:t>
            </a:r>
          </a:p>
        </p:txBody>
      </p:sp>
      <p:sp>
        <p:nvSpPr>
          <p:cNvPr id="27" name="TextBox 26"/>
          <p:cNvSpPr txBox="1"/>
          <p:nvPr/>
        </p:nvSpPr>
        <p:spPr>
          <a:xfrm>
            <a:off x="6419088" y="2157984"/>
            <a:ext cx="2432303" cy="219456"/>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Released for fabrication</a:t>
            </a:r>
          </a:p>
        </p:txBody>
      </p:sp>
      <p:sp>
        <p:nvSpPr>
          <p:cNvPr id="28" name="TextBox 27"/>
          <p:cNvSpPr txBox="1"/>
          <p:nvPr/>
        </p:nvSpPr>
        <p:spPr>
          <a:xfrm>
            <a:off x="228600" y="24688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The status code is written into the BCF topic and the CDE container, so the compliance state is visible to the workflow rather than held in the tool.</a:t>
            </a:r>
          </a:p>
        </p:txBody>
      </p:sp>
      <p:sp>
        <p:nvSpPr>
          <p:cNvPr id="29" name="TextBox 28"/>
          <p:cNvSpPr txBox="1"/>
          <p:nvPr/>
        </p:nvSpPr>
        <p:spPr>
          <a:xfrm>
            <a:off x="228600" y="320040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This is what makes the output an audit trail rather than a report: the state is machine-readable and the transition is recorded.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RQ1 — answered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Can corrosion risk be detected from IFC data alone?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YES</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with a material
specification present</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100%</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geometry resolution
49,736 elements</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2.07%</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elements with a
scoreable material</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37 / 38</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models processed
end to end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qualified answer</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method works: where an element carries a mappable material and a resolvable neighbour, the couple is detected and scored deterministically. The constraint is not the method but the corpus — real federated models rarely carry the inputs. That measurement is itself the contribution, and it is what separates a demonstrated method from a deployed 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Key findings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the corpus established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pairing logic is sound where it can run</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Given material on both sides of a joint, the voltage gap, area ratio and environment multiplier produce a deterministic, reviewable band.</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PREN adequacy is a separate and useful check</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It catches the specification error that galvanic scoring cannot see: the right material, wrongly placed.</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Material data, not algorithm, is the limiting factor</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38,012 of 116,006 elements carry material text; 2,403 normalise. Widening the normaliser is worth more than refining the score.</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OpenBIM held across the corpus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IFC2x3 and IFC4, three authoring toolchains, no vendor API. Same-building schema twins differed by 0.11% and 0.00%.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737360"/>
            <a:ext cx="8412480" cy="822960"/>
          </a:xfrm>
          <a:prstGeom prst="rect">
            <a:avLst/>
          </a:prstGeom>
          <a:noFill/>
        </p:spPr>
        <p:txBody>
          <a:bodyPr wrap="square" anchor="t" lIns="0" rIns="0" tIns="0" bIns="0">
            <a:spAutoFit/>
          </a:bodyPr>
          <a:lstStyle/>
          <a:p>
            <a:pPr algn="l">
              <a:lnSpc>
                <a:spcPct val="100000"/>
              </a:lnSpc>
            </a:pPr>
            <a:r>
              <a:rPr sz="4400" b="1">
                <a:solidFill>
                  <a:srgbClr val="FFFFFF"/>
                </a:solidFill>
                <a:latin typeface="Calibri"/>
              </a:rPr>
              <a:t>Galvanic Corrosion Engine</a:t>
            </a:r>
          </a:p>
        </p:txBody>
      </p:sp>
      <p:sp>
        <p:nvSpPr>
          <p:cNvPr id="5" name="Rectangle 4"/>
          <p:cNvSpPr/>
          <p:nvPr/>
        </p:nvSpPr>
        <p:spPr>
          <a:xfrm>
            <a:off x="365760" y="2651760"/>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834640"/>
            <a:ext cx="8412480" cy="45720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Questions?</a:t>
            </a:r>
          </a:p>
        </p:txBody>
      </p:sp>
      <p:sp>
        <p:nvSpPr>
          <p:cNvPr id="7" name="TextBox 6"/>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BIMGUARD AI — Final Master Project</dc:title>
  <dc:subject>Automated BIM Corrosion Compliance Checker</dc:subject>
  <dc:creator>Group 5 — Zigurat Global Institute of Technology</dc:creator>
  <cp:lastModifiedBy>Group 5 — Zigurat Global Institute of Technology</cp:lastModifiedBy>
  <cp:revision>1</cp:revision>
  <dcterms:created xsi:type="dcterms:W3CDTF">2026-04-08T17:11:49Z</dcterms:created>
  <dcterms:modified xsi:type="dcterms:W3CDTF">2026-04-08T17:11:49Z</dcterms:modified>
</cp:coreProperties>
</file>