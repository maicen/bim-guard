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228600" cy="495604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Corrosion Compliance Module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59436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BIM Compliance Checking Using LLM-Translated Engineering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Masters in BIM Management  |  Zigurat Global Institute of Technology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Corrosion Is Invisible in Standard BIM Workflows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914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BIM clash detection finds geometric overlaps — not electrochemical incompatibility. Dissimilar metal pairings pass undetected.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743200" cy="914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corrosion costs exceed USD 2.5 trillion annually. MEP fixings and supports are among the highest-frequency premature failure categories.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80160"/>
            <a:ext cx="2743200" cy="914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 relies on individual engineer knowledge. There is no systematic record of material compatibility decisions for ISO 19650 or Golden Thread compliance.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incompatible material pairings specified at design stage reach construction unchallenged.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Corrosion: The Science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it: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01168" cy="20116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dissimilar metals in electrical contact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electrolyte (moisture, water, salt spray)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201168" cy="20116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42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difference between the metals drives ion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201168" cy="20116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044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anodic (more active) metal corrodes; the cathodic metal is protected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drivers BIMGUARD AI measures: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371600" cy="77724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62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EMF potential difference between metals (V)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65960" y="4069080"/>
            <a:ext cx="1371600" cy="77724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Ratio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4462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Anode-to-cathode surface area ratio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4069080"/>
            <a:ext cx="1371600" cy="77724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4462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conductivity &amp; chloride level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005840"/>
            <a:ext cx="3840480" cy="3840480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2064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Series (extract)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14813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CATHODIC (protected)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Titanium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21396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 (passive)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468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 (passive)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2798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/ Brass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1272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Steel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34564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Galvanised Steel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alloys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41148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/ Magnesium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44439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ANODIC (corrodes)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95360" y="1508760"/>
            <a:ext cx="0" cy="292608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0000"/>
                </a:solidFill>
              </a:rPr>
              <a:t>↓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BIMGUARD AI Checks Galvanic Corrosion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554480" cy="274320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Model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material assignments &amp; spatial data via IfcOpenShell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2651760"/>
            <a:ext cx="13716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280160"/>
            <a:ext cx="1554480" cy="274320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371600"/>
            <a:ext cx="640080" cy="64008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Environment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IFC space type tags to one of 7 environment classes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651760"/>
            <a:ext cx="13716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280160"/>
            <a:ext cx="1554480" cy="274320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Pairing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86200" y="2743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gap + area ratio + environment → composite 0–1 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651760"/>
            <a:ext cx="13716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280160"/>
            <a:ext cx="1554480" cy="274320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371600"/>
            <a:ext cx="640080" cy="64008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Check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743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stainless grade meets minimum PREN for environment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2651760"/>
            <a:ext cx="13716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280160"/>
            <a:ext cx="1554480" cy="274320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Results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69480" y="27432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issues + IFC Pset_CorrosionRisk + Asset Register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is explainable, auditable, and traceable to a named standard — BIMGUARD AI's White Box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— How It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 =  (0.50 × Voltage Risk)  +  (0.30 × Area Ratio Risk)  +  (0.20 × Environment Multiplier)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5176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Risk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gap vs. NASA-STD-6012 threshold for the environment tier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26517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91840" y="2606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Ratio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anode on large cathode amplifies corrosion current density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265176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57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2606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Mult.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971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conductivity &amp; chloride level multiplier (0.2–1.5)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2011680" cy="54864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53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asset register — no immediate action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4160520"/>
            <a:ext cx="2011680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0604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4453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– 0.65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— specify isolation detail on drawing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4160520"/>
            <a:ext cx="2011680" cy="548640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4453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– 0.85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BCF issue; lead engineer to resolve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4160520"/>
            <a:ext cx="2011680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037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4453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compliance failure; redesign mandatory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SCENARIOS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MEP Material Pairings: Risk at a Glance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0116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Anodic Material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078992"/>
            <a:ext cx="20116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078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Cathodic Material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078992"/>
            <a:ext cx="137160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078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078992"/>
            <a:ext cx="1097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078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078992"/>
            <a:ext cx="118872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78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371600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37160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facade panel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1371600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37160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 fixing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371600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37160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1371600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37160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408176"/>
            <a:ext cx="109728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1709928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70992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pipework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1709928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70992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Galvanised hanger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1709928"/>
            <a:ext cx="137160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170992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room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1709928"/>
            <a:ext cx="10972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170992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746504"/>
            <a:ext cx="109728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746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048256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04825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steel beam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31720" y="2048256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04825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 bracket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2048256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04825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15000" y="2048256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048256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2084832"/>
            <a:ext cx="1097280" cy="256032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2386584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38658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 fixings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31720" y="2386584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238658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 fixings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43400" y="2386584"/>
            <a:ext cx="137160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38658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env.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15000" y="2386584"/>
            <a:ext cx="10972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2386584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0.0V*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2423160"/>
            <a:ext cx="1097280" cy="256032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2423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2724912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272491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iron drainage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331720" y="2724912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77440" y="272491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pipe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43400" y="272491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272491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15000" y="2724912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2724912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0.45V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58000" y="2761488"/>
            <a:ext cx="109728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0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3063240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306324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Galvanised purlin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331720" y="3063240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0" y="306324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 roof fixing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43400" y="3063240"/>
            <a:ext cx="137160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306324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715000" y="3063240"/>
            <a:ext cx="10972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306324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0.67V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58000" y="3099816"/>
            <a:ext cx="1097280" cy="256032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3099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3401568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40156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flashing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331720" y="3401568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77440" y="340156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frame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343400" y="3401568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340156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715000" y="3401568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60720" y="340156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0.35V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858000" y="3438144"/>
            <a:ext cx="109728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58000" y="34381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0040" y="3739896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" y="373989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roof pipe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331720" y="3739896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77440" y="373989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sheet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343400" y="3739896"/>
            <a:ext cx="137160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373989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715000" y="3739896"/>
            <a:ext cx="10972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60720" y="3739896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0.60V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858000" y="3776472"/>
            <a:ext cx="1097280" cy="2560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0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0040" y="4078224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5760" y="407822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steel base plate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331720" y="4078224"/>
            <a:ext cx="2011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377440" y="407822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 anchor bolt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343400" y="4078224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407822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715000" y="4078224"/>
            <a:ext cx="1097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60720" y="4078224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0.52V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858000" y="4114800"/>
            <a:ext cx="1097280" cy="256032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58000" y="4114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20040" y="4416552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5760" y="441655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cable tray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2331720" y="4416552"/>
            <a:ext cx="20116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77440" y="441655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steel bracket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4343400" y="4416552"/>
            <a:ext cx="137160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41655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5715000" y="4416552"/>
            <a:ext cx="1097280" cy="338328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60720" y="4416552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0.20V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858000" y="4453128"/>
            <a:ext cx="1097280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0" y="4453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SS 304 in pool environment fails PREN adequacy check (PREN 18 &lt; required 26) — not a voltage gap failure.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CLASSES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Environment Matters: The Conductivity Multiplier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Seawater is ~700× more conductive than rainwater. The same material pairing carries fundamentally different risk in a coastal splash zone versus a dry interior.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764792"/>
            <a:ext cx="548640" cy="23774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Conditioned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2203704"/>
            <a:ext cx="822960" cy="237744"/>
          </a:xfrm>
          <a:prstGeom prst="rect">
            <a:avLst/>
          </a:prstGeom>
          <a:solidFill>
            <a:srgbClr val="55AA55"/>
          </a:solidFill>
          <a:ln w="12700">
            <a:solidFill>
              <a:srgbClr val="55A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A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694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Exterior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642616"/>
            <a:ext cx="1645920" cy="23774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5694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3081528"/>
            <a:ext cx="2194560" cy="237744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0083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47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Pool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3520440"/>
            <a:ext cx="3017520" cy="237744"/>
          </a:xfrm>
          <a:prstGeom prst="rect">
            <a:avLst/>
          </a:prstGeom>
          <a:solidFill>
            <a:srgbClr val="DD4400"/>
          </a:solidFill>
          <a:ln w="12700">
            <a:solidFill>
              <a:srgbClr val="DD4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447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3959352"/>
            <a:ext cx="3291840" cy="23774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886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Splash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34640" y="4398264"/>
            <a:ext cx="411480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325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1554480"/>
            <a:ext cx="3474720" cy="320040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16276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NASA-STD-6012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Thresholds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23560" y="233172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35915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(interior)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235915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0.50 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23560" y="306324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09067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(urban exterior)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309067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0.25 V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23560" y="379476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82219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(coastal / pool)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382219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0.15 V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ADEQUACY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Selection Failure Mode Clash Detection Cannot Find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correctly paired stainless specification can still fail if the grade is inadequate for the environment. BIMGUARD AI checks PREN independently of voltage gap.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029200" cy="59436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  =  %Cr  +  3.3 × %Mo  +  16 × %N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IMOA Design Manual for Structural Stainless Steel, 4th 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31520" cy="8229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98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3383280"/>
            <a:ext cx="73152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4498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316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2880360"/>
            <a:ext cx="731520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423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498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2205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60320"/>
            <a:ext cx="731520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4498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Duplex 2507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155448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PREN by Environment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06440" y="2103120"/>
            <a:ext cx="3108960" cy="457200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1305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21305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06440" y="26060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6334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exterior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263347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3108960"/>
            <a:ext cx="3108960" cy="457200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3136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09560" y="313639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06440" y="361188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639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 Coastal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09560" y="363931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24–26+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06440" y="4114800"/>
            <a:ext cx="3108960" cy="457200"/>
          </a:xfrm>
          <a:prstGeom prst="rect">
            <a:avLst/>
          </a:prstGeom>
          <a:solidFill>
            <a:srgbClr val="E8ED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41422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splash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41422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Outputs: BCF Issues + IFC Property Sets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657600"/>
          </a:xfrm>
          <a:prstGeom prst="rect">
            <a:avLst/>
          </a:prstGeom>
          <a:solidFill>
            <a:srgbClr val="DDEEFF"/>
          </a:solidFill>
          <a:ln w="12700">
            <a:solidFill>
              <a:srgbClr val="007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Issue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[BIMGUARD-GC] CRITICAL — Aluminium / SS_316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 | Status: 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Design Lead + Client Rep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Date: 3 days from check 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gap: 0.72V (threshold: 0.15V)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coastal | Score: 0.96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BLOCK — redesign mandatory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Isolation sleeve + washer 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GUID: [component identifier]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GalvanicCorrosion | Risk-Critical | coastal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5F8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Pset_CorrosionRisk (IFC)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5544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CorrosionRiskFlag: Critical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8196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GalvanicPairMaterialA: Aluminum_alloy_6063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08483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GalvanicPairMaterialB: SS_316_passive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3500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VoltageGap_V: 0.72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61518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AreaRatioAnodeCathode: 0.0024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EnvironmentClass: coastal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CompositeRiskScore: 0.96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4107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MitigationRequired: Redesign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6758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MitigationStatus: Outstanding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9410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FirstInspectionYear: 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4206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BIMGUARDRulesetVersion: GC-001 v1.0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4714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BCFIssueGUID: [linked BCF topic GUID]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&amp; ASSET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Check to O&amp;M Manual: The Asset Register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generates a Corrosion Asset Register at handover — the initialisation data set for the building's 25-year corrosion management programme.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18872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1645920"/>
            <a:ext cx="155448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1645920"/>
            <a:ext cx="118872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1645920"/>
            <a:ext cx="82296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645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1645920"/>
            <a:ext cx="164592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645920"/>
            <a:ext cx="82296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645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Year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1645920"/>
            <a:ext cx="1280160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960"/>
            <a:ext cx="11887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965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3040" y="1965960"/>
            <a:ext cx="155448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19659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/ SS316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1965960"/>
            <a:ext cx="11887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1965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020824"/>
            <a:ext cx="731520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2020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965960"/>
            <a:ext cx="16459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96596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1965960"/>
            <a:ext cx="82296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96596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1965960"/>
            <a:ext cx="128016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196596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377440"/>
            <a:ext cx="118872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3774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63040" y="2377440"/>
            <a:ext cx="155448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23774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/ Galv.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0" y="2377440"/>
            <a:ext cx="118872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23774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2432304"/>
            <a:ext cx="73152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2432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2377440"/>
            <a:ext cx="164592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3774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Iso. washer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2377440"/>
            <a:ext cx="82296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237744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98080" y="2377440"/>
            <a:ext cx="128016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23774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Eng.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2788920"/>
            <a:ext cx="11887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788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463040" y="2788920"/>
            <a:ext cx="155448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08760" y="27889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/ SS316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017520" y="2788920"/>
            <a:ext cx="11887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63240" y="2788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51960" y="2843784"/>
            <a:ext cx="731520" cy="274320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1960" y="2843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0" y="2788920"/>
            <a:ext cx="16459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4920" y="27889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Iso. washer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75120" y="2788920"/>
            <a:ext cx="82296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278892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98080" y="2788920"/>
            <a:ext cx="128016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27889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Eng.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0" y="3200400"/>
            <a:ext cx="118872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2004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463040" y="3200400"/>
            <a:ext cx="155448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08760" y="32004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SS304 / SS304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017520" y="3200400"/>
            <a:ext cx="118872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63240" y="32004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251960" y="3255264"/>
            <a:ext cx="731520" cy="274320"/>
          </a:xfrm>
          <a:prstGeom prst="rect">
            <a:avLst/>
          </a:prstGeom>
          <a:solidFill>
            <a:srgbClr val="E05000"/>
          </a:solidFill>
          <a:ln w="12700">
            <a:solidFill>
              <a:srgbClr val="E05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51960" y="32552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HIGH*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029200" y="3200400"/>
            <a:ext cx="164592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74920" y="3200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grade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675120" y="3200400"/>
            <a:ext cx="82296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320040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498080" y="3200400"/>
            <a:ext cx="1280160" cy="402336"/>
          </a:xfrm>
          <a:prstGeom prst="rect">
            <a:avLst/>
          </a:prstGeom>
          <a:solidFill>
            <a:srgbClr val="1E3A6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43800" y="32004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Eng.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4320" y="3611880"/>
            <a:ext cx="11887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6118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GC-005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463040" y="3611880"/>
            <a:ext cx="155448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508760" y="36118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Cu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017520" y="3611880"/>
            <a:ext cx="11887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63240" y="36118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251960" y="3666744"/>
            <a:ext cx="73152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51960" y="3666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029200" y="3611880"/>
            <a:ext cx="164592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74920" y="36118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Di. union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675120" y="3611880"/>
            <a:ext cx="82296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20840" y="361188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498080" y="3611880"/>
            <a:ext cx="1280160" cy="402336"/>
          </a:xfrm>
          <a:prstGeom prst="rect">
            <a:avLst/>
          </a:prstGeom>
          <a:solidFill>
            <a:srgbClr val="162D52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43800" y="361188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Team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0A1F3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5760" y="4160520"/>
            <a:ext cx="73152" cy="7498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" y="4224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Safety Act 2022 — Golden Thread: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4864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Pset_CorrosionRisk IFC property set, linked to BCF issue GUIDs, constitutes a continuously maintainable Golden Thread record of corrosion safety decisions for higher-risk buildings.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 Questions — BIMGUARD AI Has the Answer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Scenarios  (8 questions)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08760"/>
            <a:ext cx="64008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found corroding brackets — how do we know this won't happen again?"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86000"/>
            <a:ext cx="64008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915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fixings are at risk in our coastal facade?"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63240"/>
            <a:ext cx="64008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3639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pool plant room is failing — what's causing it?"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40480"/>
            <a:ext cx="64008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136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mix stainless and aluminium on the roof?"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Specification  (7 questions)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50876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508760"/>
            <a:ext cx="64008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5819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stainless grade do I specify for this location?"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28600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286000"/>
            <a:ext cx="64008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5915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I need isolation washers on every fixing?"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3063240"/>
            <a:ext cx="64008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3639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far apart on the galvanic series is 'safe'?"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84048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3840480"/>
            <a:ext cx="64008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9136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check our whole model for this?"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Liability  (5 questions)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150876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508760"/>
            <a:ext cx="64008" cy="7132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5819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standard governs this?"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228600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286000"/>
            <a:ext cx="64008" cy="7132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35915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liable if a specification causes galvanic failure?"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306324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3063240"/>
            <a:ext cx="64008" cy="7132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13639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goes in the O&amp;M manual for corrosion?"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3840480"/>
            <a:ext cx="2743200" cy="713232"/>
          </a:xfrm>
          <a:prstGeom prst="rect">
            <a:avLst/>
          </a:prstGeom>
          <a:solidFill>
            <a:srgbClr val="F5F8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3840480"/>
            <a:ext cx="64008" cy="71323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9136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this meet the Golden Thread requirement?"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BIMGUARD AI generates citable, standards-referenced answers to all 20 question categories from BIM model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Validation: 5/5 Scenarios Correctly Classified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6583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fixing through aluminium facade — coastal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CRITICAL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0.96 → CRITICAL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6583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933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19933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pipe on galvanised bracket — plant room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9933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9933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0.54 → 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19933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" y="26609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60904"/>
            <a:ext cx="73152" cy="6583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066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270662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steel beam with SS bracket — urban exterior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7066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7066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0.73 → HIGH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7066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374136"/>
            <a:ext cx="73152" cy="6583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198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341985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304 fixings in pool — PREN adequacy check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4198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PREN FAIL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4198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PREN 18 &lt; 26 → FAIL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34198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65760" y="40873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087368"/>
            <a:ext cx="73152" cy="6583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330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51560" y="41330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iron to copper drainage — dry interior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41330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MEDIUM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13308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0.48 → MEDIUM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1330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BIMGUARD AI Delivers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146304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28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pairing in the model checked — not just the ones the engineer happens to notice.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146304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17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Standards-Referenced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828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NASA-STD-6012, IMOA PREN thresholds, ISO 19650 IFC output — fully auditable White Box decisions.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46304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 + IFC 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474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route directly to the right engineer with priority, due date, and mitigation recommendation.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162D52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63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2356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Ready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474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Asset Register generated at practical completion for O&amp;M manual and Golden Thread compliance.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Crevice corrosion extension  |  Probabilistic environment classifier  |  buildingSMART Pset submission  |  Live project pilot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NASA-STD-6012 (2016)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Control for Aerospace Applications — voltage threshold 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44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WorldStainless / Euro Inox (2025)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447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Steel in Contact with Other Metallic Materials — corrosion rate data &amp; compatibility matrices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929384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IMOA (2020)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8379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Manual for Structural Stainless Steel, 4th Ed. — PREN values &amp; environment selection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22576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2311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Prosoco Tech Note 104 (2021)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2311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Corrosion in Mechanical Anchors — area ratio analysis &amp; construction applications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715768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AUCSC Basic Corrosion Course (2024)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24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galvanic series, electrolyte conductivity &amp; corrosion cell physics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108960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Aslam et al., PMC (2024)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DNN corrosion prediction in industrial cooling water pipelines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502152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07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npj Materials Degradation (2025)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410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corrosion prediction in marine engineering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895344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039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&amp; Francis (2025)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8039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in BIM — Systematic Mapping Study across 10 BIM dimensions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288536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197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Gruyter (2026)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4197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 Corrosion Assessment — CNN, RNN, GAN approaches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681728"/>
            <a:ext cx="164592" cy="164592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90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Farinha et al. (2019)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BIM-based corrosion under insulation prediction — doi: 10.1016/j.autcon.2019.102985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BIMGUARD AI — Galvanic Corrosion Compliance Module</dc:title>
  <dc:subject>PptxGenJS Presentation</dc:subject>
  <dc:creator>Group 5 | Zigurat Global Institute of Technology</dc:creator>
  <cp:lastModifiedBy>Group 5 | Zigurat Global Institute of Technology</cp:lastModifiedBy>
  <cp:revision>1</cp:revision>
  <dcterms:created xsi:type="dcterms:W3CDTF">2026-04-07T10:09:12Z</dcterms:created>
  <dcterms:modified xsi:type="dcterms:W3CDTF">2026-04-07T10:09:12Z</dcterms:modified>
</cp:coreProperties>
</file>